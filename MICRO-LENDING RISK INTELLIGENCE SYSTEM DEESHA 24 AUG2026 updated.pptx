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4" r:id="rId1"/>
  </p:sldMasterIdLst>
  <p:notesMasterIdLst>
    <p:notesMasterId r:id="rId39"/>
  </p:notesMasterIdLst>
  <p:sldIdLst>
    <p:sldId id="256" r:id="rId2"/>
    <p:sldId id="319" r:id="rId3"/>
    <p:sldId id="257" r:id="rId4"/>
    <p:sldId id="299" r:id="rId5"/>
    <p:sldId id="259" r:id="rId6"/>
    <p:sldId id="300" r:id="rId7"/>
    <p:sldId id="301" r:id="rId8"/>
    <p:sldId id="260" r:id="rId9"/>
    <p:sldId id="316" r:id="rId10"/>
    <p:sldId id="302" r:id="rId11"/>
    <p:sldId id="317" r:id="rId12"/>
    <p:sldId id="262" r:id="rId13"/>
    <p:sldId id="290" r:id="rId14"/>
    <p:sldId id="291" r:id="rId15"/>
    <p:sldId id="292" r:id="rId16"/>
    <p:sldId id="293" r:id="rId17"/>
    <p:sldId id="294" r:id="rId18"/>
    <p:sldId id="295" r:id="rId19"/>
    <p:sldId id="269" r:id="rId20"/>
    <p:sldId id="312" r:id="rId21"/>
    <p:sldId id="313" r:id="rId22"/>
    <p:sldId id="286" r:id="rId23"/>
    <p:sldId id="287" r:id="rId24"/>
    <p:sldId id="288" r:id="rId25"/>
    <p:sldId id="289" r:id="rId26"/>
    <p:sldId id="308" r:id="rId27"/>
    <p:sldId id="309" r:id="rId28"/>
    <p:sldId id="304" r:id="rId29"/>
    <p:sldId id="264" r:id="rId30"/>
    <p:sldId id="305" r:id="rId31"/>
    <p:sldId id="306" r:id="rId32"/>
    <p:sldId id="307" r:id="rId33"/>
    <p:sldId id="268" r:id="rId34"/>
    <p:sldId id="315" r:id="rId35"/>
    <p:sldId id="270" r:id="rId36"/>
    <p:sldId id="314" r:id="rId37"/>
    <p:sldId id="275"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25" autoAdjust="0"/>
    <p:restoredTop sz="93423" autoAdjust="0"/>
  </p:normalViewPr>
  <p:slideViewPr>
    <p:cSldViewPr snapToGrid="0">
      <p:cViewPr>
        <p:scale>
          <a:sx n="69" d="100"/>
          <a:sy n="69"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4C449E-895B-4574-A543-BFB545E7C02C}" type="datetimeFigureOut">
              <a:rPr lang="en-US" smtClean="0"/>
              <a:t>24-Aug-26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A2C592-74CC-44F6-9D99-DCC0ED9E0DE4}" type="slidenum">
              <a:rPr lang="en-US" smtClean="0"/>
              <a:t>‹#›</a:t>
            </a:fld>
            <a:endParaRPr lang="en-US"/>
          </a:p>
        </p:txBody>
      </p:sp>
    </p:spTree>
    <p:extLst>
      <p:ext uri="{BB962C8B-B14F-4D97-AF65-F5344CB8AC3E}">
        <p14:creationId xmlns:p14="http://schemas.microsoft.com/office/powerpoint/2010/main" val="2130008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A2C592-74CC-44F6-9D99-DCC0ED9E0DE4}" type="slidenum">
              <a:rPr lang="en-US" smtClean="0"/>
              <a:t>26</a:t>
            </a:fld>
            <a:endParaRPr lang="en-US"/>
          </a:p>
        </p:txBody>
      </p:sp>
    </p:spTree>
    <p:extLst>
      <p:ext uri="{BB962C8B-B14F-4D97-AF65-F5344CB8AC3E}">
        <p14:creationId xmlns:p14="http://schemas.microsoft.com/office/powerpoint/2010/main" val="40605010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7718247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28443119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36557508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38872112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r>
              <a:rPr lang="en-US"/>
              <a:t>MICRO-LENDING RISK INTELLIGENCE SYSTEM - Presented by: Deesha (2310990067) Group 10 , Semester VII BE-CSE 2023 BATCH</a:t>
            </a:r>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66A6FD5F-A74F-43A3-8A09-CF52B55DD1D1}" type="slidenum">
              <a:rPr lang="en-US" smtClean="0"/>
              <a:t>‹#›</a:t>
            </a:fld>
            <a:endParaRPr lang="en-US"/>
          </a:p>
        </p:txBody>
      </p:sp>
    </p:spTree>
    <p:extLst>
      <p:ext uri="{BB962C8B-B14F-4D97-AF65-F5344CB8AC3E}">
        <p14:creationId xmlns:p14="http://schemas.microsoft.com/office/powerpoint/2010/main" val="1996952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MICRO-LENDING RISK INTELLIGENCE SYSTEM - Presented by: Deesha (2310990067) Group 10 , Semester VII BE-CSE 2023 BATCH</a:t>
            </a:r>
          </a:p>
        </p:txBody>
      </p:sp>
      <p:sp>
        <p:nvSpPr>
          <p:cNvPr id="6" name="Slide Number Placeholder 5"/>
          <p:cNvSpPr>
            <a:spLocks noGrp="1"/>
          </p:cNvSpPr>
          <p:nvPr>
            <p:ph type="sldNum" sz="quarter" idx="12"/>
          </p:nvPr>
        </p:nvSpPr>
        <p:spPr>
          <a:xfrm>
            <a:off x="10558300" y="5956137"/>
            <a:ext cx="1052508" cy="365125"/>
          </a:xfrm>
        </p:spPr>
        <p:txBody>
          <a:bodyPr/>
          <a:lstStyle/>
          <a:p>
            <a:fld id="{66A6FD5F-A74F-43A3-8A09-CF52B55DD1D1}" type="slidenum">
              <a:rPr lang="en-US" smtClean="0"/>
              <a:t>‹#›</a:t>
            </a:fld>
            <a:endParaRPr lang="en-US"/>
          </a:p>
        </p:txBody>
      </p:sp>
    </p:spTree>
    <p:extLst>
      <p:ext uri="{BB962C8B-B14F-4D97-AF65-F5344CB8AC3E}">
        <p14:creationId xmlns:p14="http://schemas.microsoft.com/office/powerpoint/2010/main" val="27538766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r>
              <a:rPr lang="en-US"/>
              <a:t>MICRO-LENDING RISK INTELLIGENCE SYSTEM - Presented by: Deesha (2310990067) Group 10 , Semester VII BE-CSE 2023 BATCH</a:t>
            </a:r>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66A6FD5F-A74F-43A3-8A09-CF52B55DD1D1}" type="slidenum">
              <a:rPr lang="en-US" smtClean="0"/>
              <a:t>‹#›</a:t>
            </a:fld>
            <a:endParaRPr lang="en-US"/>
          </a:p>
        </p:txBody>
      </p:sp>
    </p:spTree>
    <p:extLst>
      <p:ext uri="{BB962C8B-B14F-4D97-AF65-F5344CB8AC3E}">
        <p14:creationId xmlns:p14="http://schemas.microsoft.com/office/powerpoint/2010/main" val="801945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MICRO-LENDING RISK INTELLIGENCE SYSTEM - Presented by: Deesha (2310990067) Group 10 , Semester VII BE-CSE 2023 BATCH</a:t>
            </a:r>
          </a:p>
        </p:txBody>
      </p:sp>
      <p:sp>
        <p:nvSpPr>
          <p:cNvPr id="7" name="Slide Number Placeholder 6"/>
          <p:cNvSpPr>
            <a:spLocks noGrp="1"/>
          </p:cNvSpPr>
          <p:nvPr>
            <p:ph type="sldNum" sz="quarter" idx="12"/>
          </p:nvPr>
        </p:nvSpPr>
        <p:spPr/>
        <p:txBody>
          <a:bodyPr/>
          <a:lstStyle/>
          <a:p>
            <a:fld id="{66A6FD5F-A74F-43A3-8A09-CF52B55DD1D1}" type="slidenum">
              <a:rPr lang="en-US" smtClean="0"/>
              <a:t>‹#›</a:t>
            </a:fld>
            <a:endParaRPr lang="en-US"/>
          </a:p>
        </p:txBody>
      </p:sp>
    </p:spTree>
    <p:extLst>
      <p:ext uri="{BB962C8B-B14F-4D97-AF65-F5344CB8AC3E}">
        <p14:creationId xmlns:p14="http://schemas.microsoft.com/office/powerpoint/2010/main" val="25237725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MICRO-LENDING RISK INTELLIGENCE SYSTEM - Presented by: Deesha (2310990067) Group 10 , Semester VII BE-CSE 2023 BATCH</a:t>
            </a:r>
          </a:p>
        </p:txBody>
      </p:sp>
      <p:sp>
        <p:nvSpPr>
          <p:cNvPr id="9" name="Slide Number Placeholder 8"/>
          <p:cNvSpPr>
            <a:spLocks noGrp="1"/>
          </p:cNvSpPr>
          <p:nvPr>
            <p:ph type="sldNum" sz="quarter" idx="12"/>
          </p:nvPr>
        </p:nvSpPr>
        <p:spPr/>
        <p:txBody>
          <a:bodyPr/>
          <a:lstStyle/>
          <a:p>
            <a:fld id="{66A6FD5F-A74F-43A3-8A09-CF52B55DD1D1}" type="slidenum">
              <a:rPr lang="en-US" smtClean="0"/>
              <a:t>‹#›</a:t>
            </a:fld>
            <a:endParaRPr lang="en-US"/>
          </a:p>
        </p:txBody>
      </p:sp>
    </p:spTree>
    <p:extLst>
      <p:ext uri="{BB962C8B-B14F-4D97-AF65-F5344CB8AC3E}">
        <p14:creationId xmlns:p14="http://schemas.microsoft.com/office/powerpoint/2010/main" val="1108741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MICRO-LENDING RISK INTELLIGENCE SYSTEM - Presented by: Deesha (2310990067) Group 10 , Semester VII BE-CSE 2023 BATCH</a:t>
            </a:r>
          </a:p>
        </p:txBody>
      </p:sp>
      <p:sp>
        <p:nvSpPr>
          <p:cNvPr id="5" name="Slide Number Placeholder 4"/>
          <p:cNvSpPr>
            <a:spLocks noGrp="1"/>
          </p:cNvSpPr>
          <p:nvPr>
            <p:ph type="sldNum" sz="quarter" idx="12"/>
          </p:nvPr>
        </p:nvSpPr>
        <p:spPr/>
        <p:txBody>
          <a:bodyPr/>
          <a:lstStyle/>
          <a:p>
            <a:fld id="{66A6FD5F-A74F-43A3-8A09-CF52B55DD1D1}" type="slidenum">
              <a:rPr lang="en-US" smtClean="0"/>
              <a:t>‹#›</a:t>
            </a:fld>
            <a:endParaRPr lang="en-US"/>
          </a:p>
        </p:txBody>
      </p:sp>
    </p:spTree>
    <p:extLst>
      <p:ext uri="{BB962C8B-B14F-4D97-AF65-F5344CB8AC3E}">
        <p14:creationId xmlns:p14="http://schemas.microsoft.com/office/powerpoint/2010/main" val="3814774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MICRO-LENDING RISK INTELLIGENCE SYSTEM - Presented by: Deesha (2310990067) Group 10 , Semester VII BE-CSE 2023 BATCH</a:t>
            </a:r>
          </a:p>
        </p:txBody>
      </p:sp>
      <p:sp>
        <p:nvSpPr>
          <p:cNvPr id="4" name="Slide Number Placeholder 3"/>
          <p:cNvSpPr>
            <a:spLocks noGrp="1"/>
          </p:cNvSpPr>
          <p:nvPr>
            <p:ph type="sldNum" sz="quarter" idx="12"/>
          </p:nvPr>
        </p:nvSpPr>
        <p:spPr/>
        <p:txBody>
          <a:bodyPr/>
          <a:lstStyle/>
          <a:p>
            <a:fld id="{66A6FD5F-A74F-43A3-8A09-CF52B55DD1D1}" type="slidenum">
              <a:rPr lang="en-US" smtClean="0"/>
              <a:t>‹#›</a:t>
            </a:fld>
            <a:endParaRPr lang="en-US"/>
          </a:p>
        </p:txBody>
      </p:sp>
    </p:spTree>
    <p:extLst>
      <p:ext uri="{BB962C8B-B14F-4D97-AF65-F5344CB8AC3E}">
        <p14:creationId xmlns:p14="http://schemas.microsoft.com/office/powerpoint/2010/main" val="3556978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r>
              <a:rPr lang="en-US"/>
              <a:t>MICRO-LENDING RISK INTELLIGENCE SYSTEM - Presented by: Deesha (2310990067) Group 10 , Semester VII BE-CSE 2023 BATCH</a:t>
            </a:r>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66A6FD5F-A74F-43A3-8A09-CF52B55DD1D1}" type="slidenum">
              <a:rPr lang="en-US" smtClean="0"/>
              <a:t>‹#›</a:t>
            </a:fld>
            <a:endParaRPr lang="en-US"/>
          </a:p>
        </p:txBody>
      </p:sp>
    </p:spTree>
    <p:extLst>
      <p:ext uri="{BB962C8B-B14F-4D97-AF65-F5344CB8AC3E}">
        <p14:creationId xmlns:p14="http://schemas.microsoft.com/office/powerpoint/2010/main" val="483266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MICRO-LENDING RISK INTELLIGENCE SYSTEM - Presented by: Deesha (2310990067) Group 10 , Semester VII BE-CSE 2023 BATCH</a:t>
            </a:r>
          </a:p>
        </p:txBody>
      </p:sp>
      <p:sp>
        <p:nvSpPr>
          <p:cNvPr id="7" name="Slide Number Placeholder 6"/>
          <p:cNvSpPr>
            <a:spLocks noGrp="1"/>
          </p:cNvSpPr>
          <p:nvPr>
            <p:ph type="sldNum" sz="quarter" idx="12"/>
          </p:nvPr>
        </p:nvSpPr>
        <p:spPr/>
        <p:txBody>
          <a:bodyPr/>
          <a:lstStyle/>
          <a:p>
            <a:fld id="{66A6FD5F-A74F-43A3-8A09-CF52B55DD1D1}" type="slidenum">
              <a:rPr lang="en-US" smtClean="0"/>
              <a:t>‹#›</a:t>
            </a:fld>
            <a:endParaRPr lang="en-US"/>
          </a:p>
        </p:txBody>
      </p:sp>
    </p:spTree>
    <p:extLst>
      <p:ext uri="{BB962C8B-B14F-4D97-AF65-F5344CB8AC3E}">
        <p14:creationId xmlns:p14="http://schemas.microsoft.com/office/powerpoint/2010/main" val="832103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MICRO-LENDING RISK INTELLIGENCE SYSTEM - Presented by: Deesha (2310990067) Group 10 , Semester VII BE-CSE 2023 BATCH</a:t>
            </a:r>
          </a:p>
        </p:txBody>
      </p:sp>
      <p:sp>
        <p:nvSpPr>
          <p:cNvPr id="6" name="Slide Number Placeholder 5"/>
          <p:cNvSpPr>
            <a:spLocks noGrp="1"/>
          </p:cNvSpPr>
          <p:nvPr>
            <p:ph type="sldNum" sz="quarter" idx="12"/>
          </p:nvPr>
        </p:nvSpPr>
        <p:spPr/>
        <p:txBody>
          <a:bodyPr/>
          <a:lstStyle/>
          <a:p>
            <a:fld id="{66A6FD5F-A74F-43A3-8A09-CF52B55DD1D1}" type="slidenum">
              <a:rPr lang="en-US" smtClean="0"/>
              <a:t>‹#›</a:t>
            </a:fld>
            <a:endParaRPr lang="en-US"/>
          </a:p>
        </p:txBody>
      </p:sp>
    </p:spTree>
    <p:extLst>
      <p:ext uri="{BB962C8B-B14F-4D97-AF65-F5344CB8AC3E}">
        <p14:creationId xmlns:p14="http://schemas.microsoft.com/office/powerpoint/2010/main" val="1780354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endParaRPr lang="en-US"/>
          </a:p>
        </p:txBody>
      </p:sp>
      <p:sp>
        <p:nvSpPr>
          <p:cNvPr id="5" name="Footer Placeholder 4"/>
          <p:cNvSpPr>
            <a:spLocks noGrp="1"/>
          </p:cNvSpPr>
          <p:nvPr>
            <p:ph type="ftr" sz="quarter" idx="11"/>
          </p:nvPr>
        </p:nvSpPr>
        <p:spPr>
          <a:xfrm>
            <a:off x="774923" y="5951811"/>
            <a:ext cx="7896279" cy="365125"/>
          </a:xfrm>
        </p:spPr>
        <p:txBody>
          <a:bodyPr/>
          <a:lstStyle/>
          <a:p>
            <a:r>
              <a:rPr lang="en-US"/>
              <a:t>MICRO-LENDING RISK INTELLIGENCE SYSTEM - Presented by: Deesha (2310990067) Group 10 , Semester VII BE-CSE 2023 BATCH</a:t>
            </a:r>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66A6FD5F-A74F-43A3-8A09-CF52B55DD1D1}" type="slidenum">
              <a:rPr lang="en-US" smtClean="0"/>
              <a:t>‹#›</a:t>
            </a:fld>
            <a:endParaRPr lang="en-US"/>
          </a:p>
        </p:txBody>
      </p:sp>
    </p:spTree>
    <p:extLst>
      <p:ext uri="{BB962C8B-B14F-4D97-AF65-F5344CB8AC3E}">
        <p14:creationId xmlns:p14="http://schemas.microsoft.com/office/powerpoint/2010/main" val="3975546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34370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r>
              <a:rPr lang="en-US"/>
              <a:t>MICRO-LENDING RISK INTELLIGENCE SYSTEM - Presented by: Deesha (2310990067) Group 10 , Semester VII BE-CSE 2023 BATCH</a:t>
            </a:r>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66A6FD5F-A74F-43A3-8A09-CF52B55DD1D1}"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939055657"/>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Lst>
  <p:hf sldNum="0" hd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9418320" y="-1463040"/>
            <a:ext cx="4754880" cy="4754880"/>
          </a:xfrm>
          <a:prstGeom prst="ellipse">
            <a:avLst/>
          </a:prstGeom>
          <a:solidFill>
            <a:srgbClr val="0C3A3D"/>
          </a:solidFill>
          <a:ln/>
        </p:spPr>
        <p:txBody>
          <a:bodyPr/>
          <a:lstStyle/>
          <a:p>
            <a:endParaRPr lang="en-US"/>
          </a:p>
        </p:txBody>
      </p:sp>
      <p:sp>
        <p:nvSpPr>
          <p:cNvPr id="3" name="Shape 1"/>
          <p:cNvSpPr/>
          <p:nvPr/>
        </p:nvSpPr>
        <p:spPr>
          <a:xfrm>
            <a:off x="10607040" y="4206240"/>
            <a:ext cx="2743200" cy="2743200"/>
          </a:xfrm>
          <a:prstGeom prst="ellipse">
            <a:avLst/>
          </a:prstGeom>
          <a:solidFill>
            <a:srgbClr val="0C3A3D"/>
          </a:solidFill>
          <a:ln/>
        </p:spPr>
        <p:txBody>
          <a:bodyPr/>
          <a:lstStyle/>
          <a:p>
            <a:endParaRPr lang="en-US"/>
          </a:p>
        </p:txBody>
      </p:sp>
      <p:sp>
        <p:nvSpPr>
          <p:cNvPr id="4" name="Shape 2"/>
          <p:cNvSpPr/>
          <p:nvPr/>
        </p:nvSpPr>
        <p:spPr>
          <a:xfrm>
            <a:off x="9966960" y="2194560"/>
            <a:ext cx="1417320" cy="1417320"/>
          </a:xfrm>
          <a:prstGeom prst="ellipse">
            <a:avLst/>
          </a:prstGeom>
          <a:solidFill>
            <a:srgbClr val="02C39A"/>
          </a:solidFill>
          <a:ln/>
        </p:spPr>
        <p:txBody>
          <a:bodyPr/>
          <a:lstStyle/>
          <a:p>
            <a:endParaRPr lang="en-US"/>
          </a:p>
        </p:txBody>
      </p:sp>
      <p:sp>
        <p:nvSpPr>
          <p:cNvPr id="5" name="Text 3"/>
          <p:cNvSpPr/>
          <p:nvPr/>
        </p:nvSpPr>
        <p:spPr>
          <a:xfrm>
            <a:off x="9966960" y="2194560"/>
            <a:ext cx="1417320" cy="1417320"/>
          </a:xfrm>
          <a:prstGeom prst="rect">
            <a:avLst/>
          </a:prstGeom>
          <a:noFill/>
          <a:ln/>
        </p:spPr>
        <p:txBody>
          <a:bodyPr wrap="square" rtlCol="0" anchor="ctr"/>
          <a:lstStyle/>
          <a:p>
            <a:pPr marL="0" indent="0" algn="ctr">
              <a:buNone/>
            </a:pPr>
            <a:r>
              <a:rPr lang="en-US" sz="4400" b="1" dirty="0">
                <a:solidFill>
                  <a:srgbClr val="012B2E"/>
                </a:solidFill>
                <a:latin typeface="Cambria" pitchFamily="34" charset="0"/>
                <a:ea typeface="Cambria" pitchFamily="34" charset="-122"/>
                <a:cs typeface="Cambria" pitchFamily="34" charset="-120"/>
              </a:rPr>
              <a:t>₹</a:t>
            </a:r>
            <a:endParaRPr lang="en-US" sz="4400" dirty="0"/>
          </a:p>
        </p:txBody>
      </p:sp>
      <p:sp>
        <p:nvSpPr>
          <p:cNvPr id="6" name="Text 4"/>
          <p:cNvSpPr/>
          <p:nvPr/>
        </p:nvSpPr>
        <p:spPr>
          <a:xfrm>
            <a:off x="640080" y="1234440"/>
            <a:ext cx="8686800" cy="365760"/>
          </a:xfrm>
          <a:prstGeom prst="rect">
            <a:avLst/>
          </a:prstGeom>
          <a:noFill/>
          <a:ln/>
        </p:spPr>
        <p:txBody>
          <a:bodyPr wrap="square" rtlCol="0" anchor="ctr"/>
          <a:lstStyle/>
          <a:p>
            <a:pPr marL="0" indent="0">
              <a:buNone/>
            </a:pPr>
            <a:r>
              <a:rPr lang="en-US" sz="1300" b="1" kern="0" spc="250" dirty="0">
                <a:solidFill>
                  <a:srgbClr val="02C39A"/>
                </a:solidFill>
                <a:latin typeface="Calibri" pitchFamily="34" charset="0"/>
                <a:ea typeface="Calibri" pitchFamily="34" charset="-122"/>
                <a:cs typeface="Calibri" pitchFamily="34" charset="-120"/>
              </a:rPr>
              <a:t>CAPSTONE PROJECT  ·  2026</a:t>
            </a:r>
            <a:endParaRPr lang="en-US" sz="1300" dirty="0"/>
          </a:p>
        </p:txBody>
      </p:sp>
      <p:sp>
        <p:nvSpPr>
          <p:cNvPr id="7" name="Text 5"/>
          <p:cNvSpPr/>
          <p:nvPr/>
        </p:nvSpPr>
        <p:spPr>
          <a:xfrm>
            <a:off x="594360" y="1664208"/>
            <a:ext cx="8595360" cy="1874520"/>
          </a:xfrm>
          <a:prstGeom prst="rect">
            <a:avLst/>
          </a:prstGeom>
          <a:solidFill>
            <a:srgbClr val="00B050"/>
          </a:solidFill>
          <a:ln/>
        </p:spPr>
        <p:txBody>
          <a:bodyPr wrap="square" rtlCol="0" anchor="ctr"/>
          <a:lstStyle/>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Micro-Lending Risk</a:t>
            </a:r>
            <a:endParaRPr lang="en-US" sz="4400" dirty="0"/>
          </a:p>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Intelligence System</a:t>
            </a:r>
            <a:endParaRPr lang="en-US" sz="4400" dirty="0"/>
          </a:p>
        </p:txBody>
      </p:sp>
      <p:sp>
        <p:nvSpPr>
          <p:cNvPr id="8" name="Text 6"/>
          <p:cNvSpPr/>
          <p:nvPr/>
        </p:nvSpPr>
        <p:spPr>
          <a:xfrm>
            <a:off x="621792" y="3520440"/>
            <a:ext cx="7863840" cy="457200"/>
          </a:xfrm>
          <a:prstGeom prst="rect">
            <a:avLst/>
          </a:prstGeom>
          <a:noFill/>
          <a:ln/>
        </p:spPr>
        <p:txBody>
          <a:bodyPr wrap="square" rtlCol="0" anchor="ctr"/>
          <a:lstStyle/>
          <a:p>
            <a:pPr marL="0" indent="0">
              <a:buNone/>
            </a:pPr>
            <a:r>
              <a:rPr lang="en-US" sz="1600" dirty="0">
                <a:solidFill>
                  <a:srgbClr val="BFE3E1"/>
                </a:solidFill>
                <a:latin typeface="Calibri" pitchFamily="34" charset="0"/>
                <a:ea typeface="Calibri" pitchFamily="34" charset="-122"/>
                <a:cs typeface="Calibri" pitchFamily="34" charset="-120"/>
              </a:rPr>
              <a:t>AI/ML-Based Loan Default Risk Assessment</a:t>
            </a:r>
            <a:endParaRPr lang="en-US" sz="1600" dirty="0"/>
          </a:p>
        </p:txBody>
      </p:sp>
      <p:sp>
        <p:nvSpPr>
          <p:cNvPr id="9" name="Shape 7"/>
          <p:cNvSpPr/>
          <p:nvPr/>
        </p:nvSpPr>
        <p:spPr>
          <a:xfrm>
            <a:off x="621792" y="4160520"/>
            <a:ext cx="1828800" cy="0"/>
          </a:xfrm>
          <a:prstGeom prst="line">
            <a:avLst/>
          </a:prstGeom>
          <a:noFill/>
          <a:ln w="25400">
            <a:solidFill>
              <a:srgbClr val="00A896"/>
            </a:solidFill>
            <a:prstDash val="solid"/>
          </a:ln>
        </p:spPr>
        <p:txBody>
          <a:bodyPr/>
          <a:lstStyle/>
          <a:p>
            <a:endParaRPr lang="en-US"/>
          </a:p>
        </p:txBody>
      </p:sp>
      <p:sp>
        <p:nvSpPr>
          <p:cNvPr id="10" name="Text 8"/>
          <p:cNvSpPr/>
          <p:nvPr/>
        </p:nvSpPr>
        <p:spPr>
          <a:xfrm>
            <a:off x="621792" y="4343399"/>
            <a:ext cx="6388608" cy="365753"/>
          </a:xfrm>
          <a:prstGeom prst="rect">
            <a:avLst/>
          </a:prstGeom>
          <a:solidFill>
            <a:srgbClr val="00B050"/>
          </a:solid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Presented by: Deesha (2310990067) Group 10 , Semester VII BE-CSE 2023 BATCH</a:t>
            </a:r>
            <a:endParaRPr lang="en-US" sz="1400" dirty="0"/>
          </a:p>
        </p:txBody>
      </p:sp>
      <p:sp>
        <p:nvSpPr>
          <p:cNvPr id="11" name="Text 9"/>
          <p:cNvSpPr/>
          <p:nvPr/>
        </p:nvSpPr>
        <p:spPr>
          <a:xfrm>
            <a:off x="621792" y="4663440"/>
            <a:ext cx="7315200" cy="320040"/>
          </a:xfrm>
          <a:prstGeom prst="rect">
            <a:avLst/>
          </a:prstGeom>
          <a:noFill/>
          <a:ln/>
        </p:spPr>
        <p:txBody>
          <a:bodyPr wrap="square" rtlCol="0" anchor="ctr"/>
          <a:lstStyle/>
          <a:p>
            <a:pPr marL="0" indent="0">
              <a:buNone/>
            </a:pPr>
            <a:r>
              <a:rPr lang="en-US" sz="1150" dirty="0">
                <a:solidFill>
                  <a:srgbClr val="8FC4C2"/>
                </a:solidFill>
                <a:latin typeface="Calibri" pitchFamily="34" charset="0"/>
                <a:ea typeface="Calibri" pitchFamily="34" charset="-122"/>
                <a:cs typeface="Calibri" pitchFamily="34" charset="-120"/>
              </a:rPr>
              <a:t>Project: Capstone Project     Year: 2026</a:t>
            </a:r>
            <a:endParaRPr lang="en-US" sz="1150" dirty="0"/>
          </a:p>
        </p:txBody>
      </p:sp>
      <p:sp>
        <p:nvSpPr>
          <p:cNvPr id="12" name="Text 10"/>
          <p:cNvSpPr/>
          <p:nvPr/>
        </p:nvSpPr>
        <p:spPr>
          <a:xfrm>
            <a:off x="621792" y="5166360"/>
            <a:ext cx="5486400" cy="274320"/>
          </a:xfrm>
          <a:prstGeom prst="rect">
            <a:avLst/>
          </a:prstGeom>
          <a:noFill/>
          <a:ln/>
        </p:spPr>
        <p:txBody>
          <a:bodyPr wrap="square" rtlCol="0" anchor="ctr"/>
          <a:lstStyle/>
          <a:p>
            <a:pPr marL="0" indent="0">
              <a:buNone/>
            </a:pPr>
            <a:r>
              <a:rPr lang="en-US" sz="1050" b="1" kern="0" spc="150" dirty="0">
                <a:solidFill>
                  <a:srgbClr val="6FA6A8"/>
                </a:solidFill>
                <a:latin typeface="Calibri" pitchFamily="34" charset="0"/>
                <a:ea typeface="Calibri" pitchFamily="34" charset="-122"/>
                <a:cs typeface="Calibri" pitchFamily="34" charset="-120"/>
              </a:rPr>
              <a:t>Technologies</a:t>
            </a:r>
            <a:endParaRPr lang="en-US" sz="1050" dirty="0"/>
          </a:p>
        </p:txBody>
      </p:sp>
      <p:sp>
        <p:nvSpPr>
          <p:cNvPr id="13" name="Shape 11"/>
          <p:cNvSpPr/>
          <p:nvPr/>
        </p:nvSpPr>
        <p:spPr>
          <a:xfrm>
            <a:off x="621792" y="5468112"/>
            <a:ext cx="918058" cy="365760"/>
          </a:xfrm>
          <a:prstGeom prst="roundRect">
            <a:avLst>
              <a:gd name="adj" fmla="val 50000"/>
            </a:avLst>
          </a:prstGeom>
          <a:solidFill>
            <a:srgbClr val="0C3A3D"/>
          </a:solidFill>
          <a:ln w="9525">
            <a:solidFill>
              <a:srgbClr val="1E5C5F"/>
            </a:solidFill>
            <a:prstDash val="solid"/>
          </a:ln>
        </p:spPr>
        <p:txBody>
          <a:bodyPr/>
          <a:lstStyle/>
          <a:p>
            <a:endParaRPr lang="en-US"/>
          </a:p>
        </p:txBody>
      </p:sp>
      <p:sp>
        <p:nvSpPr>
          <p:cNvPr id="14" name="Text 12"/>
          <p:cNvSpPr/>
          <p:nvPr/>
        </p:nvSpPr>
        <p:spPr>
          <a:xfrm>
            <a:off x="621792" y="5468112"/>
            <a:ext cx="918058" cy="365760"/>
          </a:xfrm>
          <a:prstGeom prst="rect">
            <a:avLst/>
          </a:prstGeom>
          <a:noFill/>
          <a:ln/>
        </p:spPr>
        <p:txBody>
          <a:bodyPr wrap="square" rtlCol="0" anchor="ctr"/>
          <a:lstStyle/>
          <a:p>
            <a:pPr marL="0" indent="0" algn="ctr">
              <a:buNone/>
            </a:pPr>
            <a:r>
              <a:rPr lang="en-US" sz="950" dirty="0">
                <a:solidFill>
                  <a:srgbClr val="CFEFEC"/>
                </a:solidFill>
                <a:latin typeface="Calibri" pitchFamily="34" charset="0"/>
                <a:ea typeface="Calibri" pitchFamily="34" charset="-122"/>
                <a:cs typeface="Calibri" pitchFamily="34" charset="-120"/>
              </a:rPr>
              <a:t>Python</a:t>
            </a:r>
            <a:endParaRPr lang="en-US" sz="950" dirty="0"/>
          </a:p>
        </p:txBody>
      </p:sp>
      <p:sp>
        <p:nvSpPr>
          <p:cNvPr id="15" name="Shape 13"/>
          <p:cNvSpPr/>
          <p:nvPr/>
        </p:nvSpPr>
        <p:spPr>
          <a:xfrm>
            <a:off x="1667866" y="5468112"/>
            <a:ext cx="1686154" cy="365760"/>
          </a:xfrm>
          <a:prstGeom prst="roundRect">
            <a:avLst>
              <a:gd name="adj" fmla="val 50000"/>
            </a:avLst>
          </a:prstGeom>
          <a:solidFill>
            <a:srgbClr val="0C3A3D"/>
          </a:solidFill>
          <a:ln w="9525">
            <a:solidFill>
              <a:srgbClr val="1E5C5F"/>
            </a:solidFill>
            <a:prstDash val="solid"/>
          </a:ln>
        </p:spPr>
        <p:txBody>
          <a:bodyPr/>
          <a:lstStyle/>
          <a:p>
            <a:endParaRPr lang="en-US"/>
          </a:p>
        </p:txBody>
      </p:sp>
      <p:sp>
        <p:nvSpPr>
          <p:cNvPr id="16" name="Text 14"/>
          <p:cNvSpPr/>
          <p:nvPr/>
        </p:nvSpPr>
        <p:spPr>
          <a:xfrm>
            <a:off x="1667866" y="5468112"/>
            <a:ext cx="1686154" cy="365760"/>
          </a:xfrm>
          <a:prstGeom prst="rect">
            <a:avLst/>
          </a:prstGeom>
          <a:noFill/>
          <a:ln/>
        </p:spPr>
        <p:txBody>
          <a:bodyPr wrap="square" rtlCol="0" anchor="ctr"/>
          <a:lstStyle/>
          <a:p>
            <a:pPr marL="0" indent="0" algn="ctr">
              <a:buNone/>
            </a:pPr>
            <a:r>
              <a:rPr lang="en-US" sz="950" dirty="0">
                <a:solidFill>
                  <a:srgbClr val="CFEFEC"/>
                </a:solidFill>
                <a:latin typeface="Calibri" pitchFamily="34" charset="0"/>
                <a:ea typeface="Calibri" pitchFamily="34" charset="-122"/>
                <a:cs typeface="Calibri" pitchFamily="34" charset="-120"/>
              </a:rPr>
              <a:t>Machine Learning</a:t>
            </a:r>
            <a:endParaRPr lang="en-US" sz="950" dirty="0"/>
          </a:p>
        </p:txBody>
      </p:sp>
      <p:sp>
        <p:nvSpPr>
          <p:cNvPr id="17" name="Shape 15"/>
          <p:cNvSpPr/>
          <p:nvPr/>
        </p:nvSpPr>
        <p:spPr>
          <a:xfrm>
            <a:off x="3482035" y="5468112"/>
            <a:ext cx="1378915" cy="365760"/>
          </a:xfrm>
          <a:prstGeom prst="roundRect">
            <a:avLst>
              <a:gd name="adj" fmla="val 50000"/>
            </a:avLst>
          </a:prstGeom>
          <a:solidFill>
            <a:srgbClr val="0C3A3D"/>
          </a:solidFill>
          <a:ln w="9525">
            <a:solidFill>
              <a:srgbClr val="1E5C5F"/>
            </a:solidFill>
            <a:prstDash val="solid"/>
          </a:ln>
        </p:spPr>
        <p:txBody>
          <a:bodyPr/>
          <a:lstStyle/>
          <a:p>
            <a:endParaRPr lang="en-US"/>
          </a:p>
        </p:txBody>
      </p:sp>
      <p:sp>
        <p:nvSpPr>
          <p:cNvPr id="18" name="Text 16"/>
          <p:cNvSpPr/>
          <p:nvPr/>
        </p:nvSpPr>
        <p:spPr>
          <a:xfrm>
            <a:off x="3482035" y="5468112"/>
            <a:ext cx="1378915" cy="365760"/>
          </a:xfrm>
          <a:prstGeom prst="rect">
            <a:avLst/>
          </a:prstGeom>
          <a:noFill/>
          <a:ln/>
        </p:spPr>
        <p:txBody>
          <a:bodyPr wrap="square" rtlCol="0" anchor="ctr"/>
          <a:lstStyle/>
          <a:p>
            <a:pPr marL="0" indent="0" algn="ctr">
              <a:buNone/>
            </a:pPr>
            <a:r>
              <a:rPr lang="en-US" sz="950" dirty="0">
                <a:solidFill>
                  <a:srgbClr val="CFEFEC"/>
                </a:solidFill>
                <a:latin typeface="Calibri" pitchFamily="34" charset="0"/>
                <a:ea typeface="Calibri" pitchFamily="34" charset="-122"/>
                <a:cs typeface="Calibri" pitchFamily="34" charset="-120"/>
              </a:rPr>
              <a:t>Scikit-learn</a:t>
            </a:r>
            <a:endParaRPr lang="en-US" sz="950" dirty="0"/>
          </a:p>
        </p:txBody>
      </p:sp>
      <p:sp>
        <p:nvSpPr>
          <p:cNvPr id="19" name="Shape 17"/>
          <p:cNvSpPr/>
          <p:nvPr/>
        </p:nvSpPr>
        <p:spPr>
          <a:xfrm>
            <a:off x="4988966" y="5468112"/>
            <a:ext cx="994867" cy="365760"/>
          </a:xfrm>
          <a:prstGeom prst="roundRect">
            <a:avLst>
              <a:gd name="adj" fmla="val 50000"/>
            </a:avLst>
          </a:prstGeom>
          <a:solidFill>
            <a:srgbClr val="0C3A3D"/>
          </a:solidFill>
          <a:ln w="9525">
            <a:solidFill>
              <a:srgbClr val="1E5C5F"/>
            </a:solidFill>
            <a:prstDash val="solid"/>
          </a:ln>
        </p:spPr>
        <p:txBody>
          <a:bodyPr/>
          <a:lstStyle/>
          <a:p>
            <a:endParaRPr lang="en-US"/>
          </a:p>
        </p:txBody>
      </p:sp>
      <p:sp>
        <p:nvSpPr>
          <p:cNvPr id="20" name="Text 18"/>
          <p:cNvSpPr/>
          <p:nvPr/>
        </p:nvSpPr>
        <p:spPr>
          <a:xfrm>
            <a:off x="4988966" y="5468112"/>
            <a:ext cx="994867" cy="365760"/>
          </a:xfrm>
          <a:prstGeom prst="rect">
            <a:avLst/>
          </a:prstGeom>
          <a:noFill/>
          <a:ln/>
        </p:spPr>
        <p:txBody>
          <a:bodyPr wrap="square" rtlCol="0" anchor="ctr"/>
          <a:lstStyle/>
          <a:p>
            <a:pPr marL="0" indent="0" algn="ctr">
              <a:buNone/>
            </a:pPr>
            <a:r>
              <a:rPr lang="en-US" sz="950" dirty="0">
                <a:solidFill>
                  <a:srgbClr val="CFEFEC"/>
                </a:solidFill>
                <a:latin typeface="Calibri" pitchFamily="34" charset="0"/>
                <a:ea typeface="Calibri" pitchFamily="34" charset="-122"/>
                <a:cs typeface="Calibri" pitchFamily="34" charset="-120"/>
              </a:rPr>
              <a:t>FastAPI</a:t>
            </a:r>
            <a:endParaRPr lang="en-US" sz="950" dirty="0"/>
          </a:p>
        </p:txBody>
      </p:sp>
      <p:sp>
        <p:nvSpPr>
          <p:cNvPr id="21" name="Shape 19"/>
          <p:cNvSpPr/>
          <p:nvPr/>
        </p:nvSpPr>
        <p:spPr>
          <a:xfrm>
            <a:off x="621792" y="5907024"/>
            <a:ext cx="1148486" cy="365760"/>
          </a:xfrm>
          <a:prstGeom prst="roundRect">
            <a:avLst>
              <a:gd name="adj" fmla="val 50000"/>
            </a:avLst>
          </a:prstGeom>
          <a:solidFill>
            <a:srgbClr val="0C3A3D"/>
          </a:solidFill>
          <a:ln w="9525">
            <a:solidFill>
              <a:srgbClr val="1E5C5F"/>
            </a:solidFill>
            <a:prstDash val="solid"/>
          </a:ln>
        </p:spPr>
        <p:txBody>
          <a:bodyPr/>
          <a:lstStyle/>
          <a:p>
            <a:endParaRPr lang="en-US"/>
          </a:p>
        </p:txBody>
      </p:sp>
      <p:sp>
        <p:nvSpPr>
          <p:cNvPr id="22" name="Text 20"/>
          <p:cNvSpPr/>
          <p:nvPr/>
        </p:nvSpPr>
        <p:spPr>
          <a:xfrm>
            <a:off x="621792" y="5907024"/>
            <a:ext cx="1148486" cy="365760"/>
          </a:xfrm>
          <a:prstGeom prst="rect">
            <a:avLst/>
          </a:prstGeom>
          <a:noFill/>
          <a:ln/>
        </p:spPr>
        <p:txBody>
          <a:bodyPr wrap="square" rtlCol="0" anchor="ctr"/>
          <a:lstStyle/>
          <a:p>
            <a:pPr marL="0" indent="0" algn="ctr">
              <a:buNone/>
            </a:pPr>
            <a:r>
              <a:rPr lang="en-US" sz="950" dirty="0">
                <a:solidFill>
                  <a:srgbClr val="CFEFEC"/>
                </a:solidFill>
                <a:latin typeface="Calibri" pitchFamily="34" charset="0"/>
                <a:ea typeface="Calibri" pitchFamily="34" charset="-122"/>
                <a:cs typeface="Calibri" pitchFamily="34" charset="-120"/>
              </a:rPr>
              <a:t>Streamlit</a:t>
            </a:r>
            <a:endParaRPr lang="en-US" sz="950" dirty="0"/>
          </a:p>
        </p:txBody>
      </p:sp>
      <p:sp>
        <p:nvSpPr>
          <p:cNvPr id="23" name="Shape 21"/>
          <p:cNvSpPr/>
          <p:nvPr/>
        </p:nvSpPr>
        <p:spPr>
          <a:xfrm>
            <a:off x="1898294" y="5907024"/>
            <a:ext cx="841248" cy="365760"/>
          </a:xfrm>
          <a:prstGeom prst="roundRect">
            <a:avLst>
              <a:gd name="adj" fmla="val 50000"/>
            </a:avLst>
          </a:prstGeom>
          <a:solidFill>
            <a:srgbClr val="0C3A3D"/>
          </a:solidFill>
          <a:ln w="9525">
            <a:solidFill>
              <a:srgbClr val="1E5C5F"/>
            </a:solidFill>
            <a:prstDash val="solid"/>
          </a:ln>
        </p:spPr>
        <p:txBody>
          <a:bodyPr/>
          <a:lstStyle/>
          <a:p>
            <a:endParaRPr lang="en-US"/>
          </a:p>
        </p:txBody>
      </p:sp>
      <p:sp>
        <p:nvSpPr>
          <p:cNvPr id="24" name="Text 22"/>
          <p:cNvSpPr/>
          <p:nvPr/>
        </p:nvSpPr>
        <p:spPr>
          <a:xfrm>
            <a:off x="1898294" y="5907024"/>
            <a:ext cx="841248" cy="365760"/>
          </a:xfrm>
          <a:prstGeom prst="rect">
            <a:avLst/>
          </a:prstGeom>
          <a:noFill/>
          <a:ln/>
        </p:spPr>
        <p:txBody>
          <a:bodyPr wrap="square" rtlCol="0" anchor="ctr"/>
          <a:lstStyle/>
          <a:p>
            <a:pPr marL="0" indent="0" algn="ctr">
              <a:buNone/>
            </a:pPr>
            <a:r>
              <a:rPr lang="en-US" sz="950" dirty="0">
                <a:solidFill>
                  <a:srgbClr val="CFEFEC"/>
                </a:solidFill>
                <a:latin typeface="Calibri" pitchFamily="34" charset="0"/>
                <a:ea typeface="Calibri" pitchFamily="34" charset="-122"/>
                <a:cs typeface="Calibri" pitchFamily="34" charset="-120"/>
              </a:rPr>
              <a:t>MySQL</a:t>
            </a:r>
            <a:endParaRPr lang="en-US" sz="950" dirty="0"/>
          </a:p>
        </p:txBody>
      </p:sp>
      <p:sp>
        <p:nvSpPr>
          <p:cNvPr id="25" name="Shape 23"/>
          <p:cNvSpPr/>
          <p:nvPr/>
        </p:nvSpPr>
        <p:spPr>
          <a:xfrm>
            <a:off x="2867558" y="5907024"/>
            <a:ext cx="918058" cy="365760"/>
          </a:xfrm>
          <a:prstGeom prst="roundRect">
            <a:avLst>
              <a:gd name="adj" fmla="val 50000"/>
            </a:avLst>
          </a:prstGeom>
          <a:solidFill>
            <a:srgbClr val="0C3A3D"/>
          </a:solidFill>
          <a:ln w="9525">
            <a:solidFill>
              <a:srgbClr val="1E5C5F"/>
            </a:solidFill>
            <a:prstDash val="solid"/>
          </a:ln>
        </p:spPr>
        <p:txBody>
          <a:bodyPr/>
          <a:lstStyle/>
          <a:p>
            <a:endParaRPr lang="en-US"/>
          </a:p>
        </p:txBody>
      </p:sp>
      <p:sp>
        <p:nvSpPr>
          <p:cNvPr id="26" name="Text 24"/>
          <p:cNvSpPr/>
          <p:nvPr/>
        </p:nvSpPr>
        <p:spPr>
          <a:xfrm>
            <a:off x="2867558" y="5907024"/>
            <a:ext cx="918058" cy="365760"/>
          </a:xfrm>
          <a:prstGeom prst="rect">
            <a:avLst/>
          </a:prstGeom>
          <a:noFill/>
          <a:ln/>
        </p:spPr>
        <p:txBody>
          <a:bodyPr wrap="square" rtlCol="0" anchor="ctr"/>
          <a:lstStyle/>
          <a:p>
            <a:pPr marL="0" indent="0" algn="ctr">
              <a:buNone/>
            </a:pPr>
            <a:r>
              <a:rPr lang="en-US" sz="950" dirty="0">
                <a:solidFill>
                  <a:srgbClr val="CFEFEC"/>
                </a:solidFill>
                <a:latin typeface="Calibri" pitchFamily="34" charset="0"/>
                <a:ea typeface="Calibri" pitchFamily="34" charset="-122"/>
                <a:cs typeface="Calibri" pitchFamily="34" charset="-120"/>
              </a:rPr>
              <a:t>Pandas</a:t>
            </a:r>
            <a:endParaRPr lang="en-US" sz="950" dirty="0"/>
          </a:p>
        </p:txBody>
      </p:sp>
      <p:sp>
        <p:nvSpPr>
          <p:cNvPr id="27" name="Shape 25"/>
          <p:cNvSpPr/>
          <p:nvPr/>
        </p:nvSpPr>
        <p:spPr>
          <a:xfrm>
            <a:off x="3913632" y="5907024"/>
            <a:ext cx="841248" cy="365760"/>
          </a:xfrm>
          <a:prstGeom prst="roundRect">
            <a:avLst>
              <a:gd name="adj" fmla="val 50000"/>
            </a:avLst>
          </a:prstGeom>
          <a:solidFill>
            <a:srgbClr val="0C3A3D"/>
          </a:solidFill>
          <a:ln w="9525">
            <a:solidFill>
              <a:srgbClr val="1E5C5F"/>
            </a:solidFill>
            <a:prstDash val="solid"/>
          </a:ln>
        </p:spPr>
        <p:txBody>
          <a:bodyPr/>
          <a:lstStyle/>
          <a:p>
            <a:endParaRPr lang="en-US"/>
          </a:p>
        </p:txBody>
      </p:sp>
      <p:sp>
        <p:nvSpPr>
          <p:cNvPr id="28" name="Text 26"/>
          <p:cNvSpPr/>
          <p:nvPr/>
        </p:nvSpPr>
        <p:spPr>
          <a:xfrm>
            <a:off x="3913632" y="5907024"/>
            <a:ext cx="841248" cy="365760"/>
          </a:xfrm>
          <a:prstGeom prst="rect">
            <a:avLst/>
          </a:prstGeom>
          <a:noFill/>
          <a:ln/>
        </p:spPr>
        <p:txBody>
          <a:bodyPr wrap="square" rtlCol="0" anchor="ctr"/>
          <a:lstStyle/>
          <a:p>
            <a:pPr marL="0" indent="0" algn="ctr">
              <a:buNone/>
            </a:pPr>
            <a:r>
              <a:rPr lang="en-US" sz="950" dirty="0">
                <a:solidFill>
                  <a:srgbClr val="CFEFEC"/>
                </a:solidFill>
                <a:latin typeface="Calibri" pitchFamily="34" charset="0"/>
                <a:ea typeface="Calibri" pitchFamily="34" charset="-122"/>
                <a:cs typeface="Calibri" pitchFamily="34" charset="-120"/>
              </a:rPr>
              <a:t>NumPy</a:t>
            </a:r>
            <a:endParaRPr lang="en-US" sz="950" dirty="0"/>
          </a:p>
        </p:txBody>
      </p:sp>
      <p:sp>
        <p:nvSpPr>
          <p:cNvPr id="30" name="Text 28"/>
          <p:cNvSpPr/>
          <p:nvPr/>
        </p:nvSpPr>
        <p:spPr>
          <a:xfrm>
            <a:off x="11338560" y="6528816"/>
            <a:ext cx="457200" cy="274320"/>
          </a:xfrm>
          <a:prstGeom prst="rect">
            <a:avLst/>
          </a:prstGeom>
          <a:noFill/>
          <a:ln/>
        </p:spPr>
        <p:txBody>
          <a:bodyPr wrap="square" rtlCol="0" anchor="ctr"/>
          <a:lstStyle/>
          <a:p>
            <a:pPr marL="0" indent="0" algn="r">
              <a:buNone/>
            </a:pPr>
            <a:r>
              <a:rPr lang="en-US" sz="850" dirty="0">
                <a:solidFill>
                  <a:srgbClr val="6FA6A8"/>
                </a:solidFill>
                <a:latin typeface="Calibri" pitchFamily="34" charset="0"/>
                <a:ea typeface="Calibri" pitchFamily="34" charset="-122"/>
                <a:cs typeface="Calibri" pitchFamily="34" charset="-120"/>
              </a:rPr>
              <a:t>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7D0BCA6-4AAB-0585-08E0-EEBBED76E22B}"/>
              </a:ext>
            </a:extLst>
          </p:cNvPr>
          <p:cNvSpPr txBox="1"/>
          <p:nvPr/>
        </p:nvSpPr>
        <p:spPr>
          <a:xfrm>
            <a:off x="951345" y="1256145"/>
            <a:ext cx="6530110" cy="5324535"/>
          </a:xfrm>
          <a:prstGeom prst="rect">
            <a:avLst/>
          </a:prstGeom>
          <a:noFill/>
        </p:spPr>
        <p:txBody>
          <a:bodyPr wrap="square" rtlCol="0">
            <a:spAutoFit/>
          </a:bodyPr>
          <a:lstStyle/>
          <a:p>
            <a:pPr marL="285750" indent="-285750">
              <a:buFont typeface="Arial" panose="020B0604020202020204" pitchFamily="34" charset="0"/>
              <a:buChar char="•"/>
            </a:pPr>
            <a:r>
              <a:rPr lang="en-US" sz="2000" dirty="0"/>
              <a:t>INTRODUCTION</a:t>
            </a:r>
          </a:p>
          <a:p>
            <a:pPr marL="285750" indent="-285750">
              <a:buFont typeface="Arial" panose="020B0604020202020204" pitchFamily="34" charset="0"/>
              <a:buChar char="•"/>
            </a:pPr>
            <a:r>
              <a:rPr lang="en-US" sz="2000" dirty="0"/>
              <a:t>PROBLEM STATEMENT</a:t>
            </a:r>
          </a:p>
          <a:p>
            <a:pPr marL="285750" indent="-285750">
              <a:buFont typeface="Arial" panose="020B0604020202020204" pitchFamily="34" charset="0"/>
              <a:buChar char="•"/>
            </a:pPr>
            <a:r>
              <a:rPr lang="en-US" sz="2000" dirty="0"/>
              <a:t>PROPOSED SOLUTION</a:t>
            </a:r>
          </a:p>
          <a:p>
            <a:pPr marL="285750" indent="-285750">
              <a:buFont typeface="Arial" panose="020B0604020202020204" pitchFamily="34" charset="0"/>
              <a:buChar char="•"/>
            </a:pPr>
            <a:r>
              <a:rPr lang="en-US" sz="2000" dirty="0"/>
              <a:t>OBJECTIVES</a:t>
            </a:r>
          </a:p>
          <a:p>
            <a:pPr marL="285750" indent="-285750">
              <a:buFont typeface="Arial" panose="020B0604020202020204" pitchFamily="34" charset="0"/>
              <a:buChar char="•"/>
            </a:pPr>
            <a:r>
              <a:rPr lang="en-US" sz="2000" dirty="0"/>
              <a:t>WHY THIS PROJECT IS DIFFFERENT</a:t>
            </a:r>
          </a:p>
          <a:p>
            <a:pPr marL="285750" indent="-285750">
              <a:buFont typeface="Arial" panose="020B0604020202020204" pitchFamily="34" charset="0"/>
              <a:buChar char="•"/>
            </a:pPr>
            <a:r>
              <a:rPr lang="en-US" sz="2000" dirty="0"/>
              <a:t>CODE PIPELINE</a:t>
            </a:r>
          </a:p>
          <a:p>
            <a:pPr marL="285750" indent="-285750">
              <a:buFont typeface="Arial" panose="020B0604020202020204" pitchFamily="34" charset="0"/>
              <a:buChar char="•"/>
            </a:pPr>
            <a:r>
              <a:rPr lang="en-US" sz="2000" dirty="0"/>
              <a:t>TECHNOLOGY STACK</a:t>
            </a:r>
          </a:p>
          <a:p>
            <a:pPr marL="285750" indent="-285750">
              <a:buFont typeface="Arial" panose="020B0604020202020204" pitchFamily="34" charset="0"/>
              <a:buChar char="•"/>
            </a:pPr>
            <a:r>
              <a:rPr lang="en-US" sz="2000" dirty="0"/>
              <a:t>SYSTME ARCHITECTURE</a:t>
            </a:r>
          </a:p>
          <a:p>
            <a:pPr marL="285750" indent="-285750">
              <a:buFont typeface="Arial" panose="020B0604020202020204" pitchFamily="34" charset="0"/>
              <a:buChar char="•"/>
            </a:pPr>
            <a:r>
              <a:rPr lang="en-US" sz="2000" dirty="0"/>
              <a:t>DATA PREPROCESSING PIPELINE</a:t>
            </a:r>
          </a:p>
          <a:p>
            <a:pPr marL="285750" indent="-285750">
              <a:buFont typeface="Arial" panose="020B0604020202020204" pitchFamily="34" charset="0"/>
              <a:buChar char="•"/>
            </a:pPr>
            <a:r>
              <a:rPr lang="en-US" sz="2000" dirty="0"/>
              <a:t>SQL BUSINESS INSIGHTS OUTPUT SCREENS</a:t>
            </a:r>
          </a:p>
          <a:p>
            <a:pPr marL="285750" indent="-285750">
              <a:buFont typeface="Arial" panose="020B0604020202020204" pitchFamily="34" charset="0"/>
              <a:buChar char="•"/>
            </a:pPr>
            <a:r>
              <a:rPr lang="en-US" sz="2000" dirty="0"/>
              <a:t>EDA OUTPUTS AND SUMMARY</a:t>
            </a:r>
          </a:p>
          <a:p>
            <a:pPr marL="285750" indent="-285750">
              <a:buFont typeface="Arial" panose="020B0604020202020204" pitchFamily="34" charset="0"/>
              <a:buChar char="•"/>
            </a:pPr>
            <a:r>
              <a:rPr lang="en-US" sz="2000" dirty="0"/>
              <a:t>FEATURE ENGINEERING</a:t>
            </a:r>
          </a:p>
          <a:p>
            <a:pPr marL="285750" indent="-285750">
              <a:buFont typeface="Arial" panose="020B0604020202020204" pitchFamily="34" charset="0"/>
              <a:buChar char="•"/>
            </a:pPr>
            <a:r>
              <a:rPr lang="en-US" sz="2000" dirty="0"/>
              <a:t>MACHIENE LEARNING PIPELINE</a:t>
            </a:r>
          </a:p>
          <a:p>
            <a:pPr marL="285750" indent="-285750">
              <a:buFont typeface="Arial" panose="020B0604020202020204" pitchFamily="34" charset="0"/>
              <a:buChar char="•"/>
            </a:pPr>
            <a:r>
              <a:rPr lang="en-US" sz="2000" dirty="0"/>
              <a:t>RISK ASSESMENT ENGINE</a:t>
            </a:r>
          </a:p>
          <a:p>
            <a:pPr marL="285750" indent="-285750">
              <a:buFont typeface="Arial" panose="020B0604020202020204" pitchFamily="34" charset="0"/>
              <a:buChar char="•"/>
            </a:pPr>
            <a:r>
              <a:rPr lang="en-US" sz="2000" dirty="0"/>
              <a:t>LENDING DECISION ENGINE</a:t>
            </a:r>
          </a:p>
          <a:p>
            <a:pPr marL="285750" indent="-285750">
              <a:buFont typeface="Arial" panose="020B0604020202020204" pitchFamily="34" charset="0"/>
              <a:buChar char="•"/>
            </a:pPr>
            <a:r>
              <a:rPr lang="en-US" sz="2000" dirty="0"/>
              <a:t>STREAMLIT DASHBOARD UI &amp; OUTPUTS &amp; RESULTS</a:t>
            </a:r>
          </a:p>
          <a:p>
            <a:pPr marL="285750" indent="-285750">
              <a:buFont typeface="Arial" panose="020B0604020202020204" pitchFamily="34" charset="0"/>
              <a:buChar char="•"/>
            </a:pPr>
            <a:r>
              <a:rPr lang="en-US" sz="2000" dirty="0"/>
              <a:t>CONCLUSION RESULTS &amp; FUTURE SCOPE</a:t>
            </a:r>
          </a:p>
        </p:txBody>
      </p:sp>
      <p:sp>
        <p:nvSpPr>
          <p:cNvPr id="3" name="Title 1">
            <a:extLst>
              <a:ext uri="{FF2B5EF4-FFF2-40B4-BE49-F238E27FC236}">
                <a16:creationId xmlns:a16="http://schemas.microsoft.com/office/drawing/2014/main" id="{DB9E3FC8-ABBB-5FC4-F4DA-855C2C306B55}"/>
              </a:ext>
            </a:extLst>
          </p:cNvPr>
          <p:cNvSpPr txBox="1">
            <a:spLocks/>
          </p:cNvSpPr>
          <p:nvPr/>
        </p:nvSpPr>
        <p:spPr>
          <a:xfrm>
            <a:off x="581192" y="0"/>
            <a:ext cx="11029616" cy="1013800"/>
          </a:xfrm>
          <a:prstGeom prst="rect">
            <a:avLst/>
          </a:prstGeom>
          <a:solidFill>
            <a:schemeClr val="accent2"/>
          </a:solidFill>
          <a:ln>
            <a:solidFill>
              <a:schemeClr val="tx1"/>
            </a:solidFill>
          </a:ln>
        </p:spPr>
        <p:txBody>
          <a:bodyPr vert="horz" lIns="91440" tIns="45720" rIns="91440" bIns="45720" rtlCol="0" anchor="b">
            <a:normAutofit/>
          </a:bodyPr>
          <a:lstStyle>
            <a:lvl1pPr>
              <a:spcBef>
                <a:spcPct val="0"/>
              </a:spcBef>
              <a:buNone/>
              <a:defRPr sz="2800" b="0" cap="all">
                <a:solidFill>
                  <a:schemeClr val="bg1"/>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ctr"/>
            <a:r>
              <a:rPr lang="en-US" dirty="0"/>
              <a:t>FLOW OF PRESENTATION</a:t>
            </a:r>
          </a:p>
        </p:txBody>
      </p:sp>
    </p:spTree>
    <p:extLst>
      <p:ext uri="{BB962C8B-B14F-4D97-AF65-F5344CB8AC3E}">
        <p14:creationId xmlns:p14="http://schemas.microsoft.com/office/powerpoint/2010/main" val="5753687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704088"/>
            <a:ext cx="10058400" cy="292608"/>
          </a:xfrm>
          <a:prstGeom prst="rect">
            <a:avLst/>
          </a:prstGeom>
          <a:noFill/>
          <a:ln/>
        </p:spPr>
        <p:txBody>
          <a:bodyPr wrap="square" rtlCol="0" anchor="ctr"/>
          <a:lstStyle/>
          <a:p>
            <a:pPr marL="0" indent="0">
              <a:buNone/>
            </a:pPr>
            <a:r>
              <a:rPr lang="en-US" sz="2000" b="1" kern="0" spc="200" dirty="0">
                <a:solidFill>
                  <a:srgbClr val="00A896"/>
                </a:solidFill>
                <a:latin typeface="Calibri" pitchFamily="34" charset="0"/>
                <a:ea typeface="Calibri" pitchFamily="34" charset="-122"/>
                <a:cs typeface="Calibri" pitchFamily="34" charset="-120"/>
              </a:rPr>
              <a:t>OVERVIEW</a:t>
            </a:r>
            <a:endParaRPr lang="en-US" sz="2000" dirty="0"/>
          </a:p>
        </p:txBody>
      </p:sp>
      <p:sp>
        <p:nvSpPr>
          <p:cNvPr id="3" name="Text 1"/>
          <p:cNvSpPr/>
          <p:nvPr/>
        </p:nvSpPr>
        <p:spPr>
          <a:xfrm>
            <a:off x="548640" y="850392"/>
            <a:ext cx="11064240" cy="658368"/>
          </a:xfrm>
          <a:prstGeom prst="rect">
            <a:avLst/>
          </a:prstGeom>
          <a:noFill/>
          <a:ln/>
        </p:spPr>
        <p:txBody>
          <a:bodyPr wrap="square" rtlCol="0" anchor="ctr"/>
          <a:lstStyle/>
          <a:p>
            <a:pPr marL="0" indent="0">
              <a:buNone/>
            </a:pPr>
            <a:r>
              <a:rPr lang="en-US" sz="2000" b="1" dirty="0">
                <a:solidFill>
                  <a:srgbClr val="0B2B2E"/>
                </a:solidFill>
                <a:latin typeface="Cambria" pitchFamily="34" charset="0"/>
                <a:ea typeface="Cambria" pitchFamily="34" charset="-122"/>
                <a:cs typeface="Cambria" pitchFamily="34" charset="-120"/>
              </a:rPr>
              <a:t>Introduction</a:t>
            </a:r>
            <a:endParaRPr lang="en-US" sz="2000" dirty="0"/>
          </a:p>
        </p:txBody>
      </p:sp>
      <p:sp>
        <p:nvSpPr>
          <p:cNvPr id="4" name="Shape 2"/>
          <p:cNvSpPr/>
          <p:nvPr/>
        </p:nvSpPr>
        <p:spPr>
          <a:xfrm>
            <a:off x="548640" y="1572768"/>
            <a:ext cx="11091672" cy="950976"/>
          </a:xfrm>
          <a:prstGeom prst="roundRect">
            <a:avLst>
              <a:gd name="adj" fmla="val 7692"/>
            </a:avLst>
          </a:prstGeom>
          <a:solidFill>
            <a:srgbClr val="F3F8F8"/>
          </a:solidFill>
          <a:ln w="12700">
            <a:solidFill>
              <a:srgbClr val="DCEBEA"/>
            </a:solidFill>
            <a:prstDash val="solid"/>
          </a:ln>
        </p:spPr>
        <p:txBody>
          <a:bodyPr/>
          <a:lstStyle/>
          <a:p>
            <a:endParaRPr lang="en-US"/>
          </a:p>
        </p:txBody>
      </p:sp>
      <p:sp>
        <p:nvSpPr>
          <p:cNvPr id="5" name="Shape 3"/>
          <p:cNvSpPr/>
          <p:nvPr/>
        </p:nvSpPr>
        <p:spPr>
          <a:xfrm>
            <a:off x="777240" y="1847088"/>
            <a:ext cx="402336" cy="402336"/>
          </a:xfrm>
          <a:prstGeom prst="ellipse">
            <a:avLst/>
          </a:prstGeom>
          <a:solidFill>
            <a:srgbClr val="028090"/>
          </a:solidFill>
          <a:ln/>
        </p:spPr>
        <p:txBody>
          <a:bodyPr/>
          <a:lstStyle/>
          <a:p>
            <a:endParaRPr lang="en-US"/>
          </a:p>
        </p:txBody>
      </p:sp>
      <p:sp>
        <p:nvSpPr>
          <p:cNvPr id="6" name="Text 4"/>
          <p:cNvSpPr/>
          <p:nvPr/>
        </p:nvSpPr>
        <p:spPr>
          <a:xfrm>
            <a:off x="777240" y="1847088"/>
            <a:ext cx="402336" cy="402336"/>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371600" y="1572768"/>
            <a:ext cx="10104120" cy="950976"/>
          </a:xfrm>
          <a:prstGeom prst="rect">
            <a:avLst/>
          </a:prstGeom>
          <a:noFill/>
          <a:ln/>
        </p:spPr>
        <p:txBody>
          <a:bodyPr wrap="square" rtlCol="0" anchor="ctr"/>
          <a:lstStyle/>
          <a:p>
            <a:pPr marL="0" indent="0">
              <a:lnSpc>
                <a:spcPct val="120000"/>
              </a:lnSpc>
              <a:buNone/>
            </a:pPr>
            <a:r>
              <a:rPr lang="en-US" sz="2000" dirty="0">
                <a:solidFill>
                  <a:srgbClr val="0B2B2E"/>
                </a:solidFill>
                <a:latin typeface="Calibri" pitchFamily="34" charset="0"/>
                <a:ea typeface="Calibri" pitchFamily="34" charset="-122"/>
                <a:cs typeface="Calibri" pitchFamily="34" charset="-120"/>
              </a:rPr>
              <a:t>Our project uses AI and Machine Learning to check borrower details and predict whether they may have difficulty repaying a loan.</a:t>
            </a:r>
            <a:endParaRPr lang="en-US" sz="2000" dirty="0"/>
          </a:p>
        </p:txBody>
      </p:sp>
      <p:sp>
        <p:nvSpPr>
          <p:cNvPr id="8" name="Shape 6"/>
          <p:cNvSpPr/>
          <p:nvPr/>
        </p:nvSpPr>
        <p:spPr>
          <a:xfrm>
            <a:off x="548640" y="2706624"/>
            <a:ext cx="11091672" cy="950976"/>
          </a:xfrm>
          <a:prstGeom prst="roundRect">
            <a:avLst>
              <a:gd name="adj" fmla="val 7692"/>
            </a:avLst>
          </a:prstGeom>
          <a:solidFill>
            <a:srgbClr val="F3F8F8"/>
          </a:solidFill>
          <a:ln w="12700">
            <a:solidFill>
              <a:srgbClr val="DCEBEA"/>
            </a:solidFill>
            <a:prstDash val="solid"/>
          </a:ln>
        </p:spPr>
        <p:txBody>
          <a:bodyPr/>
          <a:lstStyle/>
          <a:p>
            <a:endParaRPr lang="en-US"/>
          </a:p>
        </p:txBody>
      </p:sp>
      <p:sp>
        <p:nvSpPr>
          <p:cNvPr id="9" name="Shape 7"/>
          <p:cNvSpPr/>
          <p:nvPr/>
        </p:nvSpPr>
        <p:spPr>
          <a:xfrm>
            <a:off x="777240" y="2980944"/>
            <a:ext cx="402336" cy="402336"/>
          </a:xfrm>
          <a:prstGeom prst="ellipse">
            <a:avLst/>
          </a:prstGeom>
          <a:solidFill>
            <a:srgbClr val="028090"/>
          </a:solidFill>
          <a:ln/>
        </p:spPr>
        <p:txBody>
          <a:bodyPr/>
          <a:lstStyle/>
          <a:p>
            <a:endParaRPr lang="en-US"/>
          </a:p>
        </p:txBody>
      </p:sp>
      <p:sp>
        <p:nvSpPr>
          <p:cNvPr id="10" name="Text 8"/>
          <p:cNvSpPr/>
          <p:nvPr/>
        </p:nvSpPr>
        <p:spPr>
          <a:xfrm>
            <a:off x="777240" y="2980944"/>
            <a:ext cx="402336" cy="402336"/>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1" name="Text 9"/>
          <p:cNvSpPr/>
          <p:nvPr/>
        </p:nvSpPr>
        <p:spPr>
          <a:xfrm>
            <a:off x="1371600" y="2706624"/>
            <a:ext cx="10104120" cy="950976"/>
          </a:xfrm>
          <a:prstGeom prst="rect">
            <a:avLst/>
          </a:prstGeom>
          <a:noFill/>
          <a:ln/>
        </p:spPr>
        <p:txBody>
          <a:bodyPr wrap="square" rtlCol="0" anchor="ctr"/>
          <a:lstStyle/>
          <a:p>
            <a:pPr marL="0" indent="0">
              <a:lnSpc>
                <a:spcPct val="120000"/>
              </a:lnSpc>
              <a:buNone/>
            </a:pPr>
            <a:r>
              <a:rPr lang="en-US" sz="2000" dirty="0">
                <a:solidFill>
                  <a:srgbClr val="0B2B2E"/>
                </a:solidFill>
                <a:latin typeface="Calibri" pitchFamily="34" charset="0"/>
                <a:ea typeface="Calibri" pitchFamily="34" charset="-122"/>
                <a:cs typeface="Calibri" pitchFamily="34" charset="-120"/>
              </a:rPr>
              <a:t>It looks at important details like loan amount, income, interest rate, DTI, credit history, employment, and loan purpose to calculate a risk score and risk category.</a:t>
            </a:r>
            <a:endParaRPr lang="en-US" sz="2000" dirty="0"/>
          </a:p>
        </p:txBody>
      </p:sp>
      <p:sp>
        <p:nvSpPr>
          <p:cNvPr id="12" name="Shape 10"/>
          <p:cNvSpPr/>
          <p:nvPr/>
        </p:nvSpPr>
        <p:spPr>
          <a:xfrm>
            <a:off x="548640" y="3840480"/>
            <a:ext cx="11091672" cy="950976"/>
          </a:xfrm>
          <a:prstGeom prst="roundRect">
            <a:avLst>
              <a:gd name="adj" fmla="val 7692"/>
            </a:avLst>
          </a:prstGeom>
          <a:solidFill>
            <a:srgbClr val="F3F8F8"/>
          </a:solidFill>
          <a:ln w="12700">
            <a:solidFill>
              <a:srgbClr val="DCEBEA"/>
            </a:solidFill>
            <a:prstDash val="solid"/>
          </a:ln>
        </p:spPr>
        <p:txBody>
          <a:bodyPr/>
          <a:lstStyle/>
          <a:p>
            <a:endParaRPr lang="en-US"/>
          </a:p>
        </p:txBody>
      </p:sp>
      <p:sp>
        <p:nvSpPr>
          <p:cNvPr id="13" name="Shape 11"/>
          <p:cNvSpPr/>
          <p:nvPr/>
        </p:nvSpPr>
        <p:spPr>
          <a:xfrm>
            <a:off x="777240" y="4114800"/>
            <a:ext cx="402336" cy="402336"/>
          </a:xfrm>
          <a:prstGeom prst="ellipse">
            <a:avLst/>
          </a:prstGeom>
          <a:solidFill>
            <a:srgbClr val="028090"/>
          </a:solidFill>
          <a:ln/>
        </p:spPr>
        <p:txBody>
          <a:bodyPr/>
          <a:lstStyle/>
          <a:p>
            <a:endParaRPr lang="en-US"/>
          </a:p>
        </p:txBody>
      </p:sp>
      <p:sp>
        <p:nvSpPr>
          <p:cNvPr id="14" name="Text 12"/>
          <p:cNvSpPr/>
          <p:nvPr/>
        </p:nvSpPr>
        <p:spPr>
          <a:xfrm>
            <a:off x="777240" y="4114800"/>
            <a:ext cx="402336" cy="402336"/>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5" name="Text 13"/>
          <p:cNvSpPr/>
          <p:nvPr/>
        </p:nvSpPr>
        <p:spPr>
          <a:xfrm>
            <a:off x="1371600" y="3840480"/>
            <a:ext cx="10104120" cy="950976"/>
          </a:xfrm>
          <a:prstGeom prst="rect">
            <a:avLst/>
          </a:prstGeom>
          <a:noFill/>
          <a:ln/>
        </p:spPr>
        <p:txBody>
          <a:bodyPr wrap="square" rtlCol="0" anchor="ctr"/>
          <a:lstStyle/>
          <a:p>
            <a:pPr marL="0" indent="0">
              <a:lnSpc>
                <a:spcPct val="120000"/>
              </a:lnSpc>
              <a:buNone/>
            </a:pPr>
            <a:r>
              <a:rPr lang="en-US" sz="2000" dirty="0">
                <a:solidFill>
                  <a:srgbClr val="0B2B2E"/>
                </a:solidFill>
                <a:latin typeface="Calibri" pitchFamily="34" charset="0"/>
                <a:ea typeface="Calibri" pitchFamily="34" charset="-122"/>
                <a:cs typeface="Calibri" pitchFamily="34" charset="-120"/>
              </a:rPr>
              <a:t>The system gives a clear lending recommendation with reasons, helping lenders make faster and more consistent decisions.</a:t>
            </a:r>
            <a:endParaRPr lang="en-US" sz="2000" dirty="0"/>
          </a:p>
        </p:txBody>
      </p:sp>
      <p:sp>
        <p:nvSpPr>
          <p:cNvPr id="16" name="Shape 14"/>
          <p:cNvSpPr/>
          <p:nvPr/>
        </p:nvSpPr>
        <p:spPr>
          <a:xfrm>
            <a:off x="548640" y="4974336"/>
            <a:ext cx="11091672" cy="950976"/>
          </a:xfrm>
          <a:prstGeom prst="roundRect">
            <a:avLst>
              <a:gd name="adj" fmla="val 7692"/>
            </a:avLst>
          </a:prstGeom>
          <a:solidFill>
            <a:srgbClr val="F3F8F8"/>
          </a:solidFill>
          <a:ln w="12700">
            <a:solidFill>
              <a:srgbClr val="DCEBEA"/>
            </a:solidFill>
            <a:prstDash val="solid"/>
          </a:ln>
        </p:spPr>
        <p:txBody>
          <a:bodyPr/>
          <a:lstStyle/>
          <a:p>
            <a:endParaRPr lang="en-US"/>
          </a:p>
        </p:txBody>
      </p:sp>
      <p:sp>
        <p:nvSpPr>
          <p:cNvPr id="17" name="Shape 15"/>
          <p:cNvSpPr/>
          <p:nvPr/>
        </p:nvSpPr>
        <p:spPr>
          <a:xfrm>
            <a:off x="777240" y="5248656"/>
            <a:ext cx="402336" cy="402336"/>
          </a:xfrm>
          <a:prstGeom prst="ellipse">
            <a:avLst/>
          </a:prstGeom>
          <a:solidFill>
            <a:srgbClr val="028090"/>
          </a:solidFill>
          <a:ln/>
        </p:spPr>
        <p:txBody>
          <a:bodyPr/>
          <a:lstStyle/>
          <a:p>
            <a:endParaRPr lang="en-US"/>
          </a:p>
        </p:txBody>
      </p:sp>
      <p:sp>
        <p:nvSpPr>
          <p:cNvPr id="18" name="Text 16"/>
          <p:cNvSpPr/>
          <p:nvPr/>
        </p:nvSpPr>
        <p:spPr>
          <a:xfrm>
            <a:off x="777240" y="5248656"/>
            <a:ext cx="402336" cy="402336"/>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9" name="Text 17"/>
          <p:cNvSpPr/>
          <p:nvPr/>
        </p:nvSpPr>
        <p:spPr>
          <a:xfrm>
            <a:off x="1371600" y="4974336"/>
            <a:ext cx="10104120" cy="950976"/>
          </a:xfrm>
          <a:prstGeom prst="rect">
            <a:avLst/>
          </a:prstGeom>
          <a:noFill/>
          <a:ln/>
        </p:spPr>
        <p:txBody>
          <a:bodyPr wrap="square" rtlCol="0" anchor="ctr"/>
          <a:lstStyle/>
          <a:p>
            <a:pPr marL="0" indent="0">
              <a:lnSpc>
                <a:spcPct val="120000"/>
              </a:lnSpc>
              <a:buNone/>
            </a:pPr>
            <a:r>
              <a:rPr lang="en-US" sz="2000" dirty="0">
                <a:solidFill>
                  <a:srgbClr val="0B2B2E"/>
                </a:solidFill>
                <a:latin typeface="Calibri" pitchFamily="34" charset="0"/>
                <a:ea typeface="Calibri" pitchFamily="34" charset="-122"/>
                <a:cs typeface="Calibri" pitchFamily="34" charset="-120"/>
              </a:rPr>
              <a:t>MySQL, FastAPI, and Streamlit are used to store data, manage the system, and provide an easy-to-use dashboard, making the overall process simple, fast, and easy to understand.</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3880" y="681228"/>
            <a:ext cx="10058400" cy="292608"/>
          </a:xfrm>
          <a:prstGeom prst="rect">
            <a:avLst/>
          </a:prstGeom>
          <a:noFill/>
          <a:ln/>
        </p:spPr>
        <p:txBody>
          <a:bodyPr wrap="square" rtlCol="0" anchor="ctr"/>
          <a:lstStyle/>
          <a:p>
            <a:pPr marL="0" indent="0">
              <a:buNone/>
            </a:pPr>
            <a:r>
              <a:rPr lang="en-US" sz="2000" b="1" kern="0" spc="200" dirty="0">
                <a:solidFill>
                  <a:srgbClr val="00A896"/>
                </a:solidFill>
                <a:latin typeface="Calibri" pitchFamily="34" charset="0"/>
                <a:ea typeface="Calibri" pitchFamily="34" charset="-122"/>
                <a:cs typeface="Calibri" pitchFamily="34" charset="-120"/>
              </a:rPr>
              <a:t>THE CHALLENGE</a:t>
            </a:r>
            <a:endParaRPr lang="en-US" sz="2000" dirty="0"/>
          </a:p>
        </p:txBody>
      </p:sp>
      <p:sp>
        <p:nvSpPr>
          <p:cNvPr id="3" name="Text 1"/>
          <p:cNvSpPr/>
          <p:nvPr/>
        </p:nvSpPr>
        <p:spPr>
          <a:xfrm>
            <a:off x="563880" y="941832"/>
            <a:ext cx="11064240" cy="658368"/>
          </a:xfrm>
          <a:prstGeom prst="rect">
            <a:avLst/>
          </a:prstGeom>
          <a:noFill/>
          <a:ln/>
        </p:spPr>
        <p:txBody>
          <a:bodyPr wrap="square" rtlCol="0" anchor="ctr"/>
          <a:lstStyle/>
          <a:p>
            <a:pPr marL="0" indent="0">
              <a:buNone/>
            </a:pPr>
            <a:r>
              <a:rPr lang="en-US" sz="2000" b="1" dirty="0">
                <a:solidFill>
                  <a:srgbClr val="0B2B2E"/>
                </a:solidFill>
                <a:latin typeface="Cambria" pitchFamily="34" charset="0"/>
                <a:ea typeface="Cambria" pitchFamily="34" charset="-122"/>
                <a:cs typeface="Cambria" pitchFamily="34" charset="-120"/>
              </a:rPr>
              <a:t>Problem Statement</a:t>
            </a:r>
            <a:endParaRPr lang="en-US" sz="2000" dirty="0"/>
          </a:p>
        </p:txBody>
      </p:sp>
      <p:sp>
        <p:nvSpPr>
          <p:cNvPr id="4" name="Shape 2"/>
          <p:cNvSpPr/>
          <p:nvPr/>
        </p:nvSpPr>
        <p:spPr>
          <a:xfrm>
            <a:off x="563880" y="1746504"/>
            <a:ext cx="5349240" cy="4160520"/>
          </a:xfrm>
          <a:prstGeom prst="roundRect">
            <a:avLst>
              <a:gd name="adj" fmla="val 2198"/>
            </a:avLst>
          </a:prstGeom>
          <a:solidFill>
            <a:srgbClr val="012B2E"/>
          </a:solidFill>
          <a:ln w="12700">
            <a:solidFill>
              <a:srgbClr val="DCEBEA"/>
            </a:solidFill>
            <a:prstDash val="solid"/>
          </a:ln>
        </p:spPr>
        <p:txBody>
          <a:bodyPr/>
          <a:lstStyle/>
          <a:p>
            <a:endParaRPr lang="en-US"/>
          </a:p>
        </p:txBody>
      </p:sp>
      <p:sp>
        <p:nvSpPr>
          <p:cNvPr id="5" name="Shape 3"/>
          <p:cNvSpPr/>
          <p:nvPr/>
        </p:nvSpPr>
        <p:spPr>
          <a:xfrm>
            <a:off x="929640" y="2112264"/>
            <a:ext cx="502920" cy="502920"/>
          </a:xfrm>
          <a:prstGeom prst="ellipse">
            <a:avLst/>
          </a:prstGeom>
          <a:solidFill>
            <a:srgbClr val="02C39A"/>
          </a:solidFill>
          <a:ln/>
        </p:spPr>
        <p:txBody>
          <a:bodyPr/>
          <a:lstStyle/>
          <a:p>
            <a:endParaRPr lang="en-US"/>
          </a:p>
        </p:txBody>
      </p:sp>
      <p:sp>
        <p:nvSpPr>
          <p:cNvPr id="6" name="Text 4"/>
          <p:cNvSpPr/>
          <p:nvPr/>
        </p:nvSpPr>
        <p:spPr>
          <a:xfrm>
            <a:off x="929640" y="2112264"/>
            <a:ext cx="502920" cy="502920"/>
          </a:xfrm>
          <a:prstGeom prst="rect">
            <a:avLst/>
          </a:prstGeom>
          <a:noFill/>
          <a:ln/>
        </p:spPr>
        <p:txBody>
          <a:bodyPr wrap="square" rtlCol="0" anchor="ctr"/>
          <a:lstStyle/>
          <a:p>
            <a:pPr marL="0" indent="0" algn="ctr">
              <a:buNone/>
            </a:pPr>
            <a:r>
              <a:rPr lang="en-US" sz="2000" b="1" dirty="0">
                <a:solidFill>
                  <a:srgbClr val="012B2E"/>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929640" y="2843784"/>
            <a:ext cx="4617720" cy="2788920"/>
          </a:xfrm>
          <a:prstGeom prst="rect">
            <a:avLst/>
          </a:prstGeom>
          <a:noFill/>
          <a:ln/>
        </p:spPr>
        <p:txBody>
          <a:bodyPr wrap="square" rtlCol="0" anchor="ctr"/>
          <a:lstStyle/>
          <a:p>
            <a:pPr marL="0" indent="0">
              <a:lnSpc>
                <a:spcPct val="135000"/>
              </a:lnSpc>
              <a:buNone/>
            </a:pPr>
            <a:r>
              <a:rPr lang="en-US" sz="2000" dirty="0">
                <a:solidFill>
                  <a:srgbClr val="E3F6F3"/>
                </a:solidFill>
                <a:latin typeface="Calibri" pitchFamily="34" charset="0"/>
                <a:ea typeface="Calibri" pitchFamily="34" charset="-122"/>
                <a:cs typeface="Calibri" pitchFamily="34" charset="-120"/>
              </a:rPr>
              <a:t>Micro-lenders often rely on manual verification and traditional credit assessment methods, which are time-consuming, prone to human bias, and may lead to inconsistent lending decisions. This makes it difficult to process loan applications quickly while ensuring fairness and accuracy.</a:t>
            </a:r>
            <a:endParaRPr lang="en-US" sz="2000" dirty="0"/>
          </a:p>
        </p:txBody>
      </p:sp>
      <p:sp>
        <p:nvSpPr>
          <p:cNvPr id="8" name="Shape 6"/>
          <p:cNvSpPr/>
          <p:nvPr/>
        </p:nvSpPr>
        <p:spPr>
          <a:xfrm>
            <a:off x="6278880" y="1746504"/>
            <a:ext cx="5349240" cy="4160520"/>
          </a:xfrm>
          <a:prstGeom prst="roundRect">
            <a:avLst>
              <a:gd name="adj" fmla="val 2198"/>
            </a:avLst>
          </a:prstGeom>
          <a:solidFill>
            <a:srgbClr val="F3F8F8"/>
          </a:solidFill>
          <a:ln w="12700">
            <a:solidFill>
              <a:srgbClr val="DCEBEA"/>
            </a:solidFill>
            <a:prstDash val="solid"/>
          </a:ln>
        </p:spPr>
        <p:txBody>
          <a:bodyPr/>
          <a:lstStyle/>
          <a:p>
            <a:endParaRPr lang="en-US"/>
          </a:p>
        </p:txBody>
      </p:sp>
      <p:sp>
        <p:nvSpPr>
          <p:cNvPr id="9" name="Shape 7"/>
          <p:cNvSpPr/>
          <p:nvPr/>
        </p:nvSpPr>
        <p:spPr>
          <a:xfrm>
            <a:off x="6644640" y="2112264"/>
            <a:ext cx="502920" cy="502920"/>
          </a:xfrm>
          <a:prstGeom prst="ellipse">
            <a:avLst/>
          </a:prstGeom>
          <a:solidFill>
            <a:srgbClr val="028090"/>
          </a:solidFill>
          <a:ln/>
        </p:spPr>
        <p:txBody>
          <a:bodyPr/>
          <a:lstStyle/>
          <a:p>
            <a:endParaRPr lang="en-US"/>
          </a:p>
        </p:txBody>
      </p:sp>
      <p:sp>
        <p:nvSpPr>
          <p:cNvPr id="10" name="Text 8"/>
          <p:cNvSpPr/>
          <p:nvPr/>
        </p:nvSpPr>
        <p:spPr>
          <a:xfrm>
            <a:off x="6644640" y="2112264"/>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1" name="Text 9"/>
          <p:cNvSpPr/>
          <p:nvPr/>
        </p:nvSpPr>
        <p:spPr>
          <a:xfrm>
            <a:off x="6644640" y="2843784"/>
            <a:ext cx="4617720" cy="2788920"/>
          </a:xfrm>
          <a:prstGeom prst="rect">
            <a:avLst/>
          </a:prstGeom>
          <a:noFill/>
          <a:ln/>
        </p:spPr>
        <p:txBody>
          <a:bodyPr wrap="square" rtlCol="0" anchor="ctr"/>
          <a:lstStyle/>
          <a:p>
            <a:pPr marL="0" indent="0">
              <a:lnSpc>
                <a:spcPct val="135000"/>
              </a:lnSpc>
              <a:buNone/>
            </a:pPr>
            <a:r>
              <a:rPr lang="en-US" sz="2000" dirty="0">
                <a:solidFill>
                  <a:srgbClr val="0B2B2E"/>
                </a:solidFill>
                <a:latin typeface="Calibri" pitchFamily="34" charset="0"/>
                <a:ea typeface="Calibri" pitchFamily="34" charset="-122"/>
                <a:cs typeface="Calibri" pitchFamily="34" charset="-120"/>
              </a:rPr>
              <a:t>With the growing volume of borrower data, identifying hidden risk patterns becomes challenging. Conventional approaches may fail to capture complex relationships in the data and often lack transparency, resulting in inaccurate or uneven risk classification and increased chances of loan defaults.</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79120" y="690372"/>
            <a:ext cx="10058400" cy="292608"/>
          </a:xfrm>
          <a:prstGeom prst="rect">
            <a:avLst/>
          </a:prstGeom>
          <a:noFill/>
          <a:ln/>
        </p:spPr>
        <p:txBody>
          <a:bodyPr wrap="square" rtlCol="0" anchor="ctr"/>
          <a:lstStyle/>
          <a:p>
            <a:pPr marL="0" indent="0">
              <a:buNone/>
            </a:pPr>
            <a:r>
              <a:rPr lang="en-US" sz="2000" b="1" kern="0" spc="200" dirty="0">
                <a:solidFill>
                  <a:srgbClr val="00A896"/>
                </a:solidFill>
                <a:latin typeface="Calibri" pitchFamily="34" charset="0"/>
                <a:ea typeface="Calibri" pitchFamily="34" charset="-122"/>
                <a:cs typeface="Calibri" pitchFamily="34" charset="-120"/>
              </a:rPr>
              <a:t>APPROACH</a:t>
            </a:r>
            <a:endParaRPr lang="en-US" sz="2000" dirty="0"/>
          </a:p>
        </p:txBody>
      </p:sp>
      <p:sp>
        <p:nvSpPr>
          <p:cNvPr id="3" name="Text 1"/>
          <p:cNvSpPr/>
          <p:nvPr/>
        </p:nvSpPr>
        <p:spPr>
          <a:xfrm>
            <a:off x="548640" y="923544"/>
            <a:ext cx="11064240" cy="658368"/>
          </a:xfrm>
          <a:prstGeom prst="rect">
            <a:avLst/>
          </a:prstGeom>
          <a:noFill/>
          <a:ln/>
        </p:spPr>
        <p:txBody>
          <a:bodyPr wrap="square" rtlCol="0" anchor="ctr"/>
          <a:lstStyle/>
          <a:p>
            <a:pPr marL="0" indent="0">
              <a:buNone/>
            </a:pPr>
            <a:r>
              <a:rPr lang="en-US" sz="2000" b="1" dirty="0">
                <a:solidFill>
                  <a:srgbClr val="0B2B2E"/>
                </a:solidFill>
                <a:latin typeface="Cambria" pitchFamily="34" charset="0"/>
                <a:ea typeface="Cambria" pitchFamily="34" charset="-122"/>
                <a:cs typeface="Cambria" pitchFamily="34" charset="-120"/>
              </a:rPr>
              <a:t>Proposed Solution</a:t>
            </a:r>
            <a:endParaRPr lang="en-US" sz="2000" dirty="0"/>
          </a:p>
        </p:txBody>
      </p:sp>
      <p:sp>
        <p:nvSpPr>
          <p:cNvPr id="4" name="Shape 2"/>
          <p:cNvSpPr/>
          <p:nvPr/>
        </p:nvSpPr>
        <p:spPr>
          <a:xfrm>
            <a:off x="548640" y="1572768"/>
            <a:ext cx="11091672" cy="749808"/>
          </a:xfrm>
          <a:prstGeom prst="roundRect">
            <a:avLst>
              <a:gd name="adj" fmla="val 9756"/>
            </a:avLst>
          </a:prstGeom>
          <a:solidFill>
            <a:srgbClr val="F3F8F8"/>
          </a:solidFill>
          <a:ln w="12700">
            <a:solidFill>
              <a:srgbClr val="DCEBEA"/>
            </a:solidFill>
            <a:prstDash val="solid"/>
          </a:ln>
        </p:spPr>
        <p:txBody>
          <a:bodyPr/>
          <a:lstStyle/>
          <a:p>
            <a:endParaRPr lang="en-US"/>
          </a:p>
        </p:txBody>
      </p:sp>
      <p:sp>
        <p:nvSpPr>
          <p:cNvPr id="5" name="Shape 3"/>
          <p:cNvSpPr/>
          <p:nvPr/>
        </p:nvSpPr>
        <p:spPr>
          <a:xfrm>
            <a:off x="777240" y="1773936"/>
            <a:ext cx="347472" cy="347472"/>
          </a:xfrm>
          <a:prstGeom prst="ellipse">
            <a:avLst/>
          </a:prstGeom>
          <a:solidFill>
            <a:srgbClr val="02C39A"/>
          </a:solidFill>
          <a:ln/>
        </p:spPr>
        <p:txBody>
          <a:bodyPr/>
          <a:lstStyle/>
          <a:p>
            <a:endParaRPr lang="en-US"/>
          </a:p>
        </p:txBody>
      </p:sp>
      <p:sp>
        <p:nvSpPr>
          <p:cNvPr id="6" name="Text 4"/>
          <p:cNvSpPr/>
          <p:nvPr/>
        </p:nvSpPr>
        <p:spPr>
          <a:xfrm>
            <a:off x="777240" y="1773936"/>
            <a:ext cx="347472" cy="347472"/>
          </a:xfrm>
          <a:prstGeom prst="rect">
            <a:avLst/>
          </a:prstGeom>
          <a:noFill/>
          <a:ln/>
        </p:spPr>
        <p:txBody>
          <a:bodyPr wrap="square" rtlCol="0" anchor="ctr"/>
          <a:lstStyle/>
          <a:p>
            <a:pPr marL="0" indent="0" algn="ctr">
              <a:buNone/>
            </a:pPr>
            <a:r>
              <a:rPr lang="en-US" sz="2000" b="1" dirty="0">
                <a:solidFill>
                  <a:srgbClr val="012B2E"/>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298448" y="1572768"/>
            <a:ext cx="10149840" cy="749808"/>
          </a:xfrm>
          <a:prstGeom prst="rect">
            <a:avLst/>
          </a:prstGeom>
          <a:noFill/>
          <a:ln/>
        </p:spPr>
        <p:txBody>
          <a:bodyPr wrap="square" rtlCol="0" anchor="ctr"/>
          <a:lstStyle/>
          <a:p>
            <a:pPr marL="0" indent="0">
              <a:lnSpc>
                <a:spcPct val="115000"/>
              </a:lnSpc>
              <a:buNone/>
            </a:pPr>
            <a:r>
              <a:rPr lang="en-US" sz="2000" b="1" dirty="0">
                <a:solidFill>
                  <a:srgbClr val="0B2B2E"/>
                </a:solidFill>
                <a:latin typeface="Calibri" pitchFamily="34" charset="0"/>
                <a:ea typeface="Calibri" pitchFamily="34" charset="-122"/>
                <a:cs typeface="Calibri" pitchFamily="34" charset="-120"/>
              </a:rPr>
              <a:t>Analyze borrower data using AI/ML to understand their financial and credit profile.</a:t>
            </a:r>
            <a:endParaRPr lang="en-US" sz="2000" dirty="0"/>
          </a:p>
        </p:txBody>
      </p:sp>
      <p:sp>
        <p:nvSpPr>
          <p:cNvPr id="8" name="Shape 6"/>
          <p:cNvSpPr/>
          <p:nvPr/>
        </p:nvSpPr>
        <p:spPr>
          <a:xfrm>
            <a:off x="548640" y="2487168"/>
            <a:ext cx="11091672" cy="749808"/>
          </a:xfrm>
          <a:prstGeom prst="roundRect">
            <a:avLst>
              <a:gd name="adj" fmla="val 9756"/>
            </a:avLst>
          </a:prstGeom>
          <a:solidFill>
            <a:srgbClr val="F3F8F8"/>
          </a:solidFill>
          <a:ln w="12700">
            <a:solidFill>
              <a:srgbClr val="DCEBEA"/>
            </a:solidFill>
            <a:prstDash val="solid"/>
          </a:ln>
        </p:spPr>
        <p:txBody>
          <a:bodyPr/>
          <a:lstStyle/>
          <a:p>
            <a:endParaRPr lang="en-US"/>
          </a:p>
        </p:txBody>
      </p:sp>
      <p:sp>
        <p:nvSpPr>
          <p:cNvPr id="9" name="Shape 7"/>
          <p:cNvSpPr/>
          <p:nvPr/>
        </p:nvSpPr>
        <p:spPr>
          <a:xfrm>
            <a:off x="777240" y="2688336"/>
            <a:ext cx="347472" cy="347472"/>
          </a:xfrm>
          <a:prstGeom prst="ellipse">
            <a:avLst/>
          </a:prstGeom>
          <a:solidFill>
            <a:srgbClr val="02C39A"/>
          </a:solidFill>
          <a:ln/>
        </p:spPr>
        <p:txBody>
          <a:bodyPr/>
          <a:lstStyle/>
          <a:p>
            <a:endParaRPr lang="en-US"/>
          </a:p>
        </p:txBody>
      </p:sp>
      <p:sp>
        <p:nvSpPr>
          <p:cNvPr id="10" name="Text 8"/>
          <p:cNvSpPr/>
          <p:nvPr/>
        </p:nvSpPr>
        <p:spPr>
          <a:xfrm>
            <a:off x="777240" y="2688336"/>
            <a:ext cx="347472" cy="347472"/>
          </a:xfrm>
          <a:prstGeom prst="rect">
            <a:avLst/>
          </a:prstGeom>
          <a:noFill/>
          <a:ln/>
        </p:spPr>
        <p:txBody>
          <a:bodyPr wrap="square" rtlCol="0" anchor="ctr"/>
          <a:lstStyle/>
          <a:p>
            <a:pPr marL="0" indent="0" algn="ctr">
              <a:buNone/>
            </a:pPr>
            <a:r>
              <a:rPr lang="en-US" sz="2000" b="1" dirty="0">
                <a:solidFill>
                  <a:srgbClr val="012B2E"/>
                </a:solidFill>
                <a:latin typeface="Cambria" pitchFamily="34" charset="0"/>
                <a:ea typeface="Cambria" pitchFamily="34" charset="-122"/>
                <a:cs typeface="Cambria" pitchFamily="34" charset="-120"/>
              </a:rPr>
              <a:t>2</a:t>
            </a:r>
            <a:endParaRPr lang="en-US" sz="2000" dirty="0"/>
          </a:p>
        </p:txBody>
      </p:sp>
      <p:sp>
        <p:nvSpPr>
          <p:cNvPr id="11" name="Text 9"/>
          <p:cNvSpPr/>
          <p:nvPr/>
        </p:nvSpPr>
        <p:spPr>
          <a:xfrm>
            <a:off x="1298448" y="2487168"/>
            <a:ext cx="10149840" cy="749808"/>
          </a:xfrm>
          <a:prstGeom prst="rect">
            <a:avLst/>
          </a:prstGeom>
          <a:noFill/>
          <a:ln/>
        </p:spPr>
        <p:txBody>
          <a:bodyPr wrap="square" rtlCol="0" anchor="ctr"/>
          <a:lstStyle/>
          <a:p>
            <a:pPr marL="0" indent="0">
              <a:lnSpc>
                <a:spcPct val="115000"/>
              </a:lnSpc>
              <a:buNone/>
            </a:pPr>
            <a:r>
              <a:rPr lang="en-US" sz="2000" b="1" dirty="0">
                <a:solidFill>
                  <a:srgbClr val="0B2B2E"/>
                </a:solidFill>
                <a:latin typeface="Calibri" pitchFamily="34" charset="0"/>
                <a:ea typeface="Calibri" pitchFamily="34" charset="-122"/>
                <a:cs typeface="Calibri" pitchFamily="34" charset="-120"/>
              </a:rPr>
              <a:t>Predict loan default probability using a trained Machine Learning model.</a:t>
            </a:r>
            <a:endParaRPr lang="en-US" sz="2000" dirty="0"/>
          </a:p>
        </p:txBody>
      </p:sp>
      <p:sp>
        <p:nvSpPr>
          <p:cNvPr id="12" name="Shape 10"/>
          <p:cNvSpPr/>
          <p:nvPr/>
        </p:nvSpPr>
        <p:spPr>
          <a:xfrm>
            <a:off x="548640" y="3401568"/>
            <a:ext cx="11091672" cy="749808"/>
          </a:xfrm>
          <a:prstGeom prst="roundRect">
            <a:avLst>
              <a:gd name="adj" fmla="val 9756"/>
            </a:avLst>
          </a:prstGeom>
          <a:solidFill>
            <a:srgbClr val="F3F8F8"/>
          </a:solidFill>
          <a:ln w="12700">
            <a:solidFill>
              <a:srgbClr val="DCEBEA"/>
            </a:solidFill>
            <a:prstDash val="solid"/>
          </a:ln>
        </p:spPr>
        <p:txBody>
          <a:bodyPr/>
          <a:lstStyle/>
          <a:p>
            <a:endParaRPr lang="en-US"/>
          </a:p>
        </p:txBody>
      </p:sp>
      <p:sp>
        <p:nvSpPr>
          <p:cNvPr id="13" name="Shape 11"/>
          <p:cNvSpPr/>
          <p:nvPr/>
        </p:nvSpPr>
        <p:spPr>
          <a:xfrm>
            <a:off x="777240" y="3602736"/>
            <a:ext cx="347472" cy="347472"/>
          </a:xfrm>
          <a:prstGeom prst="ellipse">
            <a:avLst/>
          </a:prstGeom>
          <a:solidFill>
            <a:srgbClr val="02C39A"/>
          </a:solidFill>
          <a:ln/>
        </p:spPr>
        <p:txBody>
          <a:bodyPr/>
          <a:lstStyle/>
          <a:p>
            <a:endParaRPr lang="en-US"/>
          </a:p>
        </p:txBody>
      </p:sp>
      <p:sp>
        <p:nvSpPr>
          <p:cNvPr id="14" name="Text 12"/>
          <p:cNvSpPr/>
          <p:nvPr/>
        </p:nvSpPr>
        <p:spPr>
          <a:xfrm>
            <a:off x="777240" y="3602736"/>
            <a:ext cx="347472" cy="347472"/>
          </a:xfrm>
          <a:prstGeom prst="rect">
            <a:avLst/>
          </a:prstGeom>
          <a:noFill/>
          <a:ln/>
        </p:spPr>
        <p:txBody>
          <a:bodyPr wrap="square" rtlCol="0" anchor="ctr"/>
          <a:lstStyle/>
          <a:p>
            <a:pPr marL="0" indent="0" algn="ctr">
              <a:buNone/>
            </a:pPr>
            <a:r>
              <a:rPr lang="en-US" sz="2000" b="1" dirty="0">
                <a:solidFill>
                  <a:srgbClr val="012B2E"/>
                </a:solidFill>
                <a:latin typeface="Cambria" pitchFamily="34" charset="0"/>
                <a:ea typeface="Cambria" pitchFamily="34" charset="-122"/>
                <a:cs typeface="Cambria" pitchFamily="34" charset="-120"/>
              </a:rPr>
              <a:t>3</a:t>
            </a:r>
            <a:endParaRPr lang="en-US" sz="2000" dirty="0"/>
          </a:p>
        </p:txBody>
      </p:sp>
      <p:sp>
        <p:nvSpPr>
          <p:cNvPr id="15" name="Text 13"/>
          <p:cNvSpPr/>
          <p:nvPr/>
        </p:nvSpPr>
        <p:spPr>
          <a:xfrm>
            <a:off x="1298448" y="3401568"/>
            <a:ext cx="10149840" cy="749808"/>
          </a:xfrm>
          <a:prstGeom prst="rect">
            <a:avLst/>
          </a:prstGeom>
          <a:noFill/>
          <a:ln/>
        </p:spPr>
        <p:txBody>
          <a:bodyPr wrap="square" rtlCol="0" anchor="ctr"/>
          <a:lstStyle/>
          <a:p>
            <a:pPr marL="0" indent="0">
              <a:lnSpc>
                <a:spcPct val="115000"/>
              </a:lnSpc>
              <a:buNone/>
            </a:pPr>
            <a:r>
              <a:rPr lang="en-US" sz="2000" b="1" dirty="0">
                <a:solidFill>
                  <a:srgbClr val="0B2B2E"/>
                </a:solidFill>
                <a:latin typeface="Calibri" pitchFamily="34" charset="0"/>
                <a:ea typeface="Calibri" pitchFamily="34" charset="-122"/>
                <a:cs typeface="Calibri" pitchFamily="34" charset="-120"/>
              </a:rPr>
              <a:t>Calculate risk score and category such as Low, Medium, High, or Very High Risk.</a:t>
            </a:r>
            <a:endParaRPr lang="en-US" sz="2000" dirty="0"/>
          </a:p>
        </p:txBody>
      </p:sp>
      <p:sp>
        <p:nvSpPr>
          <p:cNvPr id="16" name="Shape 14"/>
          <p:cNvSpPr/>
          <p:nvPr/>
        </p:nvSpPr>
        <p:spPr>
          <a:xfrm>
            <a:off x="548640" y="4315968"/>
            <a:ext cx="11091672" cy="749808"/>
          </a:xfrm>
          <a:prstGeom prst="roundRect">
            <a:avLst>
              <a:gd name="adj" fmla="val 9756"/>
            </a:avLst>
          </a:prstGeom>
          <a:solidFill>
            <a:srgbClr val="F3F8F8"/>
          </a:solidFill>
          <a:ln w="12700">
            <a:solidFill>
              <a:srgbClr val="DCEBEA"/>
            </a:solidFill>
            <a:prstDash val="solid"/>
          </a:ln>
        </p:spPr>
        <p:txBody>
          <a:bodyPr/>
          <a:lstStyle/>
          <a:p>
            <a:endParaRPr lang="en-US"/>
          </a:p>
        </p:txBody>
      </p:sp>
      <p:sp>
        <p:nvSpPr>
          <p:cNvPr id="17" name="Shape 15"/>
          <p:cNvSpPr/>
          <p:nvPr/>
        </p:nvSpPr>
        <p:spPr>
          <a:xfrm>
            <a:off x="777240" y="4517136"/>
            <a:ext cx="347472" cy="347472"/>
          </a:xfrm>
          <a:prstGeom prst="ellipse">
            <a:avLst/>
          </a:prstGeom>
          <a:solidFill>
            <a:srgbClr val="02C39A"/>
          </a:solidFill>
          <a:ln/>
        </p:spPr>
        <p:txBody>
          <a:bodyPr/>
          <a:lstStyle/>
          <a:p>
            <a:endParaRPr lang="en-US"/>
          </a:p>
        </p:txBody>
      </p:sp>
      <p:sp>
        <p:nvSpPr>
          <p:cNvPr id="18" name="Text 16"/>
          <p:cNvSpPr/>
          <p:nvPr/>
        </p:nvSpPr>
        <p:spPr>
          <a:xfrm>
            <a:off x="777240" y="4517136"/>
            <a:ext cx="347472" cy="347472"/>
          </a:xfrm>
          <a:prstGeom prst="rect">
            <a:avLst/>
          </a:prstGeom>
          <a:noFill/>
          <a:ln/>
        </p:spPr>
        <p:txBody>
          <a:bodyPr wrap="square" rtlCol="0" anchor="ctr"/>
          <a:lstStyle/>
          <a:p>
            <a:pPr marL="0" indent="0" algn="ctr">
              <a:buNone/>
            </a:pPr>
            <a:r>
              <a:rPr lang="en-US" sz="2000" b="1" dirty="0">
                <a:solidFill>
                  <a:srgbClr val="012B2E"/>
                </a:solidFill>
                <a:latin typeface="Cambria" pitchFamily="34" charset="0"/>
                <a:ea typeface="Cambria" pitchFamily="34" charset="-122"/>
                <a:cs typeface="Cambria" pitchFamily="34" charset="-120"/>
              </a:rPr>
              <a:t>4</a:t>
            </a:r>
            <a:endParaRPr lang="en-US" sz="2000" dirty="0"/>
          </a:p>
        </p:txBody>
      </p:sp>
      <p:sp>
        <p:nvSpPr>
          <p:cNvPr id="19" name="Text 17"/>
          <p:cNvSpPr/>
          <p:nvPr/>
        </p:nvSpPr>
        <p:spPr>
          <a:xfrm>
            <a:off x="1298448" y="4315968"/>
            <a:ext cx="10149840" cy="749808"/>
          </a:xfrm>
          <a:prstGeom prst="rect">
            <a:avLst/>
          </a:prstGeom>
          <a:noFill/>
          <a:ln/>
        </p:spPr>
        <p:txBody>
          <a:bodyPr wrap="square" rtlCol="0" anchor="ctr"/>
          <a:lstStyle/>
          <a:p>
            <a:pPr marL="0" indent="0">
              <a:lnSpc>
                <a:spcPct val="115000"/>
              </a:lnSpc>
              <a:buNone/>
            </a:pPr>
            <a:r>
              <a:rPr lang="en-US" sz="2000" b="1" dirty="0">
                <a:solidFill>
                  <a:srgbClr val="0B2B2E"/>
                </a:solidFill>
                <a:latin typeface="Calibri" pitchFamily="34" charset="0"/>
                <a:ea typeface="Calibri" pitchFamily="34" charset="-122"/>
                <a:cs typeface="Calibri" pitchFamily="34" charset="-120"/>
              </a:rPr>
              <a:t>Provide a lending recommendation with simple reasons for the decision.</a:t>
            </a:r>
            <a:endParaRPr lang="en-US" sz="2000" dirty="0"/>
          </a:p>
        </p:txBody>
      </p:sp>
      <p:sp>
        <p:nvSpPr>
          <p:cNvPr id="20" name="Shape 18"/>
          <p:cNvSpPr/>
          <p:nvPr/>
        </p:nvSpPr>
        <p:spPr>
          <a:xfrm>
            <a:off x="548640" y="5230368"/>
            <a:ext cx="11091672" cy="749808"/>
          </a:xfrm>
          <a:prstGeom prst="roundRect">
            <a:avLst>
              <a:gd name="adj" fmla="val 9756"/>
            </a:avLst>
          </a:prstGeom>
          <a:solidFill>
            <a:srgbClr val="F3F8F8"/>
          </a:solidFill>
          <a:ln w="12700">
            <a:solidFill>
              <a:srgbClr val="DCEBEA"/>
            </a:solidFill>
            <a:prstDash val="solid"/>
          </a:ln>
        </p:spPr>
        <p:txBody>
          <a:bodyPr/>
          <a:lstStyle/>
          <a:p>
            <a:endParaRPr lang="en-US"/>
          </a:p>
        </p:txBody>
      </p:sp>
      <p:sp>
        <p:nvSpPr>
          <p:cNvPr id="21" name="Shape 19"/>
          <p:cNvSpPr/>
          <p:nvPr/>
        </p:nvSpPr>
        <p:spPr>
          <a:xfrm>
            <a:off x="777240" y="5431536"/>
            <a:ext cx="347472" cy="347472"/>
          </a:xfrm>
          <a:prstGeom prst="ellipse">
            <a:avLst/>
          </a:prstGeom>
          <a:solidFill>
            <a:srgbClr val="02C39A"/>
          </a:solidFill>
          <a:ln/>
        </p:spPr>
        <p:txBody>
          <a:bodyPr/>
          <a:lstStyle/>
          <a:p>
            <a:endParaRPr lang="en-US"/>
          </a:p>
        </p:txBody>
      </p:sp>
      <p:sp>
        <p:nvSpPr>
          <p:cNvPr id="22" name="Text 20"/>
          <p:cNvSpPr/>
          <p:nvPr/>
        </p:nvSpPr>
        <p:spPr>
          <a:xfrm>
            <a:off x="777240" y="5431536"/>
            <a:ext cx="347472" cy="347472"/>
          </a:xfrm>
          <a:prstGeom prst="rect">
            <a:avLst/>
          </a:prstGeom>
          <a:noFill/>
          <a:ln/>
        </p:spPr>
        <p:txBody>
          <a:bodyPr wrap="square" rtlCol="0" anchor="ctr"/>
          <a:lstStyle/>
          <a:p>
            <a:pPr marL="0" indent="0" algn="ctr">
              <a:buNone/>
            </a:pPr>
            <a:r>
              <a:rPr lang="en-US" sz="2000" b="1" dirty="0">
                <a:solidFill>
                  <a:srgbClr val="012B2E"/>
                </a:solidFill>
                <a:latin typeface="Cambria" pitchFamily="34" charset="0"/>
                <a:ea typeface="Cambria" pitchFamily="34" charset="-122"/>
                <a:cs typeface="Cambria" pitchFamily="34" charset="-120"/>
              </a:rPr>
              <a:t>5</a:t>
            </a:r>
            <a:endParaRPr lang="en-US" sz="2000" dirty="0"/>
          </a:p>
        </p:txBody>
      </p:sp>
      <p:sp>
        <p:nvSpPr>
          <p:cNvPr id="23" name="Text 21"/>
          <p:cNvSpPr/>
          <p:nvPr/>
        </p:nvSpPr>
        <p:spPr>
          <a:xfrm>
            <a:off x="1298448" y="5230368"/>
            <a:ext cx="10149840" cy="749808"/>
          </a:xfrm>
          <a:prstGeom prst="rect">
            <a:avLst/>
          </a:prstGeom>
          <a:noFill/>
          <a:ln/>
        </p:spPr>
        <p:txBody>
          <a:bodyPr wrap="square" rtlCol="0" anchor="ctr"/>
          <a:lstStyle/>
          <a:p>
            <a:pPr marL="0" indent="0">
              <a:lnSpc>
                <a:spcPct val="115000"/>
              </a:lnSpc>
              <a:buNone/>
            </a:pPr>
            <a:r>
              <a:rPr lang="en-US" sz="2000" b="1" dirty="0">
                <a:solidFill>
                  <a:srgbClr val="0B2B2E"/>
                </a:solidFill>
                <a:latin typeface="Calibri" pitchFamily="34" charset="0"/>
                <a:ea typeface="Calibri" pitchFamily="34" charset="-122"/>
                <a:cs typeface="Calibri" pitchFamily="34" charset="-120"/>
              </a:rPr>
              <a:t>Use Streamlit, FastAPI, and MySQL to provide an interactive, reliable, and user-friendly system.</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79120" y="754380"/>
            <a:ext cx="10058400" cy="292608"/>
          </a:xfrm>
          <a:prstGeom prst="rect">
            <a:avLst/>
          </a:prstGeom>
          <a:noFill/>
          <a:ln/>
        </p:spPr>
        <p:txBody>
          <a:bodyPr wrap="square" rtlCol="0" anchor="ctr"/>
          <a:lstStyle/>
          <a:p>
            <a:pPr marL="0" indent="0">
              <a:buNone/>
            </a:pPr>
            <a:r>
              <a:rPr lang="en-US" b="1" kern="0" spc="200" dirty="0">
                <a:solidFill>
                  <a:srgbClr val="00A896"/>
                </a:solidFill>
                <a:latin typeface="Calibri" pitchFamily="34" charset="0"/>
                <a:ea typeface="Calibri" pitchFamily="34" charset="-122"/>
                <a:cs typeface="Calibri" pitchFamily="34" charset="-120"/>
              </a:rPr>
              <a:t>GOALS</a:t>
            </a:r>
            <a:endParaRPr lang="en-US" dirty="0"/>
          </a:p>
        </p:txBody>
      </p:sp>
      <p:sp>
        <p:nvSpPr>
          <p:cNvPr id="3" name="Text 1"/>
          <p:cNvSpPr/>
          <p:nvPr/>
        </p:nvSpPr>
        <p:spPr>
          <a:xfrm>
            <a:off x="579120" y="845820"/>
            <a:ext cx="11064240" cy="658368"/>
          </a:xfrm>
          <a:prstGeom prst="rect">
            <a:avLst/>
          </a:prstGeom>
          <a:noFill/>
          <a:ln/>
        </p:spPr>
        <p:txBody>
          <a:bodyPr wrap="square" rtlCol="0" anchor="ctr"/>
          <a:lstStyle/>
          <a:p>
            <a:pPr marL="0" indent="0">
              <a:buNone/>
            </a:pPr>
            <a:r>
              <a:rPr lang="en-US" b="1" dirty="0">
                <a:solidFill>
                  <a:srgbClr val="0B2B2E"/>
                </a:solidFill>
                <a:latin typeface="Cambria" pitchFamily="34" charset="0"/>
                <a:ea typeface="Cambria" pitchFamily="34" charset="-122"/>
                <a:cs typeface="Cambria" pitchFamily="34" charset="-120"/>
              </a:rPr>
              <a:t>Objectives</a:t>
            </a:r>
            <a:endParaRPr lang="en-US" dirty="0"/>
          </a:p>
        </p:txBody>
      </p:sp>
      <p:sp>
        <p:nvSpPr>
          <p:cNvPr id="4" name="Shape 2"/>
          <p:cNvSpPr/>
          <p:nvPr/>
        </p:nvSpPr>
        <p:spPr>
          <a:xfrm>
            <a:off x="548640" y="1691640"/>
            <a:ext cx="3520440" cy="4160520"/>
          </a:xfrm>
          <a:prstGeom prst="roundRect">
            <a:avLst>
              <a:gd name="adj" fmla="val 2597"/>
            </a:avLst>
          </a:prstGeom>
          <a:solidFill>
            <a:srgbClr val="F3F8F8"/>
          </a:solidFill>
          <a:ln w="12700">
            <a:solidFill>
              <a:srgbClr val="DCEBEA"/>
            </a:solidFill>
            <a:prstDash val="solid"/>
          </a:ln>
        </p:spPr>
        <p:txBody>
          <a:bodyPr/>
          <a:lstStyle/>
          <a:p>
            <a:endParaRPr lang="en-US"/>
          </a:p>
        </p:txBody>
      </p:sp>
      <p:sp>
        <p:nvSpPr>
          <p:cNvPr id="5" name="Text 3"/>
          <p:cNvSpPr/>
          <p:nvPr/>
        </p:nvSpPr>
        <p:spPr>
          <a:xfrm>
            <a:off x="822960" y="1965960"/>
            <a:ext cx="2971800" cy="685800"/>
          </a:xfrm>
          <a:prstGeom prst="rect">
            <a:avLst/>
          </a:prstGeom>
          <a:noFill/>
          <a:ln/>
        </p:spPr>
        <p:txBody>
          <a:bodyPr wrap="square" rtlCol="0" anchor="ctr"/>
          <a:lstStyle/>
          <a:p>
            <a:pPr marL="0" indent="0">
              <a:buNone/>
            </a:pPr>
            <a:r>
              <a:rPr lang="en-US" b="1" dirty="0">
                <a:solidFill>
                  <a:srgbClr val="CFE6E6"/>
                </a:solidFill>
                <a:latin typeface="Cambria" pitchFamily="34" charset="0"/>
                <a:ea typeface="Cambria" pitchFamily="34" charset="-122"/>
                <a:cs typeface="Cambria" pitchFamily="34" charset="-120"/>
              </a:rPr>
              <a:t>01</a:t>
            </a:r>
            <a:endParaRPr lang="en-US" dirty="0"/>
          </a:p>
        </p:txBody>
      </p:sp>
      <p:sp>
        <p:nvSpPr>
          <p:cNvPr id="6" name="Text 4"/>
          <p:cNvSpPr/>
          <p:nvPr/>
        </p:nvSpPr>
        <p:spPr>
          <a:xfrm>
            <a:off x="822960" y="2743200"/>
            <a:ext cx="2971800" cy="2834640"/>
          </a:xfrm>
          <a:prstGeom prst="rect">
            <a:avLst/>
          </a:prstGeom>
          <a:noFill/>
          <a:ln/>
        </p:spPr>
        <p:txBody>
          <a:bodyPr wrap="square" rtlCol="0" anchor="ctr"/>
          <a:lstStyle/>
          <a:p>
            <a:pPr marL="0" indent="0">
              <a:lnSpc>
                <a:spcPct val="130000"/>
              </a:lnSpc>
              <a:buNone/>
            </a:pPr>
            <a:r>
              <a:rPr lang="en-US" dirty="0">
                <a:solidFill>
                  <a:srgbClr val="0B2B2E"/>
                </a:solidFill>
                <a:latin typeface="Calibri" pitchFamily="34" charset="0"/>
                <a:ea typeface="Calibri" pitchFamily="34" charset="-122"/>
                <a:cs typeface="Calibri" pitchFamily="34" charset="-120"/>
              </a:rPr>
              <a:t>To automate borrower risk assessment by using financial and credit information such as income, loan amount, interest rate, credit score, and debt-to-income ratio.</a:t>
            </a:r>
            <a:endParaRPr lang="en-US" dirty="0"/>
          </a:p>
        </p:txBody>
      </p:sp>
      <p:sp>
        <p:nvSpPr>
          <p:cNvPr id="7" name="Shape 5"/>
          <p:cNvSpPr/>
          <p:nvPr/>
        </p:nvSpPr>
        <p:spPr>
          <a:xfrm>
            <a:off x="4325112" y="1691640"/>
            <a:ext cx="3520440" cy="4160520"/>
          </a:xfrm>
          <a:prstGeom prst="roundRect">
            <a:avLst>
              <a:gd name="adj" fmla="val 2597"/>
            </a:avLst>
          </a:prstGeom>
          <a:solidFill>
            <a:srgbClr val="028090"/>
          </a:solidFill>
          <a:ln w="12700">
            <a:solidFill>
              <a:srgbClr val="DCEBEA"/>
            </a:solidFill>
            <a:prstDash val="solid"/>
          </a:ln>
        </p:spPr>
        <p:txBody>
          <a:bodyPr/>
          <a:lstStyle/>
          <a:p>
            <a:endParaRPr lang="en-US"/>
          </a:p>
        </p:txBody>
      </p:sp>
      <p:sp>
        <p:nvSpPr>
          <p:cNvPr id="8" name="Text 6"/>
          <p:cNvSpPr/>
          <p:nvPr/>
        </p:nvSpPr>
        <p:spPr>
          <a:xfrm>
            <a:off x="4599432" y="1965960"/>
            <a:ext cx="2971800" cy="685800"/>
          </a:xfrm>
          <a:prstGeom prst="rect">
            <a:avLst/>
          </a:prstGeom>
          <a:noFill/>
          <a:ln/>
        </p:spPr>
        <p:txBody>
          <a:bodyPr wrap="square" rtlCol="0" anchor="ctr"/>
          <a:lstStyle/>
          <a:p>
            <a:pPr marL="0" indent="0">
              <a:buNone/>
            </a:pPr>
            <a:r>
              <a:rPr lang="en-US" b="1" dirty="0">
                <a:solidFill>
                  <a:srgbClr val="6FE0D0"/>
                </a:solidFill>
                <a:latin typeface="Cambria" pitchFamily="34" charset="0"/>
                <a:ea typeface="Cambria" pitchFamily="34" charset="-122"/>
                <a:cs typeface="Cambria" pitchFamily="34" charset="-120"/>
              </a:rPr>
              <a:t>02</a:t>
            </a:r>
            <a:endParaRPr lang="en-US" dirty="0"/>
          </a:p>
        </p:txBody>
      </p:sp>
      <p:sp>
        <p:nvSpPr>
          <p:cNvPr id="9" name="Text 7"/>
          <p:cNvSpPr/>
          <p:nvPr/>
        </p:nvSpPr>
        <p:spPr>
          <a:xfrm>
            <a:off x="4599432" y="2743200"/>
            <a:ext cx="2971800" cy="2834640"/>
          </a:xfrm>
          <a:prstGeom prst="rect">
            <a:avLst/>
          </a:prstGeom>
          <a:noFill/>
          <a:ln/>
        </p:spPr>
        <p:txBody>
          <a:bodyPr wrap="square" rtlCol="0" anchor="ctr"/>
          <a:lstStyle/>
          <a:p>
            <a:pPr marL="0" indent="0">
              <a:lnSpc>
                <a:spcPct val="130000"/>
              </a:lnSpc>
              <a:buNone/>
            </a:pPr>
            <a:r>
              <a:rPr lang="en-US" dirty="0">
                <a:solidFill>
                  <a:srgbClr val="FFFFFF"/>
                </a:solidFill>
                <a:latin typeface="Calibri" pitchFamily="34" charset="0"/>
                <a:ea typeface="Calibri" pitchFamily="34" charset="-122"/>
                <a:cs typeface="Calibri" pitchFamily="34" charset="-120"/>
              </a:rPr>
              <a:t>To predict and classify loan risk by calculating the probability of default and converting it into an easy-to-understand risk score such as Low, Medium, High, or Very High Risk.</a:t>
            </a:r>
            <a:endParaRPr lang="en-US" dirty="0"/>
          </a:p>
        </p:txBody>
      </p:sp>
      <p:sp>
        <p:nvSpPr>
          <p:cNvPr id="10" name="Shape 8"/>
          <p:cNvSpPr/>
          <p:nvPr/>
        </p:nvSpPr>
        <p:spPr>
          <a:xfrm>
            <a:off x="8101584" y="1691640"/>
            <a:ext cx="3520440" cy="4160520"/>
          </a:xfrm>
          <a:prstGeom prst="roundRect">
            <a:avLst>
              <a:gd name="adj" fmla="val 2597"/>
            </a:avLst>
          </a:prstGeom>
          <a:solidFill>
            <a:srgbClr val="F3F8F8"/>
          </a:solidFill>
          <a:ln w="12700">
            <a:solidFill>
              <a:srgbClr val="DCEBEA"/>
            </a:solidFill>
            <a:prstDash val="solid"/>
          </a:ln>
        </p:spPr>
        <p:txBody>
          <a:bodyPr/>
          <a:lstStyle/>
          <a:p>
            <a:endParaRPr lang="en-US"/>
          </a:p>
        </p:txBody>
      </p:sp>
      <p:sp>
        <p:nvSpPr>
          <p:cNvPr id="11" name="Text 9"/>
          <p:cNvSpPr/>
          <p:nvPr/>
        </p:nvSpPr>
        <p:spPr>
          <a:xfrm>
            <a:off x="8375904" y="1965960"/>
            <a:ext cx="2971800" cy="685800"/>
          </a:xfrm>
          <a:prstGeom prst="rect">
            <a:avLst/>
          </a:prstGeom>
          <a:noFill/>
          <a:ln/>
        </p:spPr>
        <p:txBody>
          <a:bodyPr wrap="square" rtlCol="0" anchor="ctr"/>
          <a:lstStyle/>
          <a:p>
            <a:pPr marL="0" indent="0">
              <a:buNone/>
            </a:pPr>
            <a:r>
              <a:rPr lang="en-US" b="1" dirty="0">
                <a:solidFill>
                  <a:srgbClr val="CFE6E6"/>
                </a:solidFill>
                <a:latin typeface="Cambria" pitchFamily="34" charset="0"/>
                <a:ea typeface="Cambria" pitchFamily="34" charset="-122"/>
                <a:cs typeface="Cambria" pitchFamily="34" charset="-120"/>
              </a:rPr>
              <a:t>03</a:t>
            </a:r>
            <a:endParaRPr lang="en-US" dirty="0"/>
          </a:p>
        </p:txBody>
      </p:sp>
      <p:sp>
        <p:nvSpPr>
          <p:cNvPr id="12" name="Text 10"/>
          <p:cNvSpPr/>
          <p:nvPr/>
        </p:nvSpPr>
        <p:spPr>
          <a:xfrm>
            <a:off x="8375904" y="2743200"/>
            <a:ext cx="2971800" cy="2834640"/>
          </a:xfrm>
          <a:prstGeom prst="rect">
            <a:avLst/>
          </a:prstGeom>
          <a:noFill/>
          <a:ln/>
        </p:spPr>
        <p:txBody>
          <a:bodyPr wrap="square" rtlCol="0" anchor="ctr"/>
          <a:lstStyle/>
          <a:p>
            <a:pPr marL="0" indent="0">
              <a:lnSpc>
                <a:spcPct val="130000"/>
              </a:lnSpc>
              <a:buNone/>
            </a:pPr>
            <a:r>
              <a:rPr lang="en-US" dirty="0">
                <a:solidFill>
                  <a:srgbClr val="0B2B2E"/>
                </a:solidFill>
                <a:latin typeface="Calibri" pitchFamily="34" charset="0"/>
                <a:ea typeface="Calibri" pitchFamily="34" charset="-122"/>
                <a:cs typeface="Calibri" pitchFamily="34" charset="-120"/>
              </a:rPr>
              <a:t>To improve lending decisions by providing a clear recommendation (Eligible/Not Eligible) along with the main reasons behind the decision, making the process faster, more consistent, and easier to understand.</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768096"/>
            <a:ext cx="10058400" cy="292608"/>
          </a:xfrm>
          <a:prstGeom prst="rect">
            <a:avLst/>
          </a:prstGeom>
          <a:noFill/>
          <a:ln/>
        </p:spPr>
        <p:txBody>
          <a:bodyPr wrap="square" rtlCol="0" anchor="ctr"/>
          <a:lstStyle/>
          <a:p>
            <a:pPr marL="0" indent="0">
              <a:buNone/>
            </a:pPr>
            <a:r>
              <a:rPr lang="en-US" sz="1600" b="1" kern="0" spc="200" dirty="0">
                <a:solidFill>
                  <a:srgbClr val="00A896"/>
                </a:solidFill>
                <a:latin typeface="Calibri" pitchFamily="34" charset="0"/>
                <a:ea typeface="Calibri" pitchFamily="34" charset="-122"/>
                <a:cs typeface="Calibri" pitchFamily="34" charset="-120"/>
              </a:rPr>
              <a:t>APPROACH</a:t>
            </a:r>
            <a:endParaRPr lang="en-US" sz="1600" dirty="0"/>
          </a:p>
        </p:txBody>
      </p:sp>
      <p:sp>
        <p:nvSpPr>
          <p:cNvPr id="3" name="Text 1"/>
          <p:cNvSpPr/>
          <p:nvPr/>
        </p:nvSpPr>
        <p:spPr>
          <a:xfrm>
            <a:off x="548640" y="941832"/>
            <a:ext cx="11064240" cy="658368"/>
          </a:xfrm>
          <a:prstGeom prst="rect">
            <a:avLst/>
          </a:prstGeom>
          <a:noFill/>
          <a:ln/>
        </p:spPr>
        <p:txBody>
          <a:bodyPr wrap="square" rtlCol="0" anchor="ctr"/>
          <a:lstStyle/>
          <a:p>
            <a:pPr marL="0" indent="0">
              <a:buNone/>
            </a:pPr>
            <a:r>
              <a:rPr lang="en-US" sz="1600" b="1" dirty="0">
                <a:solidFill>
                  <a:srgbClr val="0B2B2E"/>
                </a:solidFill>
                <a:latin typeface="Cambria" pitchFamily="34" charset="0"/>
                <a:ea typeface="Cambria" pitchFamily="34" charset="-122"/>
                <a:cs typeface="Cambria" pitchFamily="34" charset="-120"/>
              </a:rPr>
              <a:t>Why This Project Is Different</a:t>
            </a:r>
            <a:endParaRPr lang="en-US" sz="1600" dirty="0"/>
          </a:p>
        </p:txBody>
      </p:sp>
      <p:sp>
        <p:nvSpPr>
          <p:cNvPr id="4" name="Shape 2"/>
          <p:cNvSpPr/>
          <p:nvPr/>
        </p:nvSpPr>
        <p:spPr>
          <a:xfrm>
            <a:off x="548640" y="1600200"/>
            <a:ext cx="4160520" cy="4343400"/>
          </a:xfrm>
          <a:prstGeom prst="roundRect">
            <a:avLst>
              <a:gd name="adj" fmla="val 2198"/>
            </a:avLst>
          </a:prstGeom>
          <a:solidFill>
            <a:srgbClr val="F3F8F8"/>
          </a:solidFill>
          <a:ln w="12700">
            <a:solidFill>
              <a:srgbClr val="DCEBEA"/>
            </a:solidFill>
            <a:prstDash val="solid"/>
          </a:ln>
        </p:spPr>
        <p:txBody>
          <a:bodyPr/>
          <a:lstStyle/>
          <a:p>
            <a:endParaRPr lang="en-US"/>
          </a:p>
        </p:txBody>
      </p:sp>
      <p:sp>
        <p:nvSpPr>
          <p:cNvPr id="5" name="Text 3"/>
          <p:cNvSpPr/>
          <p:nvPr/>
        </p:nvSpPr>
        <p:spPr>
          <a:xfrm>
            <a:off x="868680" y="1874520"/>
            <a:ext cx="3520440" cy="320040"/>
          </a:xfrm>
          <a:prstGeom prst="rect">
            <a:avLst/>
          </a:prstGeom>
          <a:noFill/>
          <a:ln/>
        </p:spPr>
        <p:txBody>
          <a:bodyPr wrap="square" rtlCol="0" anchor="ctr"/>
          <a:lstStyle/>
          <a:p>
            <a:pPr marL="0" indent="0">
              <a:buNone/>
            </a:pPr>
            <a:r>
              <a:rPr lang="en-US" sz="1600" b="1" kern="0" spc="150" dirty="0">
                <a:solidFill>
                  <a:srgbClr val="5C7A7D"/>
                </a:solidFill>
                <a:latin typeface="Calibri" pitchFamily="34" charset="0"/>
                <a:ea typeface="Calibri" pitchFamily="34" charset="-122"/>
                <a:cs typeface="Calibri" pitchFamily="34" charset="-120"/>
              </a:rPr>
              <a:t>TRADITIONAL SYSTEM</a:t>
            </a:r>
            <a:endParaRPr lang="en-US" sz="1600" dirty="0"/>
          </a:p>
        </p:txBody>
      </p:sp>
      <p:sp>
        <p:nvSpPr>
          <p:cNvPr id="6" name="Shape 4"/>
          <p:cNvSpPr/>
          <p:nvPr/>
        </p:nvSpPr>
        <p:spPr>
          <a:xfrm>
            <a:off x="868680" y="2468880"/>
            <a:ext cx="3520440" cy="566928"/>
          </a:xfrm>
          <a:prstGeom prst="roundRect">
            <a:avLst>
              <a:gd name="adj" fmla="val 11290"/>
            </a:avLst>
          </a:prstGeom>
          <a:solidFill>
            <a:srgbClr val="FFFFFF"/>
          </a:solidFill>
          <a:ln w="12700">
            <a:solidFill>
              <a:srgbClr val="C9DBDA"/>
            </a:solidFill>
            <a:prstDash val="solid"/>
          </a:ln>
        </p:spPr>
        <p:txBody>
          <a:bodyPr/>
          <a:lstStyle/>
          <a:p>
            <a:endParaRPr lang="en-US"/>
          </a:p>
        </p:txBody>
      </p:sp>
      <p:sp>
        <p:nvSpPr>
          <p:cNvPr id="7" name="Text 5"/>
          <p:cNvSpPr/>
          <p:nvPr/>
        </p:nvSpPr>
        <p:spPr>
          <a:xfrm>
            <a:off x="868680" y="2468880"/>
            <a:ext cx="3520440" cy="566928"/>
          </a:xfrm>
          <a:prstGeom prst="rect">
            <a:avLst/>
          </a:prstGeom>
          <a:noFill/>
          <a:ln/>
        </p:spPr>
        <p:txBody>
          <a:bodyPr wrap="square" rtlCol="0" anchor="ctr"/>
          <a:lstStyle/>
          <a:p>
            <a:pPr marL="0" indent="0" algn="ctr">
              <a:buNone/>
            </a:pPr>
            <a:r>
              <a:rPr lang="en-US" sz="1600" b="1" dirty="0">
                <a:solidFill>
                  <a:srgbClr val="0B2B2E"/>
                </a:solidFill>
                <a:latin typeface="Calibri" pitchFamily="34" charset="0"/>
                <a:ea typeface="Calibri" pitchFamily="34" charset="-122"/>
                <a:cs typeface="Calibri" pitchFamily="34" charset="-120"/>
              </a:rPr>
              <a:t>Borrower Data</a:t>
            </a:r>
            <a:endParaRPr lang="en-US" sz="1600" dirty="0"/>
          </a:p>
        </p:txBody>
      </p:sp>
      <p:sp>
        <p:nvSpPr>
          <p:cNvPr id="8" name="Shape 6"/>
          <p:cNvSpPr/>
          <p:nvPr/>
        </p:nvSpPr>
        <p:spPr>
          <a:xfrm>
            <a:off x="2546604" y="3090672"/>
            <a:ext cx="164592" cy="219456"/>
          </a:xfrm>
          <a:prstGeom prst="downArrow">
            <a:avLst/>
          </a:prstGeom>
          <a:solidFill>
            <a:srgbClr val="9FB8B6"/>
          </a:solidFill>
          <a:ln/>
        </p:spPr>
        <p:txBody>
          <a:bodyPr/>
          <a:lstStyle/>
          <a:p>
            <a:endParaRPr lang="en-US"/>
          </a:p>
        </p:txBody>
      </p:sp>
      <p:sp>
        <p:nvSpPr>
          <p:cNvPr id="9" name="Shape 7"/>
          <p:cNvSpPr/>
          <p:nvPr/>
        </p:nvSpPr>
        <p:spPr>
          <a:xfrm>
            <a:off x="868680" y="3364992"/>
            <a:ext cx="3520440" cy="566928"/>
          </a:xfrm>
          <a:prstGeom prst="roundRect">
            <a:avLst>
              <a:gd name="adj" fmla="val 11290"/>
            </a:avLst>
          </a:prstGeom>
          <a:solidFill>
            <a:srgbClr val="FFFFFF"/>
          </a:solidFill>
          <a:ln w="12700">
            <a:solidFill>
              <a:srgbClr val="C9DBDA"/>
            </a:solidFill>
            <a:prstDash val="solid"/>
          </a:ln>
        </p:spPr>
        <p:txBody>
          <a:bodyPr/>
          <a:lstStyle/>
          <a:p>
            <a:endParaRPr lang="en-US"/>
          </a:p>
        </p:txBody>
      </p:sp>
      <p:sp>
        <p:nvSpPr>
          <p:cNvPr id="10" name="Text 8"/>
          <p:cNvSpPr/>
          <p:nvPr/>
        </p:nvSpPr>
        <p:spPr>
          <a:xfrm>
            <a:off x="868680" y="3364992"/>
            <a:ext cx="3520440" cy="566928"/>
          </a:xfrm>
          <a:prstGeom prst="rect">
            <a:avLst/>
          </a:prstGeom>
          <a:noFill/>
          <a:ln/>
        </p:spPr>
        <p:txBody>
          <a:bodyPr wrap="square" rtlCol="0" anchor="ctr"/>
          <a:lstStyle/>
          <a:p>
            <a:pPr marL="0" indent="0" algn="ctr">
              <a:buNone/>
            </a:pPr>
            <a:r>
              <a:rPr lang="en-US" sz="1600" b="1" dirty="0">
                <a:solidFill>
                  <a:srgbClr val="0B2B2E"/>
                </a:solidFill>
                <a:latin typeface="Calibri" pitchFamily="34" charset="0"/>
                <a:ea typeface="Calibri" pitchFamily="34" charset="-122"/>
                <a:cs typeface="Calibri" pitchFamily="34" charset="-120"/>
              </a:rPr>
              <a:t>Manual Rules</a:t>
            </a:r>
            <a:endParaRPr lang="en-US" sz="1600" dirty="0"/>
          </a:p>
        </p:txBody>
      </p:sp>
      <p:sp>
        <p:nvSpPr>
          <p:cNvPr id="11" name="Shape 9"/>
          <p:cNvSpPr/>
          <p:nvPr/>
        </p:nvSpPr>
        <p:spPr>
          <a:xfrm>
            <a:off x="2546604" y="3986784"/>
            <a:ext cx="164592" cy="219456"/>
          </a:xfrm>
          <a:prstGeom prst="downArrow">
            <a:avLst/>
          </a:prstGeom>
          <a:solidFill>
            <a:srgbClr val="9FB8B6"/>
          </a:solidFill>
          <a:ln/>
        </p:spPr>
        <p:txBody>
          <a:bodyPr/>
          <a:lstStyle/>
          <a:p>
            <a:endParaRPr lang="en-US"/>
          </a:p>
        </p:txBody>
      </p:sp>
      <p:sp>
        <p:nvSpPr>
          <p:cNvPr id="12" name="Shape 10"/>
          <p:cNvSpPr/>
          <p:nvPr/>
        </p:nvSpPr>
        <p:spPr>
          <a:xfrm>
            <a:off x="868680" y="4261104"/>
            <a:ext cx="3520440" cy="566928"/>
          </a:xfrm>
          <a:prstGeom prst="roundRect">
            <a:avLst>
              <a:gd name="adj" fmla="val 11290"/>
            </a:avLst>
          </a:prstGeom>
          <a:solidFill>
            <a:srgbClr val="FFFFFF"/>
          </a:solidFill>
          <a:ln w="12700">
            <a:solidFill>
              <a:srgbClr val="C9DBDA"/>
            </a:solidFill>
            <a:prstDash val="solid"/>
          </a:ln>
        </p:spPr>
        <p:txBody>
          <a:bodyPr/>
          <a:lstStyle/>
          <a:p>
            <a:endParaRPr lang="en-US"/>
          </a:p>
        </p:txBody>
      </p:sp>
      <p:sp>
        <p:nvSpPr>
          <p:cNvPr id="13" name="Text 11"/>
          <p:cNvSpPr/>
          <p:nvPr/>
        </p:nvSpPr>
        <p:spPr>
          <a:xfrm>
            <a:off x="868680" y="4261104"/>
            <a:ext cx="3520440" cy="566928"/>
          </a:xfrm>
          <a:prstGeom prst="rect">
            <a:avLst/>
          </a:prstGeom>
          <a:noFill/>
          <a:ln/>
        </p:spPr>
        <p:txBody>
          <a:bodyPr wrap="square" rtlCol="0" anchor="ctr"/>
          <a:lstStyle/>
          <a:p>
            <a:pPr marL="0" indent="0" algn="ctr">
              <a:buNone/>
            </a:pPr>
            <a:r>
              <a:rPr lang="en-US" sz="1600" b="1" dirty="0">
                <a:solidFill>
                  <a:srgbClr val="0B2B2E"/>
                </a:solidFill>
                <a:latin typeface="Calibri" pitchFamily="34" charset="0"/>
                <a:ea typeface="Calibri" pitchFamily="34" charset="-122"/>
                <a:cs typeface="Calibri" pitchFamily="34" charset="-120"/>
              </a:rPr>
              <a:t>Loan Decision</a:t>
            </a:r>
            <a:endParaRPr lang="en-US" sz="1600" dirty="0"/>
          </a:p>
        </p:txBody>
      </p:sp>
      <p:sp>
        <p:nvSpPr>
          <p:cNvPr id="14" name="Text 12"/>
          <p:cNvSpPr/>
          <p:nvPr/>
        </p:nvSpPr>
        <p:spPr>
          <a:xfrm>
            <a:off x="868680" y="4983480"/>
            <a:ext cx="3520440" cy="777240"/>
          </a:xfrm>
          <a:prstGeom prst="rect">
            <a:avLst/>
          </a:prstGeom>
          <a:noFill/>
          <a:ln/>
        </p:spPr>
        <p:txBody>
          <a:bodyPr wrap="square" rtlCol="0" anchor="ctr"/>
          <a:lstStyle/>
          <a:p>
            <a:pPr marL="0" indent="0">
              <a:lnSpc>
                <a:spcPct val="125000"/>
              </a:lnSpc>
              <a:buNone/>
            </a:pPr>
            <a:r>
              <a:rPr lang="en-US" sz="1600" i="1" dirty="0">
                <a:solidFill>
                  <a:srgbClr val="5C7A7D"/>
                </a:solidFill>
                <a:latin typeface="Calibri" pitchFamily="34" charset="0"/>
                <a:ea typeface="Calibri" pitchFamily="34" charset="-122"/>
                <a:cs typeface="Calibri" pitchFamily="34" charset="-120"/>
              </a:rPr>
              <a:t>Static thresholds. Same treatment for every borrower. No visibility into risk drivers.</a:t>
            </a:r>
            <a:endParaRPr lang="en-US" sz="1600" dirty="0"/>
          </a:p>
        </p:txBody>
      </p:sp>
      <p:sp>
        <p:nvSpPr>
          <p:cNvPr id="15" name="Shape 13"/>
          <p:cNvSpPr/>
          <p:nvPr/>
        </p:nvSpPr>
        <p:spPr>
          <a:xfrm>
            <a:off x="5029200" y="1600200"/>
            <a:ext cx="6583680" cy="4343400"/>
          </a:xfrm>
          <a:prstGeom prst="roundRect">
            <a:avLst>
              <a:gd name="adj" fmla="val 2105"/>
            </a:avLst>
          </a:prstGeom>
          <a:solidFill>
            <a:srgbClr val="028090"/>
          </a:solidFill>
          <a:ln/>
        </p:spPr>
        <p:txBody>
          <a:bodyPr/>
          <a:lstStyle/>
          <a:p>
            <a:endParaRPr lang="en-US"/>
          </a:p>
        </p:txBody>
      </p:sp>
      <p:sp>
        <p:nvSpPr>
          <p:cNvPr id="16" name="Text 14"/>
          <p:cNvSpPr/>
          <p:nvPr/>
        </p:nvSpPr>
        <p:spPr>
          <a:xfrm>
            <a:off x="5394960" y="1874520"/>
            <a:ext cx="5852160" cy="320040"/>
          </a:xfrm>
          <a:prstGeom prst="rect">
            <a:avLst/>
          </a:prstGeom>
          <a:noFill/>
          <a:ln/>
        </p:spPr>
        <p:txBody>
          <a:bodyPr wrap="square" rtlCol="0" anchor="ctr"/>
          <a:lstStyle/>
          <a:p>
            <a:pPr marL="0" indent="0">
              <a:buNone/>
            </a:pPr>
            <a:r>
              <a:rPr lang="en-US" sz="1600" b="1" kern="0" spc="150" dirty="0">
                <a:solidFill>
                  <a:srgbClr val="BFEDE8"/>
                </a:solidFill>
                <a:latin typeface="Calibri" pitchFamily="34" charset="0"/>
                <a:ea typeface="Calibri" pitchFamily="34" charset="-122"/>
                <a:cs typeface="Calibri" pitchFamily="34" charset="-120"/>
              </a:rPr>
              <a:t>PROPOSED AI SYSTEM</a:t>
            </a:r>
            <a:endParaRPr lang="en-US" sz="1600" dirty="0"/>
          </a:p>
        </p:txBody>
      </p:sp>
      <p:sp>
        <p:nvSpPr>
          <p:cNvPr id="17" name="Shape 15"/>
          <p:cNvSpPr/>
          <p:nvPr/>
        </p:nvSpPr>
        <p:spPr>
          <a:xfrm>
            <a:off x="5394960" y="2468880"/>
            <a:ext cx="1810512" cy="566928"/>
          </a:xfrm>
          <a:prstGeom prst="roundRect">
            <a:avLst>
              <a:gd name="adj" fmla="val 11290"/>
            </a:avLst>
          </a:prstGeom>
          <a:solidFill>
            <a:srgbClr val="046B78"/>
          </a:solidFill>
          <a:ln/>
        </p:spPr>
        <p:txBody>
          <a:bodyPr/>
          <a:lstStyle/>
          <a:p>
            <a:endParaRPr lang="en-US"/>
          </a:p>
        </p:txBody>
      </p:sp>
      <p:sp>
        <p:nvSpPr>
          <p:cNvPr id="18" name="Text 16"/>
          <p:cNvSpPr/>
          <p:nvPr/>
        </p:nvSpPr>
        <p:spPr>
          <a:xfrm>
            <a:off x="5394960" y="2468880"/>
            <a:ext cx="1810512" cy="566928"/>
          </a:xfrm>
          <a:prstGeom prst="rect">
            <a:avLst/>
          </a:prstGeom>
          <a:noFill/>
          <a:ln/>
        </p:spPr>
        <p:txBody>
          <a:bodyPr wrap="square" rtlCol="0" anchor="ctr"/>
          <a:lstStyle/>
          <a:p>
            <a:pPr marL="0" indent="0" algn="ctr">
              <a:lnSpc>
                <a:spcPct val="100000"/>
              </a:lnSpc>
              <a:buNone/>
            </a:pPr>
            <a:r>
              <a:rPr lang="en-US" sz="1600" b="1" dirty="0">
                <a:solidFill>
                  <a:srgbClr val="FFFFFF"/>
                </a:solidFill>
                <a:latin typeface="Calibri" pitchFamily="34" charset="0"/>
                <a:ea typeface="Calibri" pitchFamily="34" charset="-122"/>
                <a:cs typeface="Calibri" pitchFamily="34" charset="-120"/>
              </a:rPr>
              <a:t>Borrower Data</a:t>
            </a:r>
            <a:endParaRPr lang="en-US" sz="1600" dirty="0"/>
          </a:p>
        </p:txBody>
      </p:sp>
      <p:sp>
        <p:nvSpPr>
          <p:cNvPr id="19" name="Shape 17"/>
          <p:cNvSpPr/>
          <p:nvPr/>
        </p:nvSpPr>
        <p:spPr>
          <a:xfrm>
            <a:off x="7242048" y="2688336"/>
            <a:ext cx="109728" cy="128016"/>
          </a:xfrm>
          <a:prstGeom prst="rightArrow">
            <a:avLst/>
          </a:prstGeom>
          <a:solidFill>
            <a:srgbClr val="BFEDE8"/>
          </a:solidFill>
          <a:ln/>
        </p:spPr>
        <p:txBody>
          <a:bodyPr/>
          <a:lstStyle/>
          <a:p>
            <a:endParaRPr lang="en-US"/>
          </a:p>
        </p:txBody>
      </p:sp>
      <p:sp>
        <p:nvSpPr>
          <p:cNvPr id="20" name="Shape 18"/>
          <p:cNvSpPr/>
          <p:nvPr/>
        </p:nvSpPr>
        <p:spPr>
          <a:xfrm>
            <a:off x="7388352" y="2468880"/>
            <a:ext cx="1810512" cy="566928"/>
          </a:xfrm>
          <a:prstGeom prst="roundRect">
            <a:avLst>
              <a:gd name="adj" fmla="val 11290"/>
            </a:avLst>
          </a:prstGeom>
          <a:solidFill>
            <a:srgbClr val="046B78"/>
          </a:solidFill>
          <a:ln/>
        </p:spPr>
        <p:txBody>
          <a:bodyPr/>
          <a:lstStyle/>
          <a:p>
            <a:endParaRPr lang="en-US"/>
          </a:p>
        </p:txBody>
      </p:sp>
      <p:sp>
        <p:nvSpPr>
          <p:cNvPr id="21" name="Text 19"/>
          <p:cNvSpPr/>
          <p:nvPr/>
        </p:nvSpPr>
        <p:spPr>
          <a:xfrm>
            <a:off x="7388352" y="2468880"/>
            <a:ext cx="1810512" cy="566928"/>
          </a:xfrm>
          <a:prstGeom prst="rect">
            <a:avLst/>
          </a:prstGeom>
          <a:noFill/>
          <a:ln/>
        </p:spPr>
        <p:txBody>
          <a:bodyPr wrap="square" rtlCol="0" anchor="ctr"/>
          <a:lstStyle/>
          <a:p>
            <a:pPr marL="0" indent="0" algn="ctr">
              <a:lnSpc>
                <a:spcPct val="100000"/>
              </a:lnSpc>
              <a:buNone/>
            </a:pPr>
            <a:r>
              <a:rPr lang="en-US" sz="1600" b="1" dirty="0">
                <a:solidFill>
                  <a:srgbClr val="FFFFFF"/>
                </a:solidFill>
                <a:latin typeface="Calibri" pitchFamily="34" charset="0"/>
                <a:ea typeface="Calibri" pitchFamily="34" charset="-122"/>
                <a:cs typeface="Calibri" pitchFamily="34" charset="-120"/>
              </a:rPr>
              <a:t>Data Engineering</a:t>
            </a:r>
            <a:endParaRPr lang="en-US" sz="1600" dirty="0"/>
          </a:p>
        </p:txBody>
      </p:sp>
      <p:sp>
        <p:nvSpPr>
          <p:cNvPr id="22" name="Shape 20"/>
          <p:cNvSpPr/>
          <p:nvPr/>
        </p:nvSpPr>
        <p:spPr>
          <a:xfrm>
            <a:off x="9235440" y="2688336"/>
            <a:ext cx="109728" cy="128016"/>
          </a:xfrm>
          <a:prstGeom prst="rightArrow">
            <a:avLst/>
          </a:prstGeom>
          <a:solidFill>
            <a:srgbClr val="BFEDE8"/>
          </a:solidFill>
          <a:ln/>
        </p:spPr>
        <p:txBody>
          <a:bodyPr/>
          <a:lstStyle/>
          <a:p>
            <a:endParaRPr lang="en-US"/>
          </a:p>
        </p:txBody>
      </p:sp>
      <p:sp>
        <p:nvSpPr>
          <p:cNvPr id="23" name="Shape 21"/>
          <p:cNvSpPr/>
          <p:nvPr/>
        </p:nvSpPr>
        <p:spPr>
          <a:xfrm>
            <a:off x="9381744" y="2468880"/>
            <a:ext cx="1810512" cy="566928"/>
          </a:xfrm>
          <a:prstGeom prst="roundRect">
            <a:avLst>
              <a:gd name="adj" fmla="val 11290"/>
            </a:avLst>
          </a:prstGeom>
          <a:solidFill>
            <a:srgbClr val="046B78"/>
          </a:solidFill>
          <a:ln/>
        </p:spPr>
        <p:txBody>
          <a:bodyPr/>
          <a:lstStyle/>
          <a:p>
            <a:endParaRPr lang="en-US"/>
          </a:p>
        </p:txBody>
      </p:sp>
      <p:sp>
        <p:nvSpPr>
          <p:cNvPr id="24" name="Text 22"/>
          <p:cNvSpPr/>
          <p:nvPr/>
        </p:nvSpPr>
        <p:spPr>
          <a:xfrm>
            <a:off x="9381744" y="2468880"/>
            <a:ext cx="1810512" cy="566928"/>
          </a:xfrm>
          <a:prstGeom prst="rect">
            <a:avLst/>
          </a:prstGeom>
          <a:noFill/>
          <a:ln/>
        </p:spPr>
        <p:txBody>
          <a:bodyPr wrap="square" rtlCol="0" anchor="ctr"/>
          <a:lstStyle/>
          <a:p>
            <a:pPr marL="0" indent="0" algn="ctr">
              <a:lnSpc>
                <a:spcPct val="100000"/>
              </a:lnSpc>
              <a:buNone/>
            </a:pPr>
            <a:r>
              <a:rPr lang="en-US" sz="1600" b="1" dirty="0">
                <a:solidFill>
                  <a:srgbClr val="FFFFFF"/>
                </a:solidFill>
                <a:latin typeface="Calibri" pitchFamily="34" charset="0"/>
                <a:ea typeface="Calibri" pitchFamily="34" charset="-122"/>
                <a:cs typeface="Calibri" pitchFamily="34" charset="-120"/>
              </a:rPr>
              <a:t>ML Prediction</a:t>
            </a:r>
            <a:endParaRPr lang="en-US" sz="1600" dirty="0"/>
          </a:p>
        </p:txBody>
      </p:sp>
      <p:sp>
        <p:nvSpPr>
          <p:cNvPr id="25" name="Shape 23"/>
          <p:cNvSpPr/>
          <p:nvPr/>
        </p:nvSpPr>
        <p:spPr>
          <a:xfrm>
            <a:off x="5394960" y="3602736"/>
            <a:ext cx="1810512" cy="566928"/>
          </a:xfrm>
          <a:prstGeom prst="roundRect">
            <a:avLst>
              <a:gd name="adj" fmla="val 11290"/>
            </a:avLst>
          </a:prstGeom>
          <a:solidFill>
            <a:srgbClr val="046B78"/>
          </a:solidFill>
          <a:ln/>
        </p:spPr>
        <p:txBody>
          <a:bodyPr/>
          <a:lstStyle/>
          <a:p>
            <a:endParaRPr lang="en-US"/>
          </a:p>
        </p:txBody>
      </p:sp>
      <p:sp>
        <p:nvSpPr>
          <p:cNvPr id="26" name="Text 24"/>
          <p:cNvSpPr/>
          <p:nvPr/>
        </p:nvSpPr>
        <p:spPr>
          <a:xfrm>
            <a:off x="5394960" y="3602736"/>
            <a:ext cx="1810512" cy="566928"/>
          </a:xfrm>
          <a:prstGeom prst="rect">
            <a:avLst/>
          </a:prstGeom>
          <a:noFill/>
          <a:ln/>
        </p:spPr>
        <p:txBody>
          <a:bodyPr wrap="square" rtlCol="0" anchor="ctr"/>
          <a:lstStyle/>
          <a:p>
            <a:pPr marL="0" indent="0" algn="ctr">
              <a:lnSpc>
                <a:spcPct val="100000"/>
              </a:lnSpc>
              <a:buNone/>
            </a:pPr>
            <a:r>
              <a:rPr lang="en-US" sz="1600" b="1" dirty="0">
                <a:solidFill>
                  <a:srgbClr val="FFFFFF"/>
                </a:solidFill>
                <a:latin typeface="Calibri" pitchFamily="34" charset="0"/>
                <a:ea typeface="Calibri" pitchFamily="34" charset="-122"/>
                <a:cs typeface="Calibri" pitchFamily="34" charset="-120"/>
              </a:rPr>
              <a:t>Default Probability</a:t>
            </a:r>
            <a:endParaRPr lang="en-US" sz="1600" dirty="0"/>
          </a:p>
        </p:txBody>
      </p:sp>
      <p:sp>
        <p:nvSpPr>
          <p:cNvPr id="27" name="Shape 25"/>
          <p:cNvSpPr/>
          <p:nvPr/>
        </p:nvSpPr>
        <p:spPr>
          <a:xfrm>
            <a:off x="7242048" y="3822192"/>
            <a:ext cx="109728" cy="128016"/>
          </a:xfrm>
          <a:prstGeom prst="rightArrow">
            <a:avLst/>
          </a:prstGeom>
          <a:solidFill>
            <a:srgbClr val="BFEDE8"/>
          </a:solidFill>
          <a:ln/>
        </p:spPr>
        <p:txBody>
          <a:bodyPr/>
          <a:lstStyle/>
          <a:p>
            <a:endParaRPr lang="en-US"/>
          </a:p>
        </p:txBody>
      </p:sp>
      <p:sp>
        <p:nvSpPr>
          <p:cNvPr id="28" name="Shape 26"/>
          <p:cNvSpPr/>
          <p:nvPr/>
        </p:nvSpPr>
        <p:spPr>
          <a:xfrm>
            <a:off x="7388352" y="3602736"/>
            <a:ext cx="1810512" cy="566928"/>
          </a:xfrm>
          <a:prstGeom prst="roundRect">
            <a:avLst>
              <a:gd name="adj" fmla="val 11290"/>
            </a:avLst>
          </a:prstGeom>
          <a:solidFill>
            <a:srgbClr val="046B78"/>
          </a:solidFill>
          <a:ln/>
        </p:spPr>
        <p:txBody>
          <a:bodyPr/>
          <a:lstStyle/>
          <a:p>
            <a:endParaRPr lang="en-US"/>
          </a:p>
        </p:txBody>
      </p:sp>
      <p:sp>
        <p:nvSpPr>
          <p:cNvPr id="29" name="Text 27"/>
          <p:cNvSpPr/>
          <p:nvPr/>
        </p:nvSpPr>
        <p:spPr>
          <a:xfrm>
            <a:off x="7388352" y="3602736"/>
            <a:ext cx="1810512" cy="566928"/>
          </a:xfrm>
          <a:prstGeom prst="rect">
            <a:avLst/>
          </a:prstGeom>
          <a:noFill/>
          <a:ln/>
        </p:spPr>
        <p:txBody>
          <a:bodyPr wrap="square" rtlCol="0" anchor="ctr"/>
          <a:lstStyle/>
          <a:p>
            <a:pPr marL="0" indent="0" algn="ctr">
              <a:lnSpc>
                <a:spcPct val="100000"/>
              </a:lnSpc>
              <a:buNone/>
            </a:pPr>
            <a:r>
              <a:rPr lang="en-US" sz="1600" b="1" dirty="0">
                <a:solidFill>
                  <a:srgbClr val="FFFFFF"/>
                </a:solidFill>
                <a:latin typeface="Calibri" pitchFamily="34" charset="0"/>
                <a:ea typeface="Calibri" pitchFamily="34" charset="-122"/>
                <a:cs typeface="Calibri" pitchFamily="34" charset="-120"/>
              </a:rPr>
              <a:t>Risk Scoring</a:t>
            </a:r>
            <a:endParaRPr lang="en-US" sz="1600" dirty="0"/>
          </a:p>
        </p:txBody>
      </p:sp>
      <p:sp>
        <p:nvSpPr>
          <p:cNvPr id="30" name="Shape 28"/>
          <p:cNvSpPr/>
          <p:nvPr/>
        </p:nvSpPr>
        <p:spPr>
          <a:xfrm>
            <a:off x="9235440" y="3822192"/>
            <a:ext cx="109728" cy="128016"/>
          </a:xfrm>
          <a:prstGeom prst="rightArrow">
            <a:avLst/>
          </a:prstGeom>
          <a:solidFill>
            <a:srgbClr val="BFEDE8"/>
          </a:solidFill>
          <a:ln/>
        </p:spPr>
        <p:txBody>
          <a:bodyPr/>
          <a:lstStyle/>
          <a:p>
            <a:endParaRPr lang="en-US"/>
          </a:p>
        </p:txBody>
      </p:sp>
      <p:sp>
        <p:nvSpPr>
          <p:cNvPr id="31" name="Shape 29"/>
          <p:cNvSpPr/>
          <p:nvPr/>
        </p:nvSpPr>
        <p:spPr>
          <a:xfrm>
            <a:off x="9381744" y="3602736"/>
            <a:ext cx="1810512" cy="566928"/>
          </a:xfrm>
          <a:prstGeom prst="roundRect">
            <a:avLst>
              <a:gd name="adj" fmla="val 11290"/>
            </a:avLst>
          </a:prstGeom>
          <a:solidFill>
            <a:srgbClr val="046B78"/>
          </a:solidFill>
          <a:ln/>
        </p:spPr>
        <p:txBody>
          <a:bodyPr/>
          <a:lstStyle/>
          <a:p>
            <a:endParaRPr lang="en-US"/>
          </a:p>
        </p:txBody>
      </p:sp>
      <p:sp>
        <p:nvSpPr>
          <p:cNvPr id="32" name="Text 30"/>
          <p:cNvSpPr/>
          <p:nvPr/>
        </p:nvSpPr>
        <p:spPr>
          <a:xfrm>
            <a:off x="9381744" y="3602736"/>
            <a:ext cx="1810512" cy="566928"/>
          </a:xfrm>
          <a:prstGeom prst="rect">
            <a:avLst/>
          </a:prstGeom>
          <a:noFill/>
          <a:ln/>
        </p:spPr>
        <p:txBody>
          <a:bodyPr wrap="square" rtlCol="0" anchor="ctr"/>
          <a:lstStyle/>
          <a:p>
            <a:pPr marL="0" indent="0" algn="ctr">
              <a:lnSpc>
                <a:spcPct val="100000"/>
              </a:lnSpc>
              <a:buNone/>
            </a:pPr>
            <a:r>
              <a:rPr lang="en-US" sz="1600" b="1" dirty="0">
                <a:solidFill>
                  <a:srgbClr val="FFFFFF"/>
                </a:solidFill>
                <a:latin typeface="Calibri" pitchFamily="34" charset="0"/>
                <a:ea typeface="Calibri" pitchFamily="34" charset="-122"/>
                <a:cs typeface="Calibri" pitchFamily="34" charset="-120"/>
              </a:rPr>
              <a:t>Explainable Decision</a:t>
            </a:r>
            <a:endParaRPr lang="en-US" sz="1600" dirty="0"/>
          </a:p>
        </p:txBody>
      </p:sp>
      <p:sp>
        <p:nvSpPr>
          <p:cNvPr id="33" name="Shape 31"/>
          <p:cNvSpPr/>
          <p:nvPr/>
        </p:nvSpPr>
        <p:spPr>
          <a:xfrm>
            <a:off x="6236208" y="3090672"/>
            <a:ext cx="128016" cy="457200"/>
          </a:xfrm>
          <a:prstGeom prst="downArrow">
            <a:avLst/>
          </a:prstGeom>
          <a:solidFill>
            <a:srgbClr val="BFEDE8"/>
          </a:solidFill>
          <a:ln/>
        </p:spPr>
        <p:txBody>
          <a:bodyPr/>
          <a:lstStyle/>
          <a:p>
            <a:endParaRPr lang="en-US"/>
          </a:p>
        </p:txBody>
      </p:sp>
      <p:sp>
        <p:nvSpPr>
          <p:cNvPr id="34" name="Shape 32"/>
          <p:cNvSpPr/>
          <p:nvPr/>
        </p:nvSpPr>
        <p:spPr>
          <a:xfrm>
            <a:off x="5394960" y="4892040"/>
            <a:ext cx="5852160" cy="0"/>
          </a:xfrm>
          <a:prstGeom prst="line">
            <a:avLst/>
          </a:prstGeom>
          <a:noFill/>
          <a:ln w="12700">
            <a:solidFill>
              <a:srgbClr val="1E8A94"/>
            </a:solidFill>
            <a:prstDash val="solid"/>
          </a:ln>
        </p:spPr>
        <p:txBody>
          <a:bodyPr/>
          <a:lstStyle/>
          <a:p>
            <a:endParaRPr lang="en-US"/>
          </a:p>
        </p:txBody>
      </p:sp>
      <p:sp>
        <p:nvSpPr>
          <p:cNvPr id="35" name="Text 33"/>
          <p:cNvSpPr/>
          <p:nvPr/>
        </p:nvSpPr>
        <p:spPr>
          <a:xfrm>
            <a:off x="5394960" y="5047488"/>
            <a:ext cx="5852160" cy="777240"/>
          </a:xfrm>
          <a:prstGeom prst="rect">
            <a:avLst/>
          </a:prstGeom>
          <a:noFill/>
          <a:ln/>
        </p:spPr>
        <p:txBody>
          <a:bodyPr wrap="square" rtlCol="0" anchor="ctr"/>
          <a:lstStyle/>
          <a:p>
            <a:pPr marL="0" indent="0">
              <a:lnSpc>
                <a:spcPct val="128000"/>
              </a:lnSpc>
              <a:buNone/>
            </a:pPr>
            <a:r>
              <a:rPr lang="en-US" sz="1600" dirty="0">
                <a:solidFill>
                  <a:srgbClr val="E3F6F3"/>
                </a:solidFill>
                <a:latin typeface="Calibri" pitchFamily="34" charset="0"/>
                <a:ea typeface="Calibri" pitchFamily="34" charset="-122"/>
                <a:cs typeface="Calibri" pitchFamily="34" charset="-120"/>
              </a:rPr>
              <a:t>Combines machine-learning-based default prediction with an interpretable risk-scoring and lending-decision engine exposed through both API and interactive dashboard interfaces.</a:t>
            </a:r>
            <a:endParaRPr lang="en-US" sz="1600" dirty="0"/>
          </a:p>
        </p:txBody>
      </p:sp>
      <p:graphicFrame>
        <p:nvGraphicFramePr>
          <p:cNvPr id="39" name="Table 38">
            <a:extLst>
              <a:ext uri="{FF2B5EF4-FFF2-40B4-BE49-F238E27FC236}">
                <a16:creationId xmlns:a16="http://schemas.microsoft.com/office/drawing/2014/main" id="{CC00811A-C0D7-8C54-4D65-505C27319479}"/>
              </a:ext>
            </a:extLst>
          </p:cNvPr>
          <p:cNvGraphicFramePr>
            <a:graphicFrameLocks noGrp="1"/>
          </p:cNvGraphicFramePr>
          <p:nvPr>
            <p:extLst>
              <p:ext uri="{D42A27DB-BD31-4B8C-83A1-F6EECF244321}">
                <p14:modId xmlns:p14="http://schemas.microsoft.com/office/powerpoint/2010/main" val="1613975918"/>
              </p:ext>
            </p:extLst>
          </p:nvPr>
        </p:nvGraphicFramePr>
        <p:xfrm>
          <a:off x="3856182" y="632513"/>
          <a:ext cx="7315200" cy="891731"/>
        </p:xfrm>
        <a:graphic>
          <a:graphicData uri="http://schemas.openxmlformats.org/drawingml/2006/table">
            <a:tbl>
              <a:tblPr firstRow="1" firstCol="1" bandRow="1">
                <a:tableStyleId>{5C22544A-7EE6-4342-B048-85BDC9FD1C3A}</a:tableStyleId>
              </a:tblPr>
              <a:tblGrid>
                <a:gridCol w="7315200">
                  <a:extLst>
                    <a:ext uri="{9D8B030D-6E8A-4147-A177-3AD203B41FA5}">
                      <a16:colId xmlns:a16="http://schemas.microsoft.com/office/drawing/2014/main" val="2696467354"/>
                    </a:ext>
                  </a:extLst>
                </a:gridCol>
              </a:tblGrid>
              <a:tr h="871675">
                <a:tc>
                  <a:txBody>
                    <a:bodyPr/>
                    <a:lstStyle/>
                    <a:p>
                      <a:pPr marL="0" marR="0">
                        <a:lnSpc>
                          <a:spcPct val="110000"/>
                        </a:lnSpc>
                        <a:spcAft>
                          <a:spcPts val="600"/>
                        </a:spcAft>
                        <a:buNone/>
                      </a:pPr>
                      <a:r>
                        <a:rPr lang="en-US" sz="1600" dirty="0">
                          <a:effectLst/>
                        </a:rPr>
                        <a:t>Value to a lender: The platform can reduce manual effort, make screening more consistent and help focus human review on medium- and high-risk applications.</a:t>
                      </a:r>
                      <a:endParaRPr lang="en-US" sz="16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71359889"/>
                  </a:ext>
                </a:extLst>
              </a:tr>
            </a:tbl>
          </a:graphicData>
        </a:graphic>
      </p:graphicFrame>
      <p:sp>
        <p:nvSpPr>
          <p:cNvPr id="41" name="TextBox 40">
            <a:extLst>
              <a:ext uri="{FF2B5EF4-FFF2-40B4-BE49-F238E27FC236}">
                <a16:creationId xmlns:a16="http://schemas.microsoft.com/office/drawing/2014/main" id="{A4611BC4-6B87-EE3A-9E1D-42FE76D01D2E}"/>
              </a:ext>
            </a:extLst>
          </p:cNvPr>
          <p:cNvSpPr txBox="1"/>
          <p:nvPr/>
        </p:nvSpPr>
        <p:spPr>
          <a:xfrm>
            <a:off x="2789382" y="139965"/>
            <a:ext cx="6096000" cy="381771"/>
          </a:xfrm>
          <a:prstGeom prst="rect">
            <a:avLst/>
          </a:prstGeom>
          <a:noFill/>
        </p:spPr>
        <p:txBody>
          <a:bodyPr wrap="square">
            <a:spAutoFit/>
          </a:bodyPr>
          <a:lstStyle/>
          <a:p>
            <a:pPr marL="0" marR="0">
              <a:lnSpc>
                <a:spcPct val="100000"/>
              </a:lnSpc>
              <a:spcBef>
                <a:spcPts val="1200"/>
              </a:spcBef>
              <a:spcAft>
                <a:spcPts val="600"/>
              </a:spcAft>
              <a:buNone/>
            </a:pPr>
            <a:r>
              <a:rPr lang="en-US" sz="1800" b="1">
                <a:solidFill>
                  <a:schemeClr val="tx1"/>
                </a:solidFill>
                <a:effectLst/>
                <a:latin typeface="+mn-lt"/>
                <a:ea typeface="MS Gothic" panose="020B0609070205080204" pitchFamily="49" charset="-128"/>
                <a:cs typeface="Times New Roman" panose="02020603050405020304" pitchFamily="18" charset="0"/>
              </a:rPr>
              <a:t>Business value</a:t>
            </a:r>
            <a:endParaRPr lang="en-US" sz="1800" b="1">
              <a:solidFill>
                <a:srgbClr val="2E74B5"/>
              </a:solidFill>
              <a:effectLst/>
              <a:latin typeface="Calibri" panose="020F0502020204030204" pitchFamily="34" charset="0"/>
              <a:ea typeface="MS Gothic" panose="020B0609070205080204" pitchFamily="49" charset="-128"/>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5214A-546D-4F29-DDF4-E2B766E95561}"/>
              </a:ext>
            </a:extLst>
          </p:cNvPr>
          <p:cNvSpPr>
            <a:spLocks noGrp="1"/>
          </p:cNvSpPr>
          <p:nvPr>
            <p:ph type="title"/>
          </p:nvPr>
        </p:nvSpPr>
        <p:spPr/>
        <p:txBody>
          <a:bodyPr/>
          <a:lstStyle/>
          <a:p>
            <a:pPr algn="ctr"/>
            <a:r>
              <a:rPr lang="en-US" dirty="0"/>
              <a:t>SYSTEM ARCHITECTURE</a:t>
            </a:r>
          </a:p>
        </p:txBody>
      </p:sp>
      <p:pic>
        <p:nvPicPr>
          <p:cNvPr id="3" name="Picture 2">
            <a:extLst>
              <a:ext uri="{FF2B5EF4-FFF2-40B4-BE49-F238E27FC236}">
                <a16:creationId xmlns:a16="http://schemas.microsoft.com/office/drawing/2014/main" id="{48A4ABB7-1010-2BB0-F2FF-FDA860EDD3B5}"/>
              </a:ext>
            </a:extLst>
          </p:cNvPr>
          <p:cNvPicPr>
            <a:picLocks noChangeAspect="1"/>
          </p:cNvPicPr>
          <p:nvPr/>
        </p:nvPicPr>
        <p:blipFill>
          <a:blip r:embed="rId2"/>
          <a:stretch>
            <a:fillRect/>
          </a:stretch>
        </p:blipFill>
        <p:spPr>
          <a:xfrm>
            <a:off x="1384086" y="854941"/>
            <a:ext cx="9423828" cy="5300903"/>
          </a:xfrm>
          <a:prstGeom prst="rect">
            <a:avLst/>
          </a:prstGeom>
        </p:spPr>
      </p:pic>
    </p:spTree>
    <p:extLst>
      <p:ext uri="{BB962C8B-B14F-4D97-AF65-F5344CB8AC3E}">
        <p14:creationId xmlns:p14="http://schemas.microsoft.com/office/powerpoint/2010/main" val="10474560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48F96-390A-3DCC-8A51-0D5209396923}"/>
              </a:ext>
            </a:extLst>
          </p:cNvPr>
          <p:cNvSpPr>
            <a:spLocks noGrp="1"/>
          </p:cNvSpPr>
          <p:nvPr>
            <p:ph type="title"/>
          </p:nvPr>
        </p:nvSpPr>
        <p:spPr/>
        <p:txBody>
          <a:bodyPr/>
          <a:lstStyle/>
          <a:p>
            <a:pPr algn="ctr"/>
            <a:r>
              <a:rPr lang="en-US" dirty="0"/>
              <a:t>CODE PIPELINE - Generated commands used</a:t>
            </a:r>
          </a:p>
        </p:txBody>
      </p:sp>
      <p:graphicFrame>
        <p:nvGraphicFramePr>
          <p:cNvPr id="4" name="Table 3">
            <a:extLst>
              <a:ext uri="{FF2B5EF4-FFF2-40B4-BE49-F238E27FC236}">
                <a16:creationId xmlns:a16="http://schemas.microsoft.com/office/drawing/2014/main" id="{88D3F4B2-4927-7AD3-2B26-53FDEB91B8B4}"/>
              </a:ext>
            </a:extLst>
          </p:cNvPr>
          <p:cNvGraphicFramePr>
            <a:graphicFrameLocks noGrp="1"/>
          </p:cNvGraphicFramePr>
          <p:nvPr>
            <p:extLst>
              <p:ext uri="{D42A27DB-BD31-4B8C-83A1-F6EECF244321}">
                <p14:modId xmlns:p14="http://schemas.microsoft.com/office/powerpoint/2010/main" val="110118039"/>
              </p:ext>
            </p:extLst>
          </p:nvPr>
        </p:nvGraphicFramePr>
        <p:xfrm>
          <a:off x="2595419" y="2206912"/>
          <a:ext cx="8077200" cy="3732464"/>
        </p:xfrm>
        <a:graphic>
          <a:graphicData uri="http://schemas.openxmlformats.org/drawingml/2006/table">
            <a:tbl>
              <a:tblPr firstRow="1" firstCol="1" bandRow="1">
                <a:tableStyleId>{5C22544A-7EE6-4342-B048-85BDC9FD1C3A}</a:tableStyleId>
              </a:tblPr>
              <a:tblGrid>
                <a:gridCol w="2588846">
                  <a:extLst>
                    <a:ext uri="{9D8B030D-6E8A-4147-A177-3AD203B41FA5}">
                      <a16:colId xmlns:a16="http://schemas.microsoft.com/office/drawing/2014/main" val="1917229702"/>
                    </a:ext>
                  </a:extLst>
                </a:gridCol>
                <a:gridCol w="5488354">
                  <a:extLst>
                    <a:ext uri="{9D8B030D-6E8A-4147-A177-3AD203B41FA5}">
                      <a16:colId xmlns:a16="http://schemas.microsoft.com/office/drawing/2014/main" val="2674010913"/>
                    </a:ext>
                  </a:extLst>
                </a:gridCol>
              </a:tblGrid>
              <a:tr h="428958">
                <a:tc>
                  <a:txBody>
                    <a:bodyPr/>
                    <a:lstStyle/>
                    <a:p>
                      <a:pPr marL="0" marR="0">
                        <a:lnSpc>
                          <a:spcPct val="110000"/>
                        </a:lnSpc>
                        <a:spcAft>
                          <a:spcPts val="600"/>
                        </a:spcAft>
                        <a:buNone/>
                      </a:pPr>
                      <a:r>
                        <a:rPr lang="en-US" sz="1800">
                          <a:effectLst/>
                        </a:rPr>
                        <a:t>Task</a:t>
                      </a:r>
                      <a:endParaRPr lang="en-US" sz="18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nchor="ctr"/>
                </a:tc>
                <a:tc>
                  <a:txBody>
                    <a:bodyPr/>
                    <a:lstStyle/>
                    <a:p>
                      <a:pPr marL="0" marR="0">
                        <a:lnSpc>
                          <a:spcPct val="110000"/>
                        </a:lnSpc>
                        <a:spcAft>
                          <a:spcPts val="600"/>
                        </a:spcAft>
                        <a:buNone/>
                      </a:pPr>
                      <a:r>
                        <a:rPr lang="en-US" sz="1800">
                          <a:effectLst/>
                        </a:rPr>
                        <a:t>Command</a:t>
                      </a:r>
                      <a:endParaRPr lang="en-US" sz="18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nchor="ctr"/>
                </a:tc>
                <a:extLst>
                  <a:ext uri="{0D108BD9-81ED-4DB2-BD59-A6C34878D82A}">
                    <a16:rowId xmlns:a16="http://schemas.microsoft.com/office/drawing/2014/main" val="1111585393"/>
                  </a:ext>
                </a:extLst>
              </a:tr>
              <a:tr h="415869">
                <a:tc>
                  <a:txBody>
                    <a:bodyPr/>
                    <a:lstStyle/>
                    <a:p>
                      <a:pPr marL="0" marR="0">
                        <a:lnSpc>
                          <a:spcPct val="110000"/>
                        </a:lnSpc>
                        <a:spcAft>
                          <a:spcPts val="600"/>
                        </a:spcAft>
                        <a:buNone/>
                      </a:pPr>
                      <a:r>
                        <a:rPr lang="en-US" sz="1800">
                          <a:effectLst/>
                        </a:rPr>
                        <a:t>Check database</a:t>
                      </a:r>
                      <a:endParaRPr lang="en-US" sz="18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800">
                          <a:effectLst/>
                        </a:rPr>
                        <a:t>python3 -m src.db_check</a:t>
                      </a:r>
                      <a:endParaRPr lang="en-US" sz="18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1545172952"/>
                  </a:ext>
                </a:extLst>
              </a:tr>
              <a:tr h="415869">
                <a:tc>
                  <a:txBody>
                    <a:bodyPr/>
                    <a:lstStyle/>
                    <a:p>
                      <a:pPr marL="0" marR="0">
                        <a:lnSpc>
                          <a:spcPct val="110000"/>
                        </a:lnSpc>
                        <a:spcAft>
                          <a:spcPts val="600"/>
                        </a:spcAft>
                        <a:buNone/>
                      </a:pPr>
                      <a:r>
                        <a:rPr lang="en-US" sz="1800">
                          <a:effectLst/>
                        </a:rPr>
                        <a:t>Generate EDA</a:t>
                      </a:r>
                      <a:endParaRPr lang="en-US" sz="18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800">
                          <a:effectLst/>
                        </a:rPr>
                        <a:t>python3 -m src.eda</a:t>
                      </a:r>
                      <a:endParaRPr lang="en-US" sz="18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2253400332"/>
                  </a:ext>
                </a:extLst>
              </a:tr>
              <a:tr h="678457">
                <a:tc>
                  <a:txBody>
                    <a:bodyPr/>
                    <a:lstStyle/>
                    <a:p>
                      <a:pPr marL="0" marR="0">
                        <a:lnSpc>
                          <a:spcPct val="110000"/>
                        </a:lnSpc>
                        <a:spcAft>
                          <a:spcPts val="600"/>
                        </a:spcAft>
                        <a:buNone/>
                      </a:pPr>
                      <a:r>
                        <a:rPr lang="en-US" sz="1800">
                          <a:effectLst/>
                        </a:rPr>
                        <a:t>Generate business reports</a:t>
                      </a:r>
                      <a:endParaRPr lang="en-US" sz="18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800">
                          <a:effectLst/>
                        </a:rPr>
                        <a:t>python3 -m src.business_queries</a:t>
                      </a:r>
                      <a:endParaRPr lang="en-US" sz="18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1007420691"/>
                  </a:ext>
                </a:extLst>
              </a:tr>
              <a:tr h="415869">
                <a:tc>
                  <a:txBody>
                    <a:bodyPr/>
                    <a:lstStyle/>
                    <a:p>
                      <a:pPr marL="0" marR="0">
                        <a:lnSpc>
                          <a:spcPct val="110000"/>
                        </a:lnSpc>
                        <a:spcAft>
                          <a:spcPts val="600"/>
                        </a:spcAft>
                        <a:buNone/>
                      </a:pPr>
                      <a:r>
                        <a:rPr lang="en-US" sz="1800">
                          <a:effectLst/>
                        </a:rPr>
                        <a:t>Train model</a:t>
                      </a:r>
                      <a:endParaRPr lang="en-US" sz="18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800">
                          <a:effectLst/>
                        </a:rPr>
                        <a:t>python3 -m src.train_model</a:t>
                      </a:r>
                      <a:endParaRPr lang="en-US" sz="18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3816538550"/>
                  </a:ext>
                </a:extLst>
              </a:tr>
              <a:tr h="678457">
                <a:tc>
                  <a:txBody>
                    <a:bodyPr/>
                    <a:lstStyle/>
                    <a:p>
                      <a:pPr marL="0" marR="0">
                        <a:lnSpc>
                          <a:spcPct val="110000"/>
                        </a:lnSpc>
                        <a:spcAft>
                          <a:spcPts val="600"/>
                        </a:spcAft>
                        <a:buNone/>
                      </a:pPr>
                      <a:r>
                        <a:rPr lang="en-US" sz="1800">
                          <a:effectLst/>
                        </a:rPr>
                        <a:t>Run Streamlit interface</a:t>
                      </a:r>
                      <a:endParaRPr lang="en-US" sz="18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800">
                          <a:effectLst/>
                        </a:rPr>
                        <a:t>python3 -m streamlit run app.py</a:t>
                      </a:r>
                      <a:endParaRPr lang="en-US" sz="18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3917396413"/>
                  </a:ext>
                </a:extLst>
              </a:tr>
              <a:tr h="678457">
                <a:tc>
                  <a:txBody>
                    <a:bodyPr/>
                    <a:lstStyle/>
                    <a:p>
                      <a:pPr marL="0" marR="0">
                        <a:lnSpc>
                          <a:spcPct val="110000"/>
                        </a:lnSpc>
                        <a:spcAft>
                          <a:spcPts val="600"/>
                        </a:spcAft>
                        <a:buNone/>
                      </a:pPr>
                      <a:r>
                        <a:rPr lang="en-US" sz="1800">
                          <a:effectLst/>
                        </a:rPr>
                        <a:t>Run FastAPI backend</a:t>
                      </a:r>
                      <a:endParaRPr lang="en-US" sz="18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800" dirty="0">
                          <a:effectLst/>
                        </a:rPr>
                        <a:t>python3 -m </a:t>
                      </a:r>
                      <a:r>
                        <a:rPr lang="en-US" sz="1800" dirty="0" err="1">
                          <a:effectLst/>
                        </a:rPr>
                        <a:t>uvicorn</a:t>
                      </a:r>
                      <a:r>
                        <a:rPr lang="en-US" sz="1800" dirty="0">
                          <a:effectLst/>
                        </a:rPr>
                        <a:t> </a:t>
                      </a:r>
                      <a:r>
                        <a:rPr lang="en-US" sz="1800" dirty="0" err="1">
                          <a:effectLst/>
                        </a:rPr>
                        <a:t>src.api:app</a:t>
                      </a:r>
                      <a:r>
                        <a:rPr lang="en-US" sz="1800" dirty="0">
                          <a:effectLst/>
                        </a:rPr>
                        <a:t> --reload</a:t>
                      </a:r>
                      <a:endParaRPr lang="en-US" sz="18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2626194659"/>
                  </a:ext>
                </a:extLst>
              </a:tr>
            </a:tbl>
          </a:graphicData>
        </a:graphic>
      </p:graphicFrame>
    </p:spTree>
    <p:extLst>
      <p:ext uri="{BB962C8B-B14F-4D97-AF65-F5344CB8AC3E}">
        <p14:creationId xmlns:p14="http://schemas.microsoft.com/office/powerpoint/2010/main" val="15125103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57507" y="566928"/>
            <a:ext cx="10058400" cy="292608"/>
          </a:xfrm>
          <a:prstGeom prst="rect">
            <a:avLst/>
          </a:prstGeom>
          <a:noFill/>
          <a:ln/>
        </p:spPr>
        <p:txBody>
          <a:bodyPr wrap="square" rtlCol="0" anchor="ctr"/>
          <a:lstStyle/>
          <a:p>
            <a:pPr marL="0" indent="0">
              <a:buNone/>
            </a:pPr>
            <a:r>
              <a:rPr lang="en-US" b="1" kern="0" spc="200" dirty="0">
                <a:solidFill>
                  <a:srgbClr val="00A896"/>
                </a:solidFill>
                <a:latin typeface="Calibri" pitchFamily="34" charset="0"/>
                <a:ea typeface="Calibri" pitchFamily="34" charset="-122"/>
                <a:cs typeface="Calibri" pitchFamily="34" charset="-120"/>
              </a:rPr>
              <a:t>STACK</a:t>
            </a:r>
            <a:endParaRPr lang="en-US" dirty="0"/>
          </a:p>
        </p:txBody>
      </p:sp>
      <p:sp>
        <p:nvSpPr>
          <p:cNvPr id="3" name="Text 1"/>
          <p:cNvSpPr/>
          <p:nvPr/>
        </p:nvSpPr>
        <p:spPr>
          <a:xfrm>
            <a:off x="502920" y="854964"/>
            <a:ext cx="11064240" cy="658368"/>
          </a:xfrm>
          <a:prstGeom prst="rect">
            <a:avLst/>
          </a:prstGeom>
          <a:noFill/>
          <a:ln/>
        </p:spPr>
        <p:txBody>
          <a:bodyPr wrap="square" rtlCol="0" anchor="ctr"/>
          <a:lstStyle/>
          <a:p>
            <a:pPr marL="0" indent="0">
              <a:buNone/>
            </a:pPr>
            <a:r>
              <a:rPr lang="en-US" b="1" dirty="0">
                <a:solidFill>
                  <a:srgbClr val="0B2B2E"/>
                </a:solidFill>
                <a:latin typeface="Cambria" pitchFamily="34" charset="0"/>
                <a:ea typeface="Cambria" pitchFamily="34" charset="-122"/>
                <a:cs typeface="Cambria" pitchFamily="34" charset="-120"/>
              </a:rPr>
              <a:t>Technology Stack</a:t>
            </a:r>
            <a:endParaRPr lang="en-US" dirty="0"/>
          </a:p>
        </p:txBody>
      </p:sp>
      <p:sp>
        <p:nvSpPr>
          <p:cNvPr id="4" name="Shape 2"/>
          <p:cNvSpPr/>
          <p:nvPr/>
        </p:nvSpPr>
        <p:spPr>
          <a:xfrm>
            <a:off x="548640" y="1645920"/>
            <a:ext cx="2121408" cy="4206240"/>
          </a:xfrm>
          <a:prstGeom prst="roundRect">
            <a:avLst>
              <a:gd name="adj" fmla="val 3879"/>
            </a:avLst>
          </a:prstGeom>
          <a:solidFill>
            <a:srgbClr val="F3F8F8"/>
          </a:solidFill>
          <a:ln w="12700">
            <a:solidFill>
              <a:srgbClr val="DCEBEA"/>
            </a:solidFill>
            <a:prstDash val="solid"/>
          </a:ln>
        </p:spPr>
        <p:txBody>
          <a:bodyPr/>
          <a:lstStyle/>
          <a:p>
            <a:endParaRPr lang="en-US"/>
          </a:p>
        </p:txBody>
      </p:sp>
      <p:sp>
        <p:nvSpPr>
          <p:cNvPr id="5" name="Text 3"/>
          <p:cNvSpPr/>
          <p:nvPr/>
        </p:nvSpPr>
        <p:spPr>
          <a:xfrm>
            <a:off x="731520" y="1920240"/>
            <a:ext cx="1755648" cy="685800"/>
          </a:xfrm>
          <a:prstGeom prst="rect">
            <a:avLst/>
          </a:prstGeom>
          <a:noFill/>
          <a:ln/>
        </p:spPr>
        <p:txBody>
          <a:bodyPr wrap="square" rtlCol="0" anchor="ctr"/>
          <a:lstStyle/>
          <a:p>
            <a:pPr marL="0" indent="0">
              <a:lnSpc>
                <a:spcPct val="110000"/>
              </a:lnSpc>
              <a:buNone/>
            </a:pPr>
            <a:r>
              <a:rPr lang="en-US" b="1" kern="0" spc="50" dirty="0">
                <a:solidFill>
                  <a:srgbClr val="5C7A7D"/>
                </a:solidFill>
                <a:latin typeface="Calibri" pitchFamily="34" charset="0"/>
                <a:ea typeface="Calibri" pitchFamily="34" charset="-122"/>
                <a:cs typeface="Calibri" pitchFamily="34" charset="-120"/>
              </a:rPr>
              <a:t>DATABASE</a:t>
            </a:r>
            <a:endParaRPr lang="en-US" dirty="0"/>
          </a:p>
        </p:txBody>
      </p:sp>
      <p:sp>
        <p:nvSpPr>
          <p:cNvPr id="6" name="Shape 4"/>
          <p:cNvSpPr/>
          <p:nvPr/>
        </p:nvSpPr>
        <p:spPr>
          <a:xfrm>
            <a:off x="731520" y="2752344"/>
            <a:ext cx="82296" cy="82296"/>
          </a:xfrm>
          <a:prstGeom prst="ellipse">
            <a:avLst/>
          </a:prstGeom>
          <a:solidFill>
            <a:srgbClr val="028090"/>
          </a:solidFill>
          <a:ln/>
        </p:spPr>
        <p:txBody>
          <a:bodyPr/>
          <a:lstStyle/>
          <a:p>
            <a:endParaRPr lang="en-US"/>
          </a:p>
        </p:txBody>
      </p:sp>
      <p:sp>
        <p:nvSpPr>
          <p:cNvPr id="7" name="Text 5"/>
          <p:cNvSpPr/>
          <p:nvPr/>
        </p:nvSpPr>
        <p:spPr>
          <a:xfrm>
            <a:off x="914400" y="2606040"/>
            <a:ext cx="1572768" cy="384048"/>
          </a:xfrm>
          <a:prstGeom prst="rect">
            <a:avLst/>
          </a:prstGeom>
          <a:noFill/>
          <a:ln/>
        </p:spPr>
        <p:txBody>
          <a:bodyPr wrap="square" rtlCol="0" anchor="ctr"/>
          <a:lstStyle/>
          <a:p>
            <a:pPr marL="0" indent="0">
              <a:lnSpc>
                <a:spcPct val="110000"/>
              </a:lnSpc>
              <a:buNone/>
            </a:pPr>
            <a:r>
              <a:rPr lang="en-US" b="1" dirty="0">
                <a:solidFill>
                  <a:srgbClr val="0B2B2E"/>
                </a:solidFill>
                <a:latin typeface="Calibri" pitchFamily="34" charset="0"/>
                <a:ea typeface="Calibri" pitchFamily="34" charset="-122"/>
                <a:cs typeface="Calibri" pitchFamily="34" charset="-120"/>
              </a:rPr>
              <a:t>MySQL</a:t>
            </a:r>
            <a:endParaRPr lang="en-US" dirty="0"/>
          </a:p>
        </p:txBody>
      </p:sp>
      <p:sp>
        <p:nvSpPr>
          <p:cNvPr id="8" name="Shape 6"/>
          <p:cNvSpPr/>
          <p:nvPr/>
        </p:nvSpPr>
        <p:spPr>
          <a:xfrm>
            <a:off x="2807208" y="1645920"/>
            <a:ext cx="2121408" cy="4206240"/>
          </a:xfrm>
          <a:prstGeom prst="roundRect">
            <a:avLst>
              <a:gd name="adj" fmla="val 3879"/>
            </a:avLst>
          </a:prstGeom>
          <a:solidFill>
            <a:srgbClr val="F3F8F8"/>
          </a:solidFill>
          <a:ln w="12700">
            <a:solidFill>
              <a:srgbClr val="DCEBEA"/>
            </a:solidFill>
            <a:prstDash val="solid"/>
          </a:ln>
        </p:spPr>
        <p:txBody>
          <a:bodyPr/>
          <a:lstStyle/>
          <a:p>
            <a:endParaRPr lang="en-US"/>
          </a:p>
        </p:txBody>
      </p:sp>
      <p:sp>
        <p:nvSpPr>
          <p:cNvPr id="9" name="Text 7"/>
          <p:cNvSpPr/>
          <p:nvPr/>
        </p:nvSpPr>
        <p:spPr>
          <a:xfrm>
            <a:off x="2990088" y="1920240"/>
            <a:ext cx="1755648" cy="685800"/>
          </a:xfrm>
          <a:prstGeom prst="rect">
            <a:avLst/>
          </a:prstGeom>
          <a:noFill/>
          <a:ln/>
        </p:spPr>
        <p:txBody>
          <a:bodyPr wrap="square" rtlCol="0" anchor="ctr"/>
          <a:lstStyle/>
          <a:p>
            <a:pPr marL="0" indent="0">
              <a:lnSpc>
                <a:spcPct val="110000"/>
              </a:lnSpc>
              <a:buNone/>
            </a:pPr>
            <a:r>
              <a:rPr lang="en-US" b="1" kern="0" spc="50" dirty="0">
                <a:solidFill>
                  <a:srgbClr val="5C7A7D"/>
                </a:solidFill>
                <a:latin typeface="Calibri" pitchFamily="34" charset="0"/>
                <a:ea typeface="Calibri" pitchFamily="34" charset="-122"/>
                <a:cs typeface="Calibri" pitchFamily="34" charset="-120"/>
              </a:rPr>
              <a:t>BACKEND</a:t>
            </a:r>
            <a:endParaRPr lang="en-US" dirty="0"/>
          </a:p>
        </p:txBody>
      </p:sp>
      <p:sp>
        <p:nvSpPr>
          <p:cNvPr id="10" name="Shape 8"/>
          <p:cNvSpPr/>
          <p:nvPr/>
        </p:nvSpPr>
        <p:spPr>
          <a:xfrm>
            <a:off x="2990088" y="2752344"/>
            <a:ext cx="82296" cy="82296"/>
          </a:xfrm>
          <a:prstGeom prst="ellipse">
            <a:avLst/>
          </a:prstGeom>
          <a:solidFill>
            <a:srgbClr val="028090"/>
          </a:solidFill>
          <a:ln/>
        </p:spPr>
        <p:txBody>
          <a:bodyPr/>
          <a:lstStyle/>
          <a:p>
            <a:endParaRPr lang="en-US"/>
          </a:p>
        </p:txBody>
      </p:sp>
      <p:sp>
        <p:nvSpPr>
          <p:cNvPr id="11" name="Text 9"/>
          <p:cNvSpPr/>
          <p:nvPr/>
        </p:nvSpPr>
        <p:spPr>
          <a:xfrm>
            <a:off x="3172968" y="2606040"/>
            <a:ext cx="1572768" cy="384048"/>
          </a:xfrm>
          <a:prstGeom prst="rect">
            <a:avLst/>
          </a:prstGeom>
          <a:noFill/>
          <a:ln/>
        </p:spPr>
        <p:txBody>
          <a:bodyPr wrap="square" rtlCol="0" anchor="ctr"/>
          <a:lstStyle/>
          <a:p>
            <a:pPr marL="0" indent="0">
              <a:lnSpc>
                <a:spcPct val="110000"/>
              </a:lnSpc>
              <a:buNone/>
            </a:pPr>
            <a:r>
              <a:rPr lang="en-US" b="1" dirty="0">
                <a:solidFill>
                  <a:srgbClr val="0B2B2E"/>
                </a:solidFill>
                <a:latin typeface="Calibri" pitchFamily="34" charset="0"/>
                <a:ea typeface="Calibri" pitchFamily="34" charset="-122"/>
                <a:cs typeface="Calibri" pitchFamily="34" charset="-120"/>
              </a:rPr>
              <a:t>Python</a:t>
            </a:r>
            <a:endParaRPr lang="en-US" dirty="0"/>
          </a:p>
        </p:txBody>
      </p:sp>
      <p:sp>
        <p:nvSpPr>
          <p:cNvPr id="12" name="Shape 10"/>
          <p:cNvSpPr/>
          <p:nvPr/>
        </p:nvSpPr>
        <p:spPr>
          <a:xfrm>
            <a:off x="2990088" y="3255264"/>
            <a:ext cx="82296" cy="82296"/>
          </a:xfrm>
          <a:prstGeom prst="ellipse">
            <a:avLst/>
          </a:prstGeom>
          <a:solidFill>
            <a:srgbClr val="028090"/>
          </a:solidFill>
          <a:ln/>
        </p:spPr>
        <p:txBody>
          <a:bodyPr/>
          <a:lstStyle/>
          <a:p>
            <a:endParaRPr lang="en-US"/>
          </a:p>
        </p:txBody>
      </p:sp>
      <p:sp>
        <p:nvSpPr>
          <p:cNvPr id="13" name="Text 11"/>
          <p:cNvSpPr/>
          <p:nvPr/>
        </p:nvSpPr>
        <p:spPr>
          <a:xfrm>
            <a:off x="3172968" y="3108960"/>
            <a:ext cx="1572768" cy="384048"/>
          </a:xfrm>
          <a:prstGeom prst="rect">
            <a:avLst/>
          </a:prstGeom>
          <a:noFill/>
          <a:ln/>
        </p:spPr>
        <p:txBody>
          <a:bodyPr wrap="square" rtlCol="0" anchor="ctr"/>
          <a:lstStyle/>
          <a:p>
            <a:pPr marL="0" indent="0">
              <a:lnSpc>
                <a:spcPct val="110000"/>
              </a:lnSpc>
              <a:buNone/>
            </a:pPr>
            <a:r>
              <a:rPr lang="en-US" b="1" dirty="0">
                <a:solidFill>
                  <a:srgbClr val="0B2B2E"/>
                </a:solidFill>
                <a:latin typeface="Calibri" pitchFamily="34" charset="0"/>
                <a:ea typeface="Calibri" pitchFamily="34" charset="-122"/>
                <a:cs typeface="Calibri" pitchFamily="34" charset="-120"/>
              </a:rPr>
              <a:t>FastAPI</a:t>
            </a:r>
            <a:endParaRPr lang="en-US" dirty="0"/>
          </a:p>
        </p:txBody>
      </p:sp>
      <p:sp>
        <p:nvSpPr>
          <p:cNvPr id="14" name="Shape 12"/>
          <p:cNvSpPr/>
          <p:nvPr/>
        </p:nvSpPr>
        <p:spPr>
          <a:xfrm>
            <a:off x="2990088" y="3758184"/>
            <a:ext cx="82296" cy="82296"/>
          </a:xfrm>
          <a:prstGeom prst="ellipse">
            <a:avLst/>
          </a:prstGeom>
          <a:solidFill>
            <a:srgbClr val="028090"/>
          </a:solidFill>
          <a:ln/>
        </p:spPr>
        <p:txBody>
          <a:bodyPr/>
          <a:lstStyle/>
          <a:p>
            <a:endParaRPr lang="en-US"/>
          </a:p>
        </p:txBody>
      </p:sp>
      <p:sp>
        <p:nvSpPr>
          <p:cNvPr id="15" name="Text 13"/>
          <p:cNvSpPr/>
          <p:nvPr/>
        </p:nvSpPr>
        <p:spPr>
          <a:xfrm>
            <a:off x="3172968" y="3611880"/>
            <a:ext cx="1572768" cy="384048"/>
          </a:xfrm>
          <a:prstGeom prst="rect">
            <a:avLst/>
          </a:prstGeom>
          <a:noFill/>
          <a:ln/>
        </p:spPr>
        <p:txBody>
          <a:bodyPr wrap="square" rtlCol="0" anchor="ctr"/>
          <a:lstStyle/>
          <a:p>
            <a:pPr marL="0" indent="0">
              <a:lnSpc>
                <a:spcPct val="110000"/>
              </a:lnSpc>
              <a:buNone/>
            </a:pPr>
            <a:r>
              <a:rPr lang="en-US" b="1" dirty="0">
                <a:solidFill>
                  <a:srgbClr val="0B2B2E"/>
                </a:solidFill>
                <a:latin typeface="Calibri" pitchFamily="34" charset="0"/>
                <a:ea typeface="Calibri" pitchFamily="34" charset="-122"/>
                <a:cs typeface="Calibri" pitchFamily="34" charset="-120"/>
              </a:rPr>
              <a:t>Uvicorn</a:t>
            </a:r>
            <a:endParaRPr lang="en-US" dirty="0"/>
          </a:p>
        </p:txBody>
      </p:sp>
      <p:sp>
        <p:nvSpPr>
          <p:cNvPr id="16" name="Shape 14"/>
          <p:cNvSpPr/>
          <p:nvPr/>
        </p:nvSpPr>
        <p:spPr>
          <a:xfrm>
            <a:off x="5065776" y="1645920"/>
            <a:ext cx="2121408" cy="4206240"/>
          </a:xfrm>
          <a:prstGeom prst="roundRect">
            <a:avLst>
              <a:gd name="adj" fmla="val 3879"/>
            </a:avLst>
          </a:prstGeom>
          <a:solidFill>
            <a:srgbClr val="028090"/>
          </a:solidFill>
          <a:ln w="12700">
            <a:solidFill>
              <a:srgbClr val="DCEBEA"/>
            </a:solidFill>
            <a:prstDash val="solid"/>
          </a:ln>
        </p:spPr>
        <p:txBody>
          <a:bodyPr/>
          <a:lstStyle/>
          <a:p>
            <a:endParaRPr lang="en-US"/>
          </a:p>
        </p:txBody>
      </p:sp>
      <p:sp>
        <p:nvSpPr>
          <p:cNvPr id="17" name="Text 15"/>
          <p:cNvSpPr/>
          <p:nvPr/>
        </p:nvSpPr>
        <p:spPr>
          <a:xfrm>
            <a:off x="5248656" y="1920240"/>
            <a:ext cx="1755648" cy="685800"/>
          </a:xfrm>
          <a:prstGeom prst="rect">
            <a:avLst/>
          </a:prstGeom>
          <a:noFill/>
          <a:ln/>
        </p:spPr>
        <p:txBody>
          <a:bodyPr wrap="square" rtlCol="0" anchor="ctr"/>
          <a:lstStyle/>
          <a:p>
            <a:pPr marL="0" indent="0">
              <a:lnSpc>
                <a:spcPct val="110000"/>
              </a:lnSpc>
              <a:buNone/>
            </a:pPr>
            <a:r>
              <a:rPr lang="en-US" b="1" kern="0" spc="50" dirty="0">
                <a:solidFill>
                  <a:srgbClr val="BFEDE8"/>
                </a:solidFill>
                <a:latin typeface="Calibri" pitchFamily="34" charset="0"/>
                <a:ea typeface="Calibri" pitchFamily="34" charset="-122"/>
                <a:cs typeface="Calibri" pitchFamily="34" charset="-120"/>
              </a:rPr>
              <a:t>MACHINE LEARNING</a:t>
            </a:r>
            <a:endParaRPr lang="en-US" dirty="0"/>
          </a:p>
        </p:txBody>
      </p:sp>
      <p:sp>
        <p:nvSpPr>
          <p:cNvPr id="18" name="Shape 16"/>
          <p:cNvSpPr/>
          <p:nvPr/>
        </p:nvSpPr>
        <p:spPr>
          <a:xfrm>
            <a:off x="5248656" y="2752344"/>
            <a:ext cx="82296" cy="82296"/>
          </a:xfrm>
          <a:prstGeom prst="ellipse">
            <a:avLst/>
          </a:prstGeom>
          <a:solidFill>
            <a:srgbClr val="02C39A"/>
          </a:solidFill>
          <a:ln/>
        </p:spPr>
        <p:txBody>
          <a:bodyPr/>
          <a:lstStyle/>
          <a:p>
            <a:endParaRPr lang="en-US"/>
          </a:p>
        </p:txBody>
      </p:sp>
      <p:sp>
        <p:nvSpPr>
          <p:cNvPr id="19" name="Text 17"/>
          <p:cNvSpPr/>
          <p:nvPr/>
        </p:nvSpPr>
        <p:spPr>
          <a:xfrm>
            <a:off x="5431536" y="2606040"/>
            <a:ext cx="1572768" cy="384048"/>
          </a:xfrm>
          <a:prstGeom prst="rect">
            <a:avLst/>
          </a:prstGeom>
          <a:noFill/>
          <a:ln/>
        </p:spPr>
        <p:txBody>
          <a:bodyPr wrap="square" rtlCol="0" anchor="ctr"/>
          <a:lstStyle/>
          <a:p>
            <a:pPr marL="0" indent="0">
              <a:lnSpc>
                <a:spcPct val="110000"/>
              </a:lnSpc>
              <a:buNone/>
            </a:pPr>
            <a:r>
              <a:rPr lang="en-US" b="1" dirty="0">
                <a:solidFill>
                  <a:srgbClr val="FFFFFF"/>
                </a:solidFill>
                <a:latin typeface="Calibri" pitchFamily="34" charset="0"/>
                <a:ea typeface="Calibri" pitchFamily="34" charset="-122"/>
                <a:cs typeface="Calibri" pitchFamily="34" charset="-120"/>
              </a:rPr>
              <a:t>Scikit-learn</a:t>
            </a:r>
            <a:endParaRPr lang="en-US" dirty="0"/>
          </a:p>
        </p:txBody>
      </p:sp>
      <p:sp>
        <p:nvSpPr>
          <p:cNvPr id="20" name="Shape 18"/>
          <p:cNvSpPr/>
          <p:nvPr/>
        </p:nvSpPr>
        <p:spPr>
          <a:xfrm>
            <a:off x="5248656" y="3255264"/>
            <a:ext cx="82296" cy="82296"/>
          </a:xfrm>
          <a:prstGeom prst="ellipse">
            <a:avLst/>
          </a:prstGeom>
          <a:solidFill>
            <a:srgbClr val="02C39A"/>
          </a:solidFill>
          <a:ln/>
        </p:spPr>
        <p:txBody>
          <a:bodyPr/>
          <a:lstStyle/>
          <a:p>
            <a:endParaRPr lang="en-US"/>
          </a:p>
        </p:txBody>
      </p:sp>
      <p:sp>
        <p:nvSpPr>
          <p:cNvPr id="21" name="Text 19"/>
          <p:cNvSpPr/>
          <p:nvPr/>
        </p:nvSpPr>
        <p:spPr>
          <a:xfrm>
            <a:off x="5431536" y="3108960"/>
            <a:ext cx="1572768" cy="384048"/>
          </a:xfrm>
          <a:prstGeom prst="rect">
            <a:avLst/>
          </a:prstGeom>
          <a:noFill/>
          <a:ln/>
        </p:spPr>
        <p:txBody>
          <a:bodyPr wrap="square" rtlCol="0" anchor="ctr"/>
          <a:lstStyle/>
          <a:p>
            <a:pPr marL="0" indent="0">
              <a:lnSpc>
                <a:spcPct val="110000"/>
              </a:lnSpc>
              <a:buNone/>
            </a:pPr>
            <a:r>
              <a:rPr lang="en-US" b="1" dirty="0">
                <a:solidFill>
                  <a:srgbClr val="FFFFFF"/>
                </a:solidFill>
                <a:latin typeface="Calibri" pitchFamily="34" charset="0"/>
                <a:ea typeface="Calibri" pitchFamily="34" charset="-122"/>
                <a:cs typeface="Calibri" pitchFamily="34" charset="-120"/>
              </a:rPr>
              <a:t>NumPy</a:t>
            </a:r>
            <a:endParaRPr lang="en-US" dirty="0"/>
          </a:p>
        </p:txBody>
      </p:sp>
      <p:sp>
        <p:nvSpPr>
          <p:cNvPr id="22" name="Shape 20"/>
          <p:cNvSpPr/>
          <p:nvPr/>
        </p:nvSpPr>
        <p:spPr>
          <a:xfrm>
            <a:off x="5248656" y="3758184"/>
            <a:ext cx="82296" cy="82296"/>
          </a:xfrm>
          <a:prstGeom prst="ellipse">
            <a:avLst/>
          </a:prstGeom>
          <a:solidFill>
            <a:srgbClr val="02C39A"/>
          </a:solidFill>
          <a:ln/>
        </p:spPr>
        <p:txBody>
          <a:bodyPr/>
          <a:lstStyle/>
          <a:p>
            <a:endParaRPr lang="en-US"/>
          </a:p>
        </p:txBody>
      </p:sp>
      <p:sp>
        <p:nvSpPr>
          <p:cNvPr id="23" name="Text 21"/>
          <p:cNvSpPr/>
          <p:nvPr/>
        </p:nvSpPr>
        <p:spPr>
          <a:xfrm>
            <a:off x="5431536" y="3611880"/>
            <a:ext cx="1572768" cy="384048"/>
          </a:xfrm>
          <a:prstGeom prst="rect">
            <a:avLst/>
          </a:prstGeom>
          <a:noFill/>
          <a:ln/>
        </p:spPr>
        <p:txBody>
          <a:bodyPr wrap="square" rtlCol="0" anchor="ctr"/>
          <a:lstStyle/>
          <a:p>
            <a:pPr marL="0" indent="0">
              <a:lnSpc>
                <a:spcPct val="110000"/>
              </a:lnSpc>
              <a:buNone/>
            </a:pPr>
            <a:r>
              <a:rPr lang="en-US" b="1" dirty="0">
                <a:solidFill>
                  <a:srgbClr val="FFFFFF"/>
                </a:solidFill>
                <a:latin typeface="Calibri" pitchFamily="34" charset="0"/>
                <a:ea typeface="Calibri" pitchFamily="34" charset="-122"/>
                <a:cs typeface="Calibri" pitchFamily="34" charset="-120"/>
              </a:rPr>
              <a:t>Pandas</a:t>
            </a:r>
            <a:endParaRPr lang="en-US" dirty="0"/>
          </a:p>
        </p:txBody>
      </p:sp>
      <p:sp>
        <p:nvSpPr>
          <p:cNvPr id="24" name="Shape 22"/>
          <p:cNvSpPr/>
          <p:nvPr/>
        </p:nvSpPr>
        <p:spPr>
          <a:xfrm>
            <a:off x="5248656" y="4261104"/>
            <a:ext cx="82296" cy="82296"/>
          </a:xfrm>
          <a:prstGeom prst="ellipse">
            <a:avLst/>
          </a:prstGeom>
          <a:solidFill>
            <a:srgbClr val="02C39A"/>
          </a:solidFill>
          <a:ln/>
        </p:spPr>
        <p:txBody>
          <a:bodyPr/>
          <a:lstStyle/>
          <a:p>
            <a:endParaRPr lang="en-US"/>
          </a:p>
        </p:txBody>
      </p:sp>
      <p:sp>
        <p:nvSpPr>
          <p:cNvPr id="25" name="Text 23"/>
          <p:cNvSpPr/>
          <p:nvPr/>
        </p:nvSpPr>
        <p:spPr>
          <a:xfrm>
            <a:off x="5431536" y="4114800"/>
            <a:ext cx="1572768" cy="384048"/>
          </a:xfrm>
          <a:prstGeom prst="rect">
            <a:avLst/>
          </a:prstGeom>
          <a:noFill/>
          <a:ln/>
        </p:spPr>
        <p:txBody>
          <a:bodyPr wrap="square" rtlCol="0" anchor="ctr"/>
          <a:lstStyle/>
          <a:p>
            <a:pPr marL="0" indent="0">
              <a:lnSpc>
                <a:spcPct val="110000"/>
              </a:lnSpc>
              <a:buNone/>
            </a:pPr>
            <a:r>
              <a:rPr lang="en-US" b="1" dirty="0">
                <a:solidFill>
                  <a:srgbClr val="FFFFFF"/>
                </a:solidFill>
                <a:latin typeface="Calibri" pitchFamily="34" charset="0"/>
                <a:ea typeface="Calibri" pitchFamily="34" charset="-122"/>
                <a:cs typeface="Calibri" pitchFamily="34" charset="-120"/>
              </a:rPr>
              <a:t>Joblib</a:t>
            </a:r>
            <a:endParaRPr lang="en-US" dirty="0"/>
          </a:p>
        </p:txBody>
      </p:sp>
      <p:sp>
        <p:nvSpPr>
          <p:cNvPr id="26" name="Shape 24"/>
          <p:cNvSpPr/>
          <p:nvPr/>
        </p:nvSpPr>
        <p:spPr>
          <a:xfrm>
            <a:off x="7324344" y="1645920"/>
            <a:ext cx="2121408" cy="4206240"/>
          </a:xfrm>
          <a:prstGeom prst="roundRect">
            <a:avLst>
              <a:gd name="adj" fmla="val 3879"/>
            </a:avLst>
          </a:prstGeom>
          <a:solidFill>
            <a:srgbClr val="F3F8F8"/>
          </a:solidFill>
          <a:ln w="12700">
            <a:solidFill>
              <a:srgbClr val="DCEBEA"/>
            </a:solidFill>
            <a:prstDash val="solid"/>
          </a:ln>
        </p:spPr>
        <p:txBody>
          <a:bodyPr/>
          <a:lstStyle/>
          <a:p>
            <a:endParaRPr lang="en-US"/>
          </a:p>
        </p:txBody>
      </p:sp>
      <p:sp>
        <p:nvSpPr>
          <p:cNvPr id="27" name="Text 25"/>
          <p:cNvSpPr/>
          <p:nvPr/>
        </p:nvSpPr>
        <p:spPr>
          <a:xfrm>
            <a:off x="7507224" y="1920240"/>
            <a:ext cx="1755648" cy="685800"/>
          </a:xfrm>
          <a:prstGeom prst="rect">
            <a:avLst/>
          </a:prstGeom>
          <a:noFill/>
          <a:ln/>
        </p:spPr>
        <p:txBody>
          <a:bodyPr wrap="square" rtlCol="0" anchor="ctr"/>
          <a:lstStyle/>
          <a:p>
            <a:pPr marL="0" indent="0">
              <a:lnSpc>
                <a:spcPct val="110000"/>
              </a:lnSpc>
              <a:buNone/>
            </a:pPr>
            <a:r>
              <a:rPr lang="en-US" b="1" kern="0" spc="50" dirty="0">
                <a:solidFill>
                  <a:srgbClr val="5C7A7D"/>
                </a:solidFill>
                <a:latin typeface="Calibri" pitchFamily="34" charset="0"/>
                <a:ea typeface="Calibri" pitchFamily="34" charset="-122"/>
                <a:cs typeface="Calibri" pitchFamily="34" charset="-120"/>
              </a:rPr>
              <a:t>FRONTEND / VISUALIZATION</a:t>
            </a:r>
            <a:endParaRPr lang="en-US" dirty="0"/>
          </a:p>
        </p:txBody>
      </p:sp>
      <p:sp>
        <p:nvSpPr>
          <p:cNvPr id="28" name="Shape 26"/>
          <p:cNvSpPr/>
          <p:nvPr/>
        </p:nvSpPr>
        <p:spPr>
          <a:xfrm>
            <a:off x="7507224" y="2752344"/>
            <a:ext cx="82296" cy="82296"/>
          </a:xfrm>
          <a:prstGeom prst="ellipse">
            <a:avLst/>
          </a:prstGeom>
          <a:solidFill>
            <a:srgbClr val="028090"/>
          </a:solidFill>
          <a:ln/>
        </p:spPr>
        <p:txBody>
          <a:bodyPr/>
          <a:lstStyle/>
          <a:p>
            <a:endParaRPr lang="en-US"/>
          </a:p>
        </p:txBody>
      </p:sp>
      <p:sp>
        <p:nvSpPr>
          <p:cNvPr id="29" name="Text 27"/>
          <p:cNvSpPr/>
          <p:nvPr/>
        </p:nvSpPr>
        <p:spPr>
          <a:xfrm>
            <a:off x="7690104" y="2606040"/>
            <a:ext cx="1572768" cy="384048"/>
          </a:xfrm>
          <a:prstGeom prst="rect">
            <a:avLst/>
          </a:prstGeom>
          <a:noFill/>
          <a:ln/>
        </p:spPr>
        <p:txBody>
          <a:bodyPr wrap="square" rtlCol="0" anchor="ctr"/>
          <a:lstStyle/>
          <a:p>
            <a:pPr marL="0" indent="0">
              <a:lnSpc>
                <a:spcPct val="110000"/>
              </a:lnSpc>
              <a:buNone/>
            </a:pPr>
            <a:r>
              <a:rPr lang="en-US" b="1" dirty="0">
                <a:solidFill>
                  <a:srgbClr val="0B2B2E"/>
                </a:solidFill>
                <a:latin typeface="Calibri" pitchFamily="34" charset="0"/>
                <a:ea typeface="Calibri" pitchFamily="34" charset="-122"/>
                <a:cs typeface="Calibri" pitchFamily="34" charset="-120"/>
              </a:rPr>
              <a:t>Streamlit</a:t>
            </a:r>
            <a:endParaRPr lang="en-US" dirty="0"/>
          </a:p>
        </p:txBody>
      </p:sp>
      <p:sp>
        <p:nvSpPr>
          <p:cNvPr id="30" name="Shape 28"/>
          <p:cNvSpPr/>
          <p:nvPr/>
        </p:nvSpPr>
        <p:spPr>
          <a:xfrm>
            <a:off x="7507224" y="3255264"/>
            <a:ext cx="82296" cy="82296"/>
          </a:xfrm>
          <a:prstGeom prst="ellipse">
            <a:avLst/>
          </a:prstGeom>
          <a:solidFill>
            <a:srgbClr val="028090"/>
          </a:solidFill>
          <a:ln/>
        </p:spPr>
        <p:txBody>
          <a:bodyPr/>
          <a:lstStyle/>
          <a:p>
            <a:endParaRPr lang="en-US"/>
          </a:p>
        </p:txBody>
      </p:sp>
      <p:sp>
        <p:nvSpPr>
          <p:cNvPr id="31" name="Text 29"/>
          <p:cNvSpPr/>
          <p:nvPr/>
        </p:nvSpPr>
        <p:spPr>
          <a:xfrm>
            <a:off x="7690104" y="3108960"/>
            <a:ext cx="1572768" cy="384048"/>
          </a:xfrm>
          <a:prstGeom prst="rect">
            <a:avLst/>
          </a:prstGeom>
          <a:noFill/>
          <a:ln/>
        </p:spPr>
        <p:txBody>
          <a:bodyPr wrap="square" rtlCol="0" anchor="ctr"/>
          <a:lstStyle/>
          <a:p>
            <a:pPr marL="0" indent="0">
              <a:lnSpc>
                <a:spcPct val="110000"/>
              </a:lnSpc>
              <a:buNone/>
            </a:pPr>
            <a:r>
              <a:rPr lang="en-US" b="1" dirty="0">
                <a:solidFill>
                  <a:srgbClr val="0B2B2E"/>
                </a:solidFill>
                <a:latin typeface="Calibri" pitchFamily="34" charset="0"/>
                <a:ea typeface="Calibri" pitchFamily="34" charset="-122"/>
                <a:cs typeface="Calibri" pitchFamily="34" charset="-120"/>
              </a:rPr>
              <a:t>Matplotlib / Plotly</a:t>
            </a:r>
            <a:endParaRPr lang="en-US" dirty="0"/>
          </a:p>
        </p:txBody>
      </p:sp>
      <p:sp>
        <p:nvSpPr>
          <p:cNvPr id="32" name="Shape 30"/>
          <p:cNvSpPr/>
          <p:nvPr/>
        </p:nvSpPr>
        <p:spPr>
          <a:xfrm>
            <a:off x="9582912" y="1645920"/>
            <a:ext cx="2121408" cy="4206240"/>
          </a:xfrm>
          <a:prstGeom prst="roundRect">
            <a:avLst>
              <a:gd name="adj" fmla="val 3879"/>
            </a:avLst>
          </a:prstGeom>
          <a:solidFill>
            <a:srgbClr val="F3F8F8"/>
          </a:solidFill>
          <a:ln w="12700">
            <a:solidFill>
              <a:srgbClr val="DCEBEA"/>
            </a:solidFill>
            <a:prstDash val="solid"/>
          </a:ln>
        </p:spPr>
        <p:txBody>
          <a:bodyPr/>
          <a:lstStyle/>
          <a:p>
            <a:endParaRPr lang="en-US"/>
          </a:p>
        </p:txBody>
      </p:sp>
      <p:sp>
        <p:nvSpPr>
          <p:cNvPr id="33" name="Text 31"/>
          <p:cNvSpPr/>
          <p:nvPr/>
        </p:nvSpPr>
        <p:spPr>
          <a:xfrm>
            <a:off x="9765792" y="1920240"/>
            <a:ext cx="1755648" cy="685800"/>
          </a:xfrm>
          <a:prstGeom prst="rect">
            <a:avLst/>
          </a:prstGeom>
          <a:noFill/>
          <a:ln/>
        </p:spPr>
        <p:txBody>
          <a:bodyPr wrap="square" rtlCol="0" anchor="ctr"/>
          <a:lstStyle/>
          <a:p>
            <a:pPr marL="0" indent="0">
              <a:lnSpc>
                <a:spcPct val="110000"/>
              </a:lnSpc>
              <a:buNone/>
            </a:pPr>
            <a:r>
              <a:rPr lang="en-US" b="1" kern="0" spc="50" dirty="0">
                <a:solidFill>
                  <a:srgbClr val="5C7A7D"/>
                </a:solidFill>
                <a:latin typeface="Calibri" pitchFamily="34" charset="0"/>
                <a:ea typeface="Calibri" pitchFamily="34" charset="-122"/>
                <a:cs typeface="Calibri" pitchFamily="34" charset="-120"/>
              </a:rPr>
              <a:t>DEVELOPMENT</a:t>
            </a:r>
            <a:endParaRPr lang="en-US" dirty="0"/>
          </a:p>
        </p:txBody>
      </p:sp>
      <p:sp>
        <p:nvSpPr>
          <p:cNvPr id="34" name="Shape 32"/>
          <p:cNvSpPr/>
          <p:nvPr/>
        </p:nvSpPr>
        <p:spPr>
          <a:xfrm>
            <a:off x="9765792" y="2752344"/>
            <a:ext cx="82296" cy="82296"/>
          </a:xfrm>
          <a:prstGeom prst="ellipse">
            <a:avLst/>
          </a:prstGeom>
          <a:solidFill>
            <a:srgbClr val="028090"/>
          </a:solidFill>
          <a:ln/>
        </p:spPr>
        <p:txBody>
          <a:bodyPr/>
          <a:lstStyle/>
          <a:p>
            <a:endParaRPr lang="en-US"/>
          </a:p>
        </p:txBody>
      </p:sp>
      <p:sp>
        <p:nvSpPr>
          <p:cNvPr id="35" name="Text 33"/>
          <p:cNvSpPr/>
          <p:nvPr/>
        </p:nvSpPr>
        <p:spPr>
          <a:xfrm>
            <a:off x="9948672" y="2606040"/>
            <a:ext cx="1572768" cy="384048"/>
          </a:xfrm>
          <a:prstGeom prst="rect">
            <a:avLst/>
          </a:prstGeom>
          <a:noFill/>
          <a:ln/>
        </p:spPr>
        <p:txBody>
          <a:bodyPr wrap="square" rtlCol="0" anchor="ctr"/>
          <a:lstStyle/>
          <a:p>
            <a:pPr marL="0" indent="0">
              <a:lnSpc>
                <a:spcPct val="110000"/>
              </a:lnSpc>
              <a:buNone/>
            </a:pPr>
            <a:r>
              <a:rPr lang="en-US" b="1" dirty="0">
                <a:solidFill>
                  <a:srgbClr val="0B2B2E"/>
                </a:solidFill>
                <a:latin typeface="Calibri" pitchFamily="34" charset="0"/>
                <a:ea typeface="Calibri" pitchFamily="34" charset="-122"/>
                <a:cs typeface="Calibri" pitchFamily="34" charset="-120"/>
              </a:rPr>
              <a:t>VS Code</a:t>
            </a:r>
            <a:endParaRPr lang="en-US" dirty="0"/>
          </a:p>
        </p:txBody>
      </p:sp>
      <p:sp>
        <p:nvSpPr>
          <p:cNvPr id="36" name="Shape 34"/>
          <p:cNvSpPr/>
          <p:nvPr/>
        </p:nvSpPr>
        <p:spPr>
          <a:xfrm>
            <a:off x="9765792" y="3255264"/>
            <a:ext cx="82296" cy="82296"/>
          </a:xfrm>
          <a:prstGeom prst="ellipse">
            <a:avLst/>
          </a:prstGeom>
          <a:solidFill>
            <a:srgbClr val="028090"/>
          </a:solidFill>
          <a:ln/>
        </p:spPr>
        <p:txBody>
          <a:bodyPr/>
          <a:lstStyle/>
          <a:p>
            <a:endParaRPr lang="en-US"/>
          </a:p>
        </p:txBody>
      </p:sp>
      <p:sp>
        <p:nvSpPr>
          <p:cNvPr id="37" name="Text 35"/>
          <p:cNvSpPr/>
          <p:nvPr/>
        </p:nvSpPr>
        <p:spPr>
          <a:xfrm>
            <a:off x="9948672" y="3108960"/>
            <a:ext cx="1572768" cy="384048"/>
          </a:xfrm>
          <a:prstGeom prst="rect">
            <a:avLst/>
          </a:prstGeom>
          <a:noFill/>
          <a:ln/>
        </p:spPr>
        <p:txBody>
          <a:bodyPr wrap="square" rtlCol="0" anchor="ctr"/>
          <a:lstStyle/>
          <a:p>
            <a:pPr marL="0" indent="0">
              <a:lnSpc>
                <a:spcPct val="110000"/>
              </a:lnSpc>
              <a:buNone/>
            </a:pPr>
            <a:r>
              <a:rPr lang="en-US" b="1" dirty="0">
                <a:solidFill>
                  <a:srgbClr val="0B2B2E"/>
                </a:solidFill>
                <a:latin typeface="Calibri" pitchFamily="34" charset="0"/>
                <a:ea typeface="Calibri" pitchFamily="34" charset="-122"/>
                <a:cs typeface="Calibri" pitchFamily="34" charset="-120"/>
              </a:rPr>
              <a:t>Python Virtual Env.</a:t>
            </a:r>
            <a:endParaRPr lang="en-US" dirty="0"/>
          </a:p>
        </p:txBody>
      </p:sp>
      <p:sp>
        <p:nvSpPr>
          <p:cNvPr id="38" name="Shape 36"/>
          <p:cNvSpPr/>
          <p:nvPr/>
        </p:nvSpPr>
        <p:spPr>
          <a:xfrm>
            <a:off x="9765792" y="3758184"/>
            <a:ext cx="82296" cy="82296"/>
          </a:xfrm>
          <a:prstGeom prst="ellipse">
            <a:avLst/>
          </a:prstGeom>
          <a:solidFill>
            <a:srgbClr val="028090"/>
          </a:solidFill>
          <a:ln/>
        </p:spPr>
        <p:txBody>
          <a:bodyPr/>
          <a:lstStyle/>
          <a:p>
            <a:endParaRPr lang="en-US"/>
          </a:p>
        </p:txBody>
      </p:sp>
      <p:sp>
        <p:nvSpPr>
          <p:cNvPr id="39" name="Text 37"/>
          <p:cNvSpPr/>
          <p:nvPr/>
        </p:nvSpPr>
        <p:spPr>
          <a:xfrm>
            <a:off x="9948672" y="3611880"/>
            <a:ext cx="1572768" cy="384048"/>
          </a:xfrm>
          <a:prstGeom prst="rect">
            <a:avLst/>
          </a:prstGeom>
          <a:noFill/>
          <a:ln/>
        </p:spPr>
        <p:txBody>
          <a:bodyPr wrap="square" rtlCol="0" anchor="ctr"/>
          <a:lstStyle/>
          <a:p>
            <a:pPr marL="0" indent="0">
              <a:lnSpc>
                <a:spcPct val="110000"/>
              </a:lnSpc>
              <a:buNone/>
            </a:pPr>
            <a:r>
              <a:rPr lang="en-US" b="1" dirty="0">
                <a:solidFill>
                  <a:srgbClr val="0B2B2E"/>
                </a:solidFill>
                <a:latin typeface="Calibri" pitchFamily="34" charset="0"/>
                <a:ea typeface="Calibri" pitchFamily="34" charset="-122"/>
                <a:cs typeface="Calibri" pitchFamily="34" charset="-120"/>
              </a:rPr>
              <a:t>Git / GitHub</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E003D-56C3-F5F1-85CA-20CC0A8776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96A296-F718-B2DE-DEC1-43861D007AF0}"/>
              </a:ext>
            </a:extLst>
          </p:cNvPr>
          <p:cNvSpPr>
            <a:spLocks noGrp="1"/>
          </p:cNvSpPr>
          <p:nvPr>
            <p:ph type="title"/>
          </p:nvPr>
        </p:nvSpPr>
        <p:spPr/>
        <p:txBody>
          <a:bodyPr/>
          <a:lstStyle/>
          <a:p>
            <a:pPr algn="ctr"/>
            <a:r>
              <a:rPr lang="en-US" dirty="0"/>
              <a:t>SYSTEM ARCHITECTURE</a:t>
            </a:r>
          </a:p>
        </p:txBody>
      </p:sp>
      <p:sp>
        <p:nvSpPr>
          <p:cNvPr id="11" name="TextBox 10">
            <a:extLst>
              <a:ext uri="{FF2B5EF4-FFF2-40B4-BE49-F238E27FC236}">
                <a16:creationId xmlns:a16="http://schemas.microsoft.com/office/drawing/2014/main" id="{C64710B7-0983-23E4-8168-8C7EA16A7CA5}"/>
              </a:ext>
            </a:extLst>
          </p:cNvPr>
          <p:cNvSpPr txBox="1"/>
          <p:nvPr/>
        </p:nvSpPr>
        <p:spPr>
          <a:xfrm>
            <a:off x="212956" y="2163397"/>
            <a:ext cx="3760302" cy="3693319"/>
          </a:xfrm>
          <a:prstGeom prst="rect">
            <a:avLst/>
          </a:prstGeom>
          <a:solidFill>
            <a:srgbClr val="FFFF00"/>
          </a:solidFill>
        </p:spPr>
        <p:txBody>
          <a:bodyPr wrap="square">
            <a:spAutoFit/>
          </a:bodyPr>
          <a:lstStyle/>
          <a:p>
            <a:r>
              <a:rPr lang="en-US" dirty="0">
                <a:solidFill>
                  <a:schemeClr val="accent1">
                    <a:lumMod val="90000"/>
                    <a:lumOff val="10000"/>
                  </a:schemeClr>
                </a:solidFill>
              </a:rPr>
              <a:t>First, the user enters the borrower details through the </a:t>
            </a:r>
            <a:r>
              <a:rPr lang="en-US" dirty="0" err="1">
                <a:solidFill>
                  <a:schemeClr val="accent1">
                    <a:lumMod val="90000"/>
                    <a:lumOff val="10000"/>
                  </a:schemeClr>
                </a:solidFill>
              </a:rPr>
              <a:t>Streamlit</a:t>
            </a:r>
            <a:r>
              <a:rPr lang="en-US" dirty="0">
                <a:solidFill>
                  <a:schemeClr val="accent1">
                    <a:lumMod val="90000"/>
                    <a:lumOff val="10000"/>
                  </a:schemeClr>
                </a:solidFill>
              </a:rPr>
              <a:t> interface. The information goes to </a:t>
            </a:r>
            <a:r>
              <a:rPr lang="en-US" dirty="0" err="1">
                <a:solidFill>
                  <a:schemeClr val="accent1">
                    <a:lumMod val="90000"/>
                    <a:lumOff val="10000"/>
                  </a:schemeClr>
                </a:solidFill>
              </a:rPr>
              <a:t>FastAPI</a:t>
            </a:r>
            <a:r>
              <a:rPr lang="en-US" dirty="0">
                <a:solidFill>
                  <a:schemeClr val="accent1">
                    <a:lumMod val="90000"/>
                    <a:lumOff val="10000"/>
                  </a:schemeClr>
                </a:solidFill>
              </a:rPr>
              <a:t>, which acts as the backend. The data is then cleaned and prepared through feature engineering and preprocessing. After that, the trained machine-learning model predicts the probability of loan default. The risk engine converts this probability into a risk score, risk category, and decision. The MySQL database stores the loan data used by the system.</a:t>
            </a:r>
          </a:p>
        </p:txBody>
      </p:sp>
      <p:pic>
        <p:nvPicPr>
          <p:cNvPr id="4" name="Picture 3">
            <a:extLst>
              <a:ext uri="{FF2B5EF4-FFF2-40B4-BE49-F238E27FC236}">
                <a16:creationId xmlns:a16="http://schemas.microsoft.com/office/drawing/2014/main" id="{6BB2AC8A-003A-62AB-DC61-00E9DCC765DE}"/>
              </a:ext>
            </a:extLst>
          </p:cNvPr>
          <p:cNvPicPr>
            <a:picLocks noChangeAspect="1"/>
          </p:cNvPicPr>
          <p:nvPr/>
        </p:nvPicPr>
        <p:blipFill>
          <a:blip r:embed="rId2"/>
          <a:stretch>
            <a:fillRect/>
          </a:stretch>
        </p:blipFill>
        <p:spPr>
          <a:xfrm>
            <a:off x="3899718" y="1715956"/>
            <a:ext cx="7913592" cy="5129687"/>
          </a:xfrm>
          <a:prstGeom prst="rect">
            <a:avLst/>
          </a:prstGeom>
        </p:spPr>
      </p:pic>
    </p:spTree>
    <p:extLst>
      <p:ext uri="{BB962C8B-B14F-4D97-AF65-F5344CB8AC3E}">
        <p14:creationId xmlns:p14="http://schemas.microsoft.com/office/powerpoint/2010/main" val="10768098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B04CE-08D2-D620-075F-1B5D3AE11F2F}"/>
              </a:ext>
            </a:extLst>
          </p:cNvPr>
          <p:cNvSpPr>
            <a:spLocks noGrp="1"/>
          </p:cNvSpPr>
          <p:nvPr>
            <p:ph type="title"/>
          </p:nvPr>
        </p:nvSpPr>
        <p:spPr/>
        <p:txBody>
          <a:bodyPr/>
          <a:lstStyle/>
          <a:p>
            <a:pPr algn="ctr"/>
            <a:r>
              <a:rPr lang="en-US" dirty="0"/>
              <a:t>DATA PREPROCESSING PIPELINE</a:t>
            </a:r>
          </a:p>
        </p:txBody>
      </p:sp>
      <p:sp>
        <p:nvSpPr>
          <p:cNvPr id="15" name="TextBox 14">
            <a:extLst>
              <a:ext uri="{FF2B5EF4-FFF2-40B4-BE49-F238E27FC236}">
                <a16:creationId xmlns:a16="http://schemas.microsoft.com/office/drawing/2014/main" id="{595D6A8E-86B6-1AFA-2F6C-4F99CD008FF0}"/>
              </a:ext>
            </a:extLst>
          </p:cNvPr>
          <p:cNvSpPr txBox="1"/>
          <p:nvPr/>
        </p:nvSpPr>
        <p:spPr>
          <a:xfrm>
            <a:off x="157018" y="1997777"/>
            <a:ext cx="4414981" cy="2862322"/>
          </a:xfrm>
          <a:prstGeom prst="rect">
            <a:avLst/>
          </a:prstGeom>
          <a:solidFill>
            <a:srgbClr val="FFFF00"/>
          </a:solidFill>
        </p:spPr>
        <p:txBody>
          <a:bodyPr wrap="square">
            <a:spAutoFit/>
          </a:bodyPr>
          <a:lstStyle/>
          <a:p>
            <a:r>
              <a:rPr lang="en-US" dirty="0"/>
              <a:t>The process starts with </a:t>
            </a:r>
            <a:r>
              <a:rPr lang="en-US" b="1" dirty="0"/>
              <a:t>raw loan data</a:t>
            </a:r>
            <a:r>
              <a:rPr lang="en-US" dirty="0"/>
              <a:t>. First, missing values and incorrect data types are identified and corrected. Then numerical and categorical data are cleaned. Important features are created, missing values are filled, and the data is standardized. Categorical values are converted into numbers using </a:t>
            </a:r>
            <a:r>
              <a:rPr lang="en-US" b="1" dirty="0"/>
              <a:t>one-hot encoding</a:t>
            </a:r>
            <a:r>
              <a:rPr lang="en-US" dirty="0"/>
              <a:t>. Finally, the cleaned data is ready to be given to the </a:t>
            </a:r>
            <a:r>
              <a:rPr lang="en-US" b="1" dirty="0"/>
              <a:t>Machine Learning model</a:t>
            </a:r>
            <a:r>
              <a:rPr lang="en-US" dirty="0"/>
              <a:t> for prediction.</a:t>
            </a:r>
          </a:p>
        </p:txBody>
      </p:sp>
      <p:pic>
        <p:nvPicPr>
          <p:cNvPr id="4" name="Picture 3">
            <a:extLst>
              <a:ext uri="{FF2B5EF4-FFF2-40B4-BE49-F238E27FC236}">
                <a16:creationId xmlns:a16="http://schemas.microsoft.com/office/drawing/2014/main" id="{BF5BA673-65B3-D6CD-7F12-6E9A6AE2FE2B}"/>
              </a:ext>
            </a:extLst>
          </p:cNvPr>
          <p:cNvPicPr>
            <a:picLocks noChangeAspect="1"/>
          </p:cNvPicPr>
          <p:nvPr/>
        </p:nvPicPr>
        <p:blipFill>
          <a:blip r:embed="rId2"/>
          <a:stretch>
            <a:fillRect/>
          </a:stretch>
        </p:blipFill>
        <p:spPr>
          <a:xfrm>
            <a:off x="4661456" y="1715956"/>
            <a:ext cx="6949352" cy="4971830"/>
          </a:xfrm>
          <a:prstGeom prst="rect">
            <a:avLst/>
          </a:prstGeom>
        </p:spPr>
      </p:pic>
    </p:spTree>
    <p:extLst>
      <p:ext uri="{BB962C8B-B14F-4D97-AF65-F5344CB8AC3E}">
        <p14:creationId xmlns:p14="http://schemas.microsoft.com/office/powerpoint/2010/main" val="36433239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7E7D5-C996-7DC8-F44A-6E43FE5A52D7}"/>
              </a:ext>
            </a:extLst>
          </p:cNvPr>
          <p:cNvSpPr>
            <a:spLocks noGrp="1"/>
          </p:cNvSpPr>
          <p:nvPr>
            <p:ph type="title"/>
          </p:nvPr>
        </p:nvSpPr>
        <p:spPr/>
        <p:txBody>
          <a:bodyPr/>
          <a:lstStyle/>
          <a:p>
            <a:pPr algn="ctr"/>
            <a:r>
              <a:rPr lang="en-US" dirty="0"/>
              <a:t>SQL Business Insights Screenshot Output</a:t>
            </a:r>
          </a:p>
        </p:txBody>
      </p:sp>
      <p:pic>
        <p:nvPicPr>
          <p:cNvPr id="12" name="Picture 11">
            <a:extLst>
              <a:ext uri="{FF2B5EF4-FFF2-40B4-BE49-F238E27FC236}">
                <a16:creationId xmlns:a16="http://schemas.microsoft.com/office/drawing/2014/main" id="{35A92532-9299-66FE-829B-0D526C8DAEA5}"/>
              </a:ext>
            </a:extLst>
          </p:cNvPr>
          <p:cNvPicPr>
            <a:picLocks noChangeAspect="1"/>
          </p:cNvPicPr>
          <p:nvPr/>
        </p:nvPicPr>
        <p:blipFill>
          <a:blip r:embed="rId2"/>
          <a:stretch>
            <a:fillRect/>
          </a:stretch>
        </p:blipFill>
        <p:spPr>
          <a:xfrm>
            <a:off x="581192" y="4078272"/>
            <a:ext cx="4934204" cy="1873346"/>
          </a:xfrm>
          <a:prstGeom prst="rect">
            <a:avLst/>
          </a:prstGeom>
        </p:spPr>
      </p:pic>
      <p:graphicFrame>
        <p:nvGraphicFramePr>
          <p:cNvPr id="13" name="Table 12">
            <a:extLst>
              <a:ext uri="{FF2B5EF4-FFF2-40B4-BE49-F238E27FC236}">
                <a16:creationId xmlns:a16="http://schemas.microsoft.com/office/drawing/2014/main" id="{AD571931-289B-59CB-4933-F6A19C4AFCE9}"/>
              </a:ext>
            </a:extLst>
          </p:cNvPr>
          <p:cNvGraphicFramePr>
            <a:graphicFrameLocks noGrp="1"/>
          </p:cNvGraphicFramePr>
          <p:nvPr/>
        </p:nvGraphicFramePr>
        <p:xfrm>
          <a:off x="581192" y="2045140"/>
          <a:ext cx="4758904" cy="1873346"/>
        </p:xfrm>
        <a:graphic>
          <a:graphicData uri="http://schemas.openxmlformats.org/drawingml/2006/table">
            <a:tbl>
              <a:tblPr firstRow="1" firstCol="1" bandRow="1">
                <a:tableStyleId>{5C22544A-7EE6-4342-B048-85BDC9FD1C3A}</a:tableStyleId>
              </a:tblPr>
              <a:tblGrid>
                <a:gridCol w="4758904">
                  <a:extLst>
                    <a:ext uri="{9D8B030D-6E8A-4147-A177-3AD203B41FA5}">
                      <a16:colId xmlns:a16="http://schemas.microsoft.com/office/drawing/2014/main" val="1621708049"/>
                    </a:ext>
                  </a:extLst>
                </a:gridCol>
              </a:tblGrid>
              <a:tr h="1873346">
                <a:tc>
                  <a:txBody>
                    <a:bodyPr/>
                    <a:lstStyle/>
                    <a:p>
                      <a:pPr marL="0" marR="0">
                        <a:lnSpc>
                          <a:spcPct val="110000"/>
                        </a:lnSpc>
                        <a:spcAft>
                          <a:spcPts val="600"/>
                        </a:spcAft>
                        <a:buNone/>
                      </a:pPr>
                      <a:r>
                        <a:rPr lang="en-US" sz="1600" dirty="0">
                          <a:effectLst/>
                        </a:rPr>
                        <a:t>PORTFOLIO OVERVIEW</a:t>
                      </a:r>
                    </a:p>
                    <a:p>
                      <a:pPr marL="0" marR="0">
                        <a:lnSpc>
                          <a:spcPct val="110000"/>
                        </a:lnSpc>
                        <a:spcAft>
                          <a:spcPts val="600"/>
                        </a:spcAft>
                        <a:buNone/>
                      </a:pPr>
                      <a:endParaRPr lang="en-US" sz="1600" dirty="0">
                        <a:effectLst/>
                      </a:endParaRPr>
                    </a:p>
                    <a:p>
                      <a:pPr marL="0" marR="0">
                        <a:lnSpc>
                          <a:spcPct val="110000"/>
                        </a:lnSpc>
                        <a:spcAft>
                          <a:spcPts val="600"/>
                        </a:spcAft>
                        <a:buNone/>
                      </a:pPr>
                      <a:r>
                        <a:rPr lang="en-US" sz="1600" dirty="0">
                          <a:effectLst/>
                        </a:rPr>
                        <a:t>Calculates total loans, total loan amount, average loan amount and overall bad-loan percentage. It gives management a quick view of portfolio size, exposure and risk.</a:t>
                      </a:r>
                      <a:endParaRPr lang="en-US" sz="16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1605948672"/>
                  </a:ext>
                </a:extLst>
              </a:tr>
            </a:tbl>
          </a:graphicData>
        </a:graphic>
      </p:graphicFrame>
      <p:pic>
        <p:nvPicPr>
          <p:cNvPr id="15" name="Picture 14">
            <a:extLst>
              <a:ext uri="{FF2B5EF4-FFF2-40B4-BE49-F238E27FC236}">
                <a16:creationId xmlns:a16="http://schemas.microsoft.com/office/drawing/2014/main" id="{412649DF-DAE3-76E7-4E0D-D6D7479F6BC2}"/>
              </a:ext>
            </a:extLst>
          </p:cNvPr>
          <p:cNvPicPr>
            <a:picLocks noChangeAspect="1"/>
          </p:cNvPicPr>
          <p:nvPr/>
        </p:nvPicPr>
        <p:blipFill>
          <a:blip r:embed="rId3"/>
          <a:stretch>
            <a:fillRect/>
          </a:stretch>
        </p:blipFill>
        <p:spPr>
          <a:xfrm>
            <a:off x="5752841" y="3064472"/>
            <a:ext cx="7096596" cy="1013800"/>
          </a:xfrm>
          <a:prstGeom prst="rect">
            <a:avLst/>
          </a:prstGeom>
        </p:spPr>
      </p:pic>
    </p:spTree>
    <p:extLst>
      <p:ext uri="{BB962C8B-B14F-4D97-AF65-F5344CB8AC3E}">
        <p14:creationId xmlns:p14="http://schemas.microsoft.com/office/powerpoint/2010/main" val="37092123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CFDAA-E7EB-677C-746C-4201E5CA683C}"/>
              </a:ext>
            </a:extLst>
          </p:cNvPr>
          <p:cNvSpPr>
            <a:spLocks noGrp="1"/>
          </p:cNvSpPr>
          <p:nvPr>
            <p:ph type="title"/>
          </p:nvPr>
        </p:nvSpPr>
        <p:spPr/>
        <p:txBody>
          <a:bodyPr/>
          <a:lstStyle/>
          <a:p>
            <a:pPr algn="ctr"/>
            <a:r>
              <a:rPr lang="en-US" dirty="0"/>
              <a:t>SQL Business Insights Screenshot Output</a:t>
            </a:r>
          </a:p>
        </p:txBody>
      </p:sp>
      <p:pic>
        <p:nvPicPr>
          <p:cNvPr id="10" name="Picture 9">
            <a:extLst>
              <a:ext uri="{FF2B5EF4-FFF2-40B4-BE49-F238E27FC236}">
                <a16:creationId xmlns:a16="http://schemas.microsoft.com/office/drawing/2014/main" id="{74F202C2-EF77-E7F7-1F3F-698B92C3E8E2}"/>
              </a:ext>
            </a:extLst>
          </p:cNvPr>
          <p:cNvPicPr>
            <a:picLocks noChangeAspect="1"/>
          </p:cNvPicPr>
          <p:nvPr/>
        </p:nvPicPr>
        <p:blipFill>
          <a:blip r:embed="rId2"/>
          <a:stretch>
            <a:fillRect/>
          </a:stretch>
        </p:blipFill>
        <p:spPr>
          <a:xfrm>
            <a:off x="125290" y="3726468"/>
            <a:ext cx="6615661" cy="1284444"/>
          </a:xfrm>
          <a:prstGeom prst="rect">
            <a:avLst/>
          </a:prstGeom>
        </p:spPr>
      </p:pic>
      <p:pic>
        <p:nvPicPr>
          <p:cNvPr id="12" name="Picture 11">
            <a:extLst>
              <a:ext uri="{FF2B5EF4-FFF2-40B4-BE49-F238E27FC236}">
                <a16:creationId xmlns:a16="http://schemas.microsoft.com/office/drawing/2014/main" id="{4B9C295C-FE11-25CE-5AB1-706682DE31BE}"/>
              </a:ext>
            </a:extLst>
          </p:cNvPr>
          <p:cNvPicPr>
            <a:picLocks noChangeAspect="1"/>
          </p:cNvPicPr>
          <p:nvPr/>
        </p:nvPicPr>
        <p:blipFill>
          <a:blip r:embed="rId3"/>
          <a:stretch>
            <a:fillRect/>
          </a:stretch>
        </p:blipFill>
        <p:spPr>
          <a:xfrm>
            <a:off x="6713395" y="2310891"/>
            <a:ext cx="5478605" cy="2831154"/>
          </a:xfrm>
          <a:prstGeom prst="rect">
            <a:avLst/>
          </a:prstGeom>
        </p:spPr>
      </p:pic>
      <p:graphicFrame>
        <p:nvGraphicFramePr>
          <p:cNvPr id="13" name="Table 12">
            <a:extLst>
              <a:ext uri="{FF2B5EF4-FFF2-40B4-BE49-F238E27FC236}">
                <a16:creationId xmlns:a16="http://schemas.microsoft.com/office/drawing/2014/main" id="{60820F85-8772-A76C-4060-9CD3CE9FD6EF}"/>
              </a:ext>
            </a:extLst>
          </p:cNvPr>
          <p:cNvGraphicFramePr>
            <a:graphicFrameLocks noGrp="1"/>
          </p:cNvGraphicFramePr>
          <p:nvPr/>
        </p:nvGraphicFramePr>
        <p:xfrm>
          <a:off x="388619" y="1881250"/>
          <a:ext cx="5654040" cy="1027621"/>
        </p:xfrm>
        <a:graphic>
          <a:graphicData uri="http://schemas.openxmlformats.org/drawingml/2006/table">
            <a:tbl>
              <a:tblPr firstRow="1" firstCol="1" bandRow="1">
                <a:tableStyleId>{5C22544A-7EE6-4342-B048-85BDC9FD1C3A}</a:tableStyleId>
              </a:tblPr>
              <a:tblGrid>
                <a:gridCol w="1721583">
                  <a:extLst>
                    <a:ext uri="{9D8B030D-6E8A-4147-A177-3AD203B41FA5}">
                      <a16:colId xmlns:a16="http://schemas.microsoft.com/office/drawing/2014/main" val="3330681227"/>
                    </a:ext>
                  </a:extLst>
                </a:gridCol>
                <a:gridCol w="3932457">
                  <a:extLst>
                    <a:ext uri="{9D8B030D-6E8A-4147-A177-3AD203B41FA5}">
                      <a16:colId xmlns:a16="http://schemas.microsoft.com/office/drawing/2014/main" val="450253182"/>
                    </a:ext>
                  </a:extLst>
                </a:gridCol>
              </a:tblGrid>
              <a:tr h="859282">
                <a:tc>
                  <a:txBody>
                    <a:bodyPr/>
                    <a:lstStyle/>
                    <a:p>
                      <a:pPr marL="0" marR="0">
                        <a:lnSpc>
                          <a:spcPct val="110000"/>
                        </a:lnSpc>
                        <a:spcAft>
                          <a:spcPts val="600"/>
                        </a:spcAft>
                        <a:buNone/>
                      </a:pPr>
                      <a:r>
                        <a:rPr lang="en-US" sz="1400" dirty="0">
                          <a:effectLst/>
                        </a:rPr>
                        <a:t>2. Risk by credit grade</a:t>
                      </a:r>
                      <a:endParaRPr lang="en-US" sz="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400" dirty="0">
                          <a:effectLst/>
                        </a:rPr>
                        <a:t>Compares the number of loans, average amount and bad-loan rate for each grade. It helps check whether assigned grades correctly represent increasing credit risk.</a:t>
                      </a:r>
                      <a:endParaRPr lang="en-US" sz="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3279859475"/>
                  </a:ext>
                </a:extLst>
              </a:tr>
            </a:tbl>
          </a:graphicData>
        </a:graphic>
      </p:graphicFrame>
    </p:spTree>
    <p:extLst>
      <p:ext uri="{BB962C8B-B14F-4D97-AF65-F5344CB8AC3E}">
        <p14:creationId xmlns:p14="http://schemas.microsoft.com/office/powerpoint/2010/main" val="34063358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26407-DEBD-4DA6-F56D-C1837CB72840}"/>
              </a:ext>
            </a:extLst>
          </p:cNvPr>
          <p:cNvSpPr>
            <a:spLocks noGrp="1"/>
          </p:cNvSpPr>
          <p:nvPr>
            <p:ph type="title"/>
          </p:nvPr>
        </p:nvSpPr>
        <p:spPr/>
        <p:txBody>
          <a:bodyPr/>
          <a:lstStyle/>
          <a:p>
            <a:pPr algn="ctr"/>
            <a:r>
              <a:rPr lang="en-US" dirty="0"/>
              <a:t>SQL Business Insights Screenshot Output</a:t>
            </a:r>
          </a:p>
        </p:txBody>
      </p:sp>
      <p:graphicFrame>
        <p:nvGraphicFramePr>
          <p:cNvPr id="7" name="Table 6">
            <a:extLst>
              <a:ext uri="{FF2B5EF4-FFF2-40B4-BE49-F238E27FC236}">
                <a16:creationId xmlns:a16="http://schemas.microsoft.com/office/drawing/2014/main" id="{F0D0E869-73FF-1910-B046-D4F32CB01881}"/>
              </a:ext>
            </a:extLst>
          </p:cNvPr>
          <p:cNvGraphicFramePr>
            <a:graphicFrameLocks noGrp="1"/>
          </p:cNvGraphicFramePr>
          <p:nvPr/>
        </p:nvGraphicFramePr>
        <p:xfrm>
          <a:off x="109728" y="2330323"/>
          <a:ext cx="5029200" cy="1428179"/>
        </p:xfrm>
        <a:graphic>
          <a:graphicData uri="http://schemas.openxmlformats.org/drawingml/2006/table">
            <a:tbl>
              <a:tblPr firstRow="1" firstCol="1" bandRow="1">
                <a:tableStyleId>{5C22544A-7EE6-4342-B048-85BDC9FD1C3A}</a:tableStyleId>
              </a:tblPr>
              <a:tblGrid>
                <a:gridCol w="1531327">
                  <a:extLst>
                    <a:ext uri="{9D8B030D-6E8A-4147-A177-3AD203B41FA5}">
                      <a16:colId xmlns:a16="http://schemas.microsoft.com/office/drawing/2014/main" val="1316630343"/>
                    </a:ext>
                  </a:extLst>
                </a:gridCol>
                <a:gridCol w="3497873">
                  <a:extLst>
                    <a:ext uri="{9D8B030D-6E8A-4147-A177-3AD203B41FA5}">
                      <a16:colId xmlns:a16="http://schemas.microsoft.com/office/drawing/2014/main" val="2240667706"/>
                    </a:ext>
                  </a:extLst>
                </a:gridCol>
              </a:tblGrid>
              <a:tr h="0">
                <a:tc>
                  <a:txBody>
                    <a:bodyPr/>
                    <a:lstStyle/>
                    <a:p>
                      <a:pPr marL="0" marR="0">
                        <a:lnSpc>
                          <a:spcPct val="110000"/>
                        </a:lnSpc>
                        <a:spcAft>
                          <a:spcPts val="600"/>
                        </a:spcAft>
                        <a:buNone/>
                      </a:pPr>
                      <a:r>
                        <a:rPr lang="en-US" sz="1600">
                          <a:effectLst/>
                        </a:rPr>
                        <a:t>3. Risk by loan purpose</a:t>
                      </a:r>
                      <a:endParaRPr lang="en-US" sz="16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600" dirty="0">
                          <a:effectLst/>
                        </a:rPr>
                        <a:t>Shows loan volume, total exposure and bad-loan rate for each purpose. It helps identify high-risk purposes and improve product-level lending rules.</a:t>
                      </a:r>
                      <a:endParaRPr lang="en-US" sz="16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1184815618"/>
                  </a:ext>
                </a:extLst>
              </a:tr>
            </a:tbl>
          </a:graphicData>
        </a:graphic>
      </p:graphicFrame>
      <p:pic>
        <p:nvPicPr>
          <p:cNvPr id="9" name="Picture 8">
            <a:extLst>
              <a:ext uri="{FF2B5EF4-FFF2-40B4-BE49-F238E27FC236}">
                <a16:creationId xmlns:a16="http://schemas.microsoft.com/office/drawing/2014/main" id="{D35AB59B-C48A-5516-47B5-5A1DF60E4152}"/>
              </a:ext>
            </a:extLst>
          </p:cNvPr>
          <p:cNvPicPr>
            <a:picLocks noChangeAspect="1"/>
          </p:cNvPicPr>
          <p:nvPr/>
        </p:nvPicPr>
        <p:blipFill>
          <a:blip r:embed="rId2"/>
          <a:stretch>
            <a:fillRect/>
          </a:stretch>
        </p:blipFill>
        <p:spPr>
          <a:xfrm>
            <a:off x="271770" y="4281141"/>
            <a:ext cx="5302523" cy="1130358"/>
          </a:xfrm>
          <a:prstGeom prst="rect">
            <a:avLst/>
          </a:prstGeom>
        </p:spPr>
      </p:pic>
      <p:pic>
        <p:nvPicPr>
          <p:cNvPr id="11" name="Picture 10">
            <a:extLst>
              <a:ext uri="{FF2B5EF4-FFF2-40B4-BE49-F238E27FC236}">
                <a16:creationId xmlns:a16="http://schemas.microsoft.com/office/drawing/2014/main" id="{A07598F8-1F17-4F1B-1109-DC20CA29CD7A}"/>
              </a:ext>
            </a:extLst>
          </p:cNvPr>
          <p:cNvPicPr>
            <a:picLocks noChangeAspect="1"/>
          </p:cNvPicPr>
          <p:nvPr/>
        </p:nvPicPr>
        <p:blipFill>
          <a:blip r:embed="rId3"/>
          <a:stretch>
            <a:fillRect/>
          </a:stretch>
        </p:blipFill>
        <p:spPr>
          <a:xfrm>
            <a:off x="5464206" y="2561640"/>
            <a:ext cx="6527607" cy="3061919"/>
          </a:xfrm>
          <a:prstGeom prst="rect">
            <a:avLst/>
          </a:prstGeom>
        </p:spPr>
      </p:pic>
    </p:spTree>
    <p:extLst>
      <p:ext uri="{BB962C8B-B14F-4D97-AF65-F5344CB8AC3E}">
        <p14:creationId xmlns:p14="http://schemas.microsoft.com/office/powerpoint/2010/main" val="29024465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4CCCA-BD33-F61E-6D83-59AAB7C2196D}"/>
              </a:ext>
            </a:extLst>
          </p:cNvPr>
          <p:cNvSpPr>
            <a:spLocks noGrp="1"/>
          </p:cNvSpPr>
          <p:nvPr>
            <p:ph type="title"/>
          </p:nvPr>
        </p:nvSpPr>
        <p:spPr/>
        <p:txBody>
          <a:bodyPr/>
          <a:lstStyle/>
          <a:p>
            <a:pPr algn="ctr"/>
            <a:r>
              <a:rPr lang="en-US" dirty="0"/>
              <a:t>SQL Business Insights Screenshot Output</a:t>
            </a:r>
          </a:p>
        </p:txBody>
      </p:sp>
      <p:pic>
        <p:nvPicPr>
          <p:cNvPr id="8" name="Picture 7">
            <a:extLst>
              <a:ext uri="{FF2B5EF4-FFF2-40B4-BE49-F238E27FC236}">
                <a16:creationId xmlns:a16="http://schemas.microsoft.com/office/drawing/2014/main" id="{B93B1946-4141-AF38-27A2-13F06140A8C4}"/>
              </a:ext>
            </a:extLst>
          </p:cNvPr>
          <p:cNvPicPr>
            <a:picLocks noChangeAspect="1"/>
          </p:cNvPicPr>
          <p:nvPr/>
        </p:nvPicPr>
        <p:blipFill>
          <a:blip r:embed="rId2"/>
          <a:stretch>
            <a:fillRect/>
          </a:stretch>
        </p:blipFill>
        <p:spPr>
          <a:xfrm>
            <a:off x="177795" y="4510187"/>
            <a:ext cx="5924130" cy="1460845"/>
          </a:xfrm>
          <a:prstGeom prst="rect">
            <a:avLst/>
          </a:prstGeom>
        </p:spPr>
      </p:pic>
      <p:pic>
        <p:nvPicPr>
          <p:cNvPr id="12" name="Picture 11">
            <a:extLst>
              <a:ext uri="{FF2B5EF4-FFF2-40B4-BE49-F238E27FC236}">
                <a16:creationId xmlns:a16="http://schemas.microsoft.com/office/drawing/2014/main" id="{3DC183F4-3682-0B23-C957-80EFECEB8219}"/>
              </a:ext>
            </a:extLst>
          </p:cNvPr>
          <p:cNvPicPr>
            <a:picLocks noChangeAspect="1"/>
          </p:cNvPicPr>
          <p:nvPr/>
        </p:nvPicPr>
        <p:blipFill>
          <a:blip r:embed="rId3"/>
          <a:stretch>
            <a:fillRect/>
          </a:stretch>
        </p:blipFill>
        <p:spPr>
          <a:xfrm>
            <a:off x="6096000" y="2475307"/>
            <a:ext cx="5056317" cy="3495725"/>
          </a:xfrm>
          <a:prstGeom prst="rect">
            <a:avLst/>
          </a:prstGeom>
        </p:spPr>
      </p:pic>
      <p:graphicFrame>
        <p:nvGraphicFramePr>
          <p:cNvPr id="13" name="Table 12">
            <a:extLst>
              <a:ext uri="{FF2B5EF4-FFF2-40B4-BE49-F238E27FC236}">
                <a16:creationId xmlns:a16="http://schemas.microsoft.com/office/drawing/2014/main" id="{718580AA-DBFB-A99E-0CEA-A15BF40D7FBF}"/>
              </a:ext>
            </a:extLst>
          </p:cNvPr>
          <p:cNvGraphicFramePr>
            <a:graphicFrameLocks noGrp="1"/>
          </p:cNvGraphicFramePr>
          <p:nvPr/>
        </p:nvGraphicFramePr>
        <p:xfrm>
          <a:off x="457200" y="2347813"/>
          <a:ext cx="5504688" cy="1428179"/>
        </p:xfrm>
        <a:graphic>
          <a:graphicData uri="http://schemas.openxmlformats.org/drawingml/2006/table">
            <a:tbl>
              <a:tblPr firstRow="1" firstCol="1" bandRow="1">
                <a:tableStyleId>{5C22544A-7EE6-4342-B048-85BDC9FD1C3A}</a:tableStyleId>
              </a:tblPr>
              <a:tblGrid>
                <a:gridCol w="1911096">
                  <a:extLst>
                    <a:ext uri="{9D8B030D-6E8A-4147-A177-3AD203B41FA5}">
                      <a16:colId xmlns:a16="http://schemas.microsoft.com/office/drawing/2014/main" val="248696473"/>
                    </a:ext>
                  </a:extLst>
                </a:gridCol>
                <a:gridCol w="3593592">
                  <a:extLst>
                    <a:ext uri="{9D8B030D-6E8A-4147-A177-3AD203B41FA5}">
                      <a16:colId xmlns:a16="http://schemas.microsoft.com/office/drawing/2014/main" val="2797401560"/>
                    </a:ext>
                  </a:extLst>
                </a:gridCol>
              </a:tblGrid>
              <a:tr h="0">
                <a:tc>
                  <a:txBody>
                    <a:bodyPr/>
                    <a:lstStyle/>
                    <a:p>
                      <a:pPr marL="0" marR="0">
                        <a:lnSpc>
                          <a:spcPct val="110000"/>
                        </a:lnSpc>
                        <a:spcAft>
                          <a:spcPts val="600"/>
                        </a:spcAft>
                        <a:buNone/>
                      </a:pPr>
                      <a:r>
                        <a:rPr lang="en-US" sz="1600">
                          <a:effectLst/>
                        </a:rPr>
                        <a:t>4. Geographic risk</a:t>
                      </a:r>
                      <a:endParaRPr lang="en-US" sz="16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600" dirty="0">
                          <a:effectLst/>
                        </a:rPr>
                        <a:t>Calculates bad-loan rates by state while excluding groups with fewer than 25 loans. The minimum count reduces misleading conclusions from very small samples.</a:t>
                      </a:r>
                      <a:endParaRPr lang="en-US" sz="16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418734999"/>
                  </a:ext>
                </a:extLst>
              </a:tr>
            </a:tbl>
          </a:graphicData>
        </a:graphic>
      </p:graphicFrame>
    </p:spTree>
    <p:extLst>
      <p:ext uri="{BB962C8B-B14F-4D97-AF65-F5344CB8AC3E}">
        <p14:creationId xmlns:p14="http://schemas.microsoft.com/office/powerpoint/2010/main" val="18935783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74667-0E28-930B-9A78-C09E1697AE15}"/>
              </a:ext>
            </a:extLst>
          </p:cNvPr>
          <p:cNvSpPr>
            <a:spLocks noGrp="1"/>
          </p:cNvSpPr>
          <p:nvPr>
            <p:ph type="title"/>
          </p:nvPr>
        </p:nvSpPr>
        <p:spPr/>
        <p:txBody>
          <a:bodyPr/>
          <a:lstStyle/>
          <a:p>
            <a:pPr algn="ctr"/>
            <a:r>
              <a:rPr lang="en-US" dirty="0"/>
              <a:t>SQL Business Insights Screenshot Output</a:t>
            </a:r>
          </a:p>
        </p:txBody>
      </p:sp>
      <p:pic>
        <p:nvPicPr>
          <p:cNvPr id="8" name="Picture 7">
            <a:extLst>
              <a:ext uri="{FF2B5EF4-FFF2-40B4-BE49-F238E27FC236}">
                <a16:creationId xmlns:a16="http://schemas.microsoft.com/office/drawing/2014/main" id="{F62A7D9C-908D-E459-DA7E-8E8825A799A7}"/>
              </a:ext>
            </a:extLst>
          </p:cNvPr>
          <p:cNvPicPr>
            <a:picLocks noChangeAspect="1"/>
          </p:cNvPicPr>
          <p:nvPr/>
        </p:nvPicPr>
        <p:blipFill>
          <a:blip r:embed="rId2"/>
          <a:stretch>
            <a:fillRect/>
          </a:stretch>
        </p:blipFill>
        <p:spPr>
          <a:xfrm>
            <a:off x="363222" y="4755584"/>
            <a:ext cx="6697914" cy="1553776"/>
          </a:xfrm>
          <a:prstGeom prst="rect">
            <a:avLst/>
          </a:prstGeom>
        </p:spPr>
      </p:pic>
      <p:pic>
        <p:nvPicPr>
          <p:cNvPr id="10" name="Picture 9">
            <a:extLst>
              <a:ext uri="{FF2B5EF4-FFF2-40B4-BE49-F238E27FC236}">
                <a16:creationId xmlns:a16="http://schemas.microsoft.com/office/drawing/2014/main" id="{0267D594-AF78-F1DD-CE3B-9032BB4C2E98}"/>
              </a:ext>
            </a:extLst>
          </p:cNvPr>
          <p:cNvPicPr>
            <a:picLocks noChangeAspect="1"/>
          </p:cNvPicPr>
          <p:nvPr/>
        </p:nvPicPr>
        <p:blipFill>
          <a:blip r:embed="rId3"/>
          <a:stretch>
            <a:fillRect/>
          </a:stretch>
        </p:blipFill>
        <p:spPr>
          <a:xfrm>
            <a:off x="6368719" y="2906242"/>
            <a:ext cx="5823281" cy="1941094"/>
          </a:xfrm>
          <a:prstGeom prst="rect">
            <a:avLst/>
          </a:prstGeom>
        </p:spPr>
      </p:pic>
      <p:graphicFrame>
        <p:nvGraphicFramePr>
          <p:cNvPr id="11" name="Table 10">
            <a:extLst>
              <a:ext uri="{FF2B5EF4-FFF2-40B4-BE49-F238E27FC236}">
                <a16:creationId xmlns:a16="http://schemas.microsoft.com/office/drawing/2014/main" id="{C919E89F-AF7A-56C5-D2D5-20B2B2A4409E}"/>
              </a:ext>
            </a:extLst>
          </p:cNvPr>
          <p:cNvGraphicFramePr>
            <a:graphicFrameLocks noGrp="1"/>
          </p:cNvGraphicFramePr>
          <p:nvPr/>
        </p:nvGraphicFramePr>
        <p:xfrm>
          <a:off x="667511" y="2505774"/>
          <a:ext cx="5586985" cy="1428179"/>
        </p:xfrm>
        <a:graphic>
          <a:graphicData uri="http://schemas.openxmlformats.org/drawingml/2006/table">
            <a:tbl>
              <a:tblPr firstRow="1" firstCol="1" bandRow="1">
                <a:tableStyleId>{5C22544A-7EE6-4342-B048-85BDC9FD1C3A}</a:tableStyleId>
              </a:tblPr>
              <a:tblGrid>
                <a:gridCol w="1865377">
                  <a:extLst>
                    <a:ext uri="{9D8B030D-6E8A-4147-A177-3AD203B41FA5}">
                      <a16:colId xmlns:a16="http://schemas.microsoft.com/office/drawing/2014/main" val="3660002303"/>
                    </a:ext>
                  </a:extLst>
                </a:gridCol>
                <a:gridCol w="3721608">
                  <a:extLst>
                    <a:ext uri="{9D8B030D-6E8A-4147-A177-3AD203B41FA5}">
                      <a16:colId xmlns:a16="http://schemas.microsoft.com/office/drawing/2014/main" val="2955813678"/>
                    </a:ext>
                  </a:extLst>
                </a:gridCol>
              </a:tblGrid>
              <a:tr h="1124008">
                <a:tc>
                  <a:txBody>
                    <a:bodyPr/>
                    <a:lstStyle/>
                    <a:p>
                      <a:pPr marL="0" marR="0">
                        <a:lnSpc>
                          <a:spcPct val="110000"/>
                        </a:lnSpc>
                        <a:spcAft>
                          <a:spcPts val="600"/>
                        </a:spcAft>
                        <a:buNone/>
                      </a:pPr>
                      <a:r>
                        <a:rPr lang="en-US" sz="1600" dirty="0">
                          <a:effectLst/>
                        </a:rPr>
                        <a:t>5. Interest rate by outcome</a:t>
                      </a:r>
                      <a:endParaRPr lang="en-US" sz="16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600" dirty="0">
                          <a:effectLst/>
                        </a:rPr>
                        <a:t>Compares average interest rates for good and bad loans. It shows whether higher-risk borrowers received higher prices and whether pricing aligns with outcomes.</a:t>
                      </a:r>
                      <a:endParaRPr lang="en-US" sz="16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3522203818"/>
                  </a:ext>
                </a:extLst>
              </a:tr>
            </a:tbl>
          </a:graphicData>
        </a:graphic>
      </p:graphicFrame>
    </p:spTree>
    <p:extLst>
      <p:ext uri="{BB962C8B-B14F-4D97-AF65-F5344CB8AC3E}">
        <p14:creationId xmlns:p14="http://schemas.microsoft.com/office/powerpoint/2010/main" val="34475015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6BD89-9FDC-33F3-CC3B-D89333FE9D84}"/>
              </a:ext>
            </a:extLst>
          </p:cNvPr>
          <p:cNvSpPr>
            <a:spLocks noGrp="1"/>
          </p:cNvSpPr>
          <p:nvPr>
            <p:ph type="title"/>
          </p:nvPr>
        </p:nvSpPr>
        <p:spPr/>
        <p:txBody>
          <a:bodyPr/>
          <a:lstStyle/>
          <a:p>
            <a:pPr algn="ctr"/>
            <a:r>
              <a:rPr lang="en-US" dirty="0"/>
              <a:t>SQL Business Insights Screenshot Output</a:t>
            </a:r>
          </a:p>
        </p:txBody>
      </p:sp>
      <p:graphicFrame>
        <p:nvGraphicFramePr>
          <p:cNvPr id="7" name="Table 6">
            <a:extLst>
              <a:ext uri="{FF2B5EF4-FFF2-40B4-BE49-F238E27FC236}">
                <a16:creationId xmlns:a16="http://schemas.microsoft.com/office/drawing/2014/main" id="{6CFF08DD-239D-EA03-C687-67014F9F0236}"/>
              </a:ext>
            </a:extLst>
          </p:cNvPr>
          <p:cNvGraphicFramePr>
            <a:graphicFrameLocks noGrp="1"/>
          </p:cNvGraphicFramePr>
          <p:nvPr/>
        </p:nvGraphicFramePr>
        <p:xfrm>
          <a:off x="676656" y="2241550"/>
          <a:ext cx="5824728" cy="1428179"/>
        </p:xfrm>
        <a:graphic>
          <a:graphicData uri="http://schemas.openxmlformats.org/drawingml/2006/table">
            <a:tbl>
              <a:tblPr firstRow="1" firstCol="1" bandRow="1">
                <a:tableStyleId>{5C22544A-7EE6-4342-B048-85BDC9FD1C3A}</a:tableStyleId>
              </a:tblPr>
              <a:tblGrid>
                <a:gridCol w="1773555">
                  <a:extLst>
                    <a:ext uri="{9D8B030D-6E8A-4147-A177-3AD203B41FA5}">
                      <a16:colId xmlns:a16="http://schemas.microsoft.com/office/drawing/2014/main" val="3243940436"/>
                    </a:ext>
                  </a:extLst>
                </a:gridCol>
                <a:gridCol w="4051173">
                  <a:extLst>
                    <a:ext uri="{9D8B030D-6E8A-4147-A177-3AD203B41FA5}">
                      <a16:colId xmlns:a16="http://schemas.microsoft.com/office/drawing/2014/main" val="926944054"/>
                    </a:ext>
                  </a:extLst>
                </a:gridCol>
              </a:tblGrid>
              <a:tr h="0">
                <a:tc>
                  <a:txBody>
                    <a:bodyPr/>
                    <a:lstStyle/>
                    <a:p>
                      <a:pPr marL="0" marR="0">
                        <a:lnSpc>
                          <a:spcPct val="110000"/>
                        </a:lnSpc>
                        <a:spcAft>
                          <a:spcPts val="600"/>
                        </a:spcAft>
                        <a:buNone/>
                      </a:pPr>
                      <a:r>
                        <a:rPr lang="en-US" sz="1600">
                          <a:effectLst/>
                        </a:rPr>
                        <a:t>6. DTI risk bands</a:t>
                      </a:r>
                      <a:endParaRPr lang="en-US" sz="16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600" dirty="0">
                          <a:effectLst/>
                        </a:rPr>
                        <a:t>Groups borrowers into low, medium, high and very-high DTI bands. It makes the relationship between debt burden and observed default easier to understand.</a:t>
                      </a:r>
                      <a:endParaRPr lang="en-US" sz="16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2076468338"/>
                  </a:ext>
                </a:extLst>
              </a:tr>
            </a:tbl>
          </a:graphicData>
        </a:graphic>
      </p:graphicFrame>
      <p:pic>
        <p:nvPicPr>
          <p:cNvPr id="9" name="Picture 8">
            <a:extLst>
              <a:ext uri="{FF2B5EF4-FFF2-40B4-BE49-F238E27FC236}">
                <a16:creationId xmlns:a16="http://schemas.microsoft.com/office/drawing/2014/main" id="{13EB0B6B-B298-02D7-AFDE-84649F138FF7}"/>
              </a:ext>
            </a:extLst>
          </p:cNvPr>
          <p:cNvPicPr>
            <a:picLocks noChangeAspect="1"/>
          </p:cNvPicPr>
          <p:nvPr/>
        </p:nvPicPr>
        <p:blipFill>
          <a:blip r:embed="rId2"/>
          <a:stretch>
            <a:fillRect/>
          </a:stretch>
        </p:blipFill>
        <p:spPr>
          <a:xfrm>
            <a:off x="842132" y="4073094"/>
            <a:ext cx="5659252" cy="2129223"/>
          </a:xfrm>
          <a:prstGeom prst="rect">
            <a:avLst/>
          </a:prstGeom>
        </p:spPr>
      </p:pic>
      <p:pic>
        <p:nvPicPr>
          <p:cNvPr id="11" name="Picture 10">
            <a:extLst>
              <a:ext uri="{FF2B5EF4-FFF2-40B4-BE49-F238E27FC236}">
                <a16:creationId xmlns:a16="http://schemas.microsoft.com/office/drawing/2014/main" id="{4ED58F0A-2F38-827D-150E-15803FAD7A76}"/>
              </a:ext>
            </a:extLst>
          </p:cNvPr>
          <p:cNvPicPr>
            <a:picLocks noChangeAspect="1"/>
          </p:cNvPicPr>
          <p:nvPr/>
        </p:nvPicPr>
        <p:blipFill>
          <a:blip r:embed="rId3"/>
          <a:stretch>
            <a:fillRect/>
          </a:stretch>
        </p:blipFill>
        <p:spPr>
          <a:xfrm>
            <a:off x="6501384" y="3150082"/>
            <a:ext cx="4953456" cy="2590042"/>
          </a:xfrm>
          <a:prstGeom prst="rect">
            <a:avLst/>
          </a:prstGeom>
        </p:spPr>
      </p:pic>
    </p:spTree>
    <p:extLst>
      <p:ext uri="{BB962C8B-B14F-4D97-AF65-F5344CB8AC3E}">
        <p14:creationId xmlns:p14="http://schemas.microsoft.com/office/powerpoint/2010/main" val="16865166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BF01E-6437-89B9-F539-2F6C8EC7D23F}"/>
              </a:ext>
            </a:extLst>
          </p:cNvPr>
          <p:cNvSpPr>
            <a:spLocks noGrp="1"/>
          </p:cNvSpPr>
          <p:nvPr>
            <p:ph type="title"/>
          </p:nvPr>
        </p:nvSpPr>
        <p:spPr/>
        <p:txBody>
          <a:bodyPr/>
          <a:lstStyle/>
          <a:p>
            <a:pPr algn="ctr"/>
            <a:r>
              <a:rPr lang="en-US" dirty="0"/>
              <a:t>EDA OUTPUTS</a:t>
            </a:r>
          </a:p>
        </p:txBody>
      </p:sp>
      <p:pic>
        <p:nvPicPr>
          <p:cNvPr id="4" name="Picture 3">
            <a:extLst>
              <a:ext uri="{FF2B5EF4-FFF2-40B4-BE49-F238E27FC236}">
                <a16:creationId xmlns:a16="http://schemas.microsoft.com/office/drawing/2014/main" id="{E12DC87E-27F3-3CD0-4496-2D835A9B7905}"/>
              </a:ext>
            </a:extLst>
          </p:cNvPr>
          <p:cNvPicPr>
            <a:picLocks noChangeAspect="1"/>
          </p:cNvPicPr>
          <p:nvPr/>
        </p:nvPicPr>
        <p:blipFill>
          <a:blip r:embed="rId2"/>
          <a:stretch>
            <a:fillRect/>
          </a:stretch>
        </p:blipFill>
        <p:spPr>
          <a:xfrm>
            <a:off x="2441218" y="1829144"/>
            <a:ext cx="7607946" cy="3890131"/>
          </a:xfrm>
          <a:prstGeom prst="rect">
            <a:avLst/>
          </a:prstGeom>
        </p:spPr>
      </p:pic>
      <p:graphicFrame>
        <p:nvGraphicFramePr>
          <p:cNvPr id="3" name="Content Placeholder 2">
            <a:extLst>
              <a:ext uri="{FF2B5EF4-FFF2-40B4-BE49-F238E27FC236}">
                <a16:creationId xmlns:a16="http://schemas.microsoft.com/office/drawing/2014/main" id="{1557FDEC-7DE5-4183-7A3D-C7F7975FB6AE}"/>
              </a:ext>
            </a:extLst>
          </p:cNvPr>
          <p:cNvGraphicFramePr>
            <a:graphicFrameLocks noGrp="1"/>
          </p:cNvGraphicFramePr>
          <p:nvPr>
            <p:ph idx="1"/>
            <p:extLst>
              <p:ext uri="{D42A27DB-BD31-4B8C-83A1-F6EECF244321}">
                <p14:modId xmlns:p14="http://schemas.microsoft.com/office/powerpoint/2010/main" val="3347395841"/>
              </p:ext>
            </p:extLst>
          </p:nvPr>
        </p:nvGraphicFramePr>
        <p:xfrm>
          <a:off x="3486726" y="5719276"/>
          <a:ext cx="7607945" cy="792925"/>
        </p:xfrm>
        <a:graphic>
          <a:graphicData uri="http://schemas.openxmlformats.org/drawingml/2006/table">
            <a:tbl>
              <a:tblPr firstRow="1" firstCol="1" bandRow="1">
                <a:tableStyleId>{5C22544A-7EE6-4342-B048-85BDC9FD1C3A}</a:tableStyleId>
              </a:tblPr>
              <a:tblGrid>
                <a:gridCol w="2316522">
                  <a:extLst>
                    <a:ext uri="{9D8B030D-6E8A-4147-A177-3AD203B41FA5}">
                      <a16:colId xmlns:a16="http://schemas.microsoft.com/office/drawing/2014/main" val="3140638361"/>
                    </a:ext>
                  </a:extLst>
                </a:gridCol>
                <a:gridCol w="5291423">
                  <a:extLst>
                    <a:ext uri="{9D8B030D-6E8A-4147-A177-3AD203B41FA5}">
                      <a16:colId xmlns:a16="http://schemas.microsoft.com/office/drawing/2014/main" val="657247108"/>
                    </a:ext>
                  </a:extLst>
                </a:gridCol>
              </a:tblGrid>
              <a:tr h="616870">
                <a:tc>
                  <a:txBody>
                    <a:bodyPr/>
                    <a:lstStyle/>
                    <a:p>
                      <a:pPr marL="0" marR="0">
                        <a:lnSpc>
                          <a:spcPct val="110000"/>
                        </a:lnSpc>
                        <a:spcAft>
                          <a:spcPts val="600"/>
                        </a:spcAft>
                        <a:buNone/>
                      </a:pPr>
                      <a:r>
                        <a:rPr lang="en-US" sz="1400" dirty="0">
                          <a:effectLst/>
                        </a:rPr>
                        <a:t>1. Good vs Bad Loans</a:t>
                      </a:r>
                      <a:endParaRPr lang="en-US" sz="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400" dirty="0">
                          <a:effectLst/>
                        </a:rPr>
                        <a:t>Compares the number of good and bad loans. It helps check class balance and shows whether the model may need special attention to the smaller class.</a:t>
                      </a:r>
                      <a:endParaRPr lang="en-US" sz="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2198931275"/>
                  </a:ext>
                </a:extLst>
              </a:tr>
            </a:tbl>
          </a:graphicData>
        </a:graphic>
      </p:graphicFrame>
    </p:spTree>
    <p:extLst>
      <p:ext uri="{BB962C8B-B14F-4D97-AF65-F5344CB8AC3E}">
        <p14:creationId xmlns:p14="http://schemas.microsoft.com/office/powerpoint/2010/main" val="21039085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6AEE3-3619-F0D2-0888-71F30849A485}"/>
              </a:ext>
            </a:extLst>
          </p:cNvPr>
          <p:cNvSpPr>
            <a:spLocks noGrp="1"/>
          </p:cNvSpPr>
          <p:nvPr>
            <p:ph type="title"/>
          </p:nvPr>
        </p:nvSpPr>
        <p:spPr/>
        <p:txBody>
          <a:bodyPr/>
          <a:lstStyle/>
          <a:p>
            <a:pPr algn="ctr"/>
            <a:r>
              <a:rPr lang="en-US" dirty="0"/>
              <a:t>EDA OUTPUTS</a:t>
            </a:r>
          </a:p>
        </p:txBody>
      </p:sp>
      <p:sp>
        <p:nvSpPr>
          <p:cNvPr id="3" name="Content Placeholder 2">
            <a:extLst>
              <a:ext uri="{FF2B5EF4-FFF2-40B4-BE49-F238E27FC236}">
                <a16:creationId xmlns:a16="http://schemas.microsoft.com/office/drawing/2014/main" id="{57688BE7-01AF-A8C2-6CA3-1AB0100CF7CD}"/>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61913DF4-48FF-61B8-6A33-325E2E0B66CA}"/>
              </a:ext>
            </a:extLst>
          </p:cNvPr>
          <p:cNvPicPr>
            <a:picLocks noChangeAspect="1"/>
          </p:cNvPicPr>
          <p:nvPr/>
        </p:nvPicPr>
        <p:blipFill>
          <a:blip r:embed="rId2"/>
          <a:stretch>
            <a:fillRect/>
          </a:stretch>
        </p:blipFill>
        <p:spPr>
          <a:xfrm>
            <a:off x="2068946" y="1821045"/>
            <a:ext cx="8405576" cy="4334799"/>
          </a:xfrm>
          <a:prstGeom prst="rect">
            <a:avLst/>
          </a:prstGeom>
        </p:spPr>
      </p:pic>
      <p:graphicFrame>
        <p:nvGraphicFramePr>
          <p:cNvPr id="7" name="Table 6">
            <a:extLst>
              <a:ext uri="{FF2B5EF4-FFF2-40B4-BE49-F238E27FC236}">
                <a16:creationId xmlns:a16="http://schemas.microsoft.com/office/drawing/2014/main" id="{16FB703C-0232-49D4-04ED-BF86A9E69352}"/>
              </a:ext>
            </a:extLst>
          </p:cNvPr>
          <p:cNvGraphicFramePr>
            <a:graphicFrameLocks noGrp="1"/>
          </p:cNvGraphicFramePr>
          <p:nvPr>
            <p:extLst>
              <p:ext uri="{D42A27DB-BD31-4B8C-83A1-F6EECF244321}">
                <p14:modId xmlns:p14="http://schemas.microsoft.com/office/powerpoint/2010/main" val="2828545830"/>
              </p:ext>
            </p:extLst>
          </p:nvPr>
        </p:nvGraphicFramePr>
        <p:xfrm>
          <a:off x="2411078" y="5613940"/>
          <a:ext cx="7624342" cy="931964"/>
        </p:xfrm>
        <a:graphic>
          <a:graphicData uri="http://schemas.openxmlformats.org/drawingml/2006/table">
            <a:tbl>
              <a:tblPr firstRow="1" firstCol="1" bandRow="1">
                <a:tableStyleId>{5C22544A-7EE6-4342-B048-85BDC9FD1C3A}</a:tableStyleId>
              </a:tblPr>
              <a:tblGrid>
                <a:gridCol w="2321514">
                  <a:extLst>
                    <a:ext uri="{9D8B030D-6E8A-4147-A177-3AD203B41FA5}">
                      <a16:colId xmlns:a16="http://schemas.microsoft.com/office/drawing/2014/main" val="2789353419"/>
                    </a:ext>
                  </a:extLst>
                </a:gridCol>
                <a:gridCol w="5302828">
                  <a:extLst>
                    <a:ext uri="{9D8B030D-6E8A-4147-A177-3AD203B41FA5}">
                      <a16:colId xmlns:a16="http://schemas.microsoft.com/office/drawing/2014/main" val="319265267"/>
                    </a:ext>
                  </a:extLst>
                </a:gridCol>
              </a:tblGrid>
              <a:tr h="931964">
                <a:tc>
                  <a:txBody>
                    <a:bodyPr/>
                    <a:lstStyle/>
                    <a:p>
                      <a:pPr marL="0" marR="0">
                        <a:lnSpc>
                          <a:spcPct val="110000"/>
                        </a:lnSpc>
                        <a:spcAft>
                          <a:spcPts val="600"/>
                        </a:spcAft>
                        <a:buNone/>
                      </a:pPr>
                      <a:r>
                        <a:rPr lang="en-US" sz="1400">
                          <a:effectLst/>
                        </a:rPr>
                        <a:t>2. DTI by Loan Condition</a:t>
                      </a:r>
                      <a:endParaRPr lang="en-US" sz="14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400" dirty="0">
                          <a:effectLst/>
                        </a:rPr>
                        <a:t>Compares debt-to-income ratios for good and bad loans. A higher DTI can indicate that a larger share of income is already committed to debt.</a:t>
                      </a:r>
                      <a:endParaRPr lang="en-US" sz="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209714007"/>
                  </a:ext>
                </a:extLst>
              </a:tr>
            </a:tbl>
          </a:graphicData>
        </a:graphic>
      </p:graphicFrame>
    </p:spTree>
    <p:extLst>
      <p:ext uri="{BB962C8B-B14F-4D97-AF65-F5344CB8AC3E}">
        <p14:creationId xmlns:p14="http://schemas.microsoft.com/office/powerpoint/2010/main" val="40054680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A780A-673C-AA07-A8DB-1668BE6505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8E7E09-534E-14D8-A6FE-36E56E16673A}"/>
              </a:ext>
            </a:extLst>
          </p:cNvPr>
          <p:cNvSpPr>
            <a:spLocks noGrp="1"/>
          </p:cNvSpPr>
          <p:nvPr>
            <p:ph type="title"/>
          </p:nvPr>
        </p:nvSpPr>
        <p:spPr/>
        <p:txBody>
          <a:bodyPr/>
          <a:lstStyle/>
          <a:p>
            <a:pPr algn="ctr"/>
            <a:r>
              <a:rPr lang="en-US" dirty="0"/>
              <a:t>EDA OUTPUTS</a:t>
            </a:r>
          </a:p>
        </p:txBody>
      </p:sp>
      <p:graphicFrame>
        <p:nvGraphicFramePr>
          <p:cNvPr id="6" name="Content Placeholder 5">
            <a:extLst>
              <a:ext uri="{FF2B5EF4-FFF2-40B4-BE49-F238E27FC236}">
                <a16:creationId xmlns:a16="http://schemas.microsoft.com/office/drawing/2014/main" id="{5CE410AC-F236-81F6-65CB-0166617FD557}"/>
              </a:ext>
            </a:extLst>
          </p:cNvPr>
          <p:cNvGraphicFramePr>
            <a:graphicFrameLocks noGrp="1"/>
          </p:cNvGraphicFramePr>
          <p:nvPr>
            <p:ph idx="1"/>
            <p:extLst>
              <p:ext uri="{D42A27DB-BD31-4B8C-83A1-F6EECF244321}">
                <p14:modId xmlns:p14="http://schemas.microsoft.com/office/powerpoint/2010/main" val="4142641036"/>
              </p:ext>
            </p:extLst>
          </p:nvPr>
        </p:nvGraphicFramePr>
        <p:xfrm>
          <a:off x="2149038" y="5844200"/>
          <a:ext cx="7135091" cy="1013800"/>
        </p:xfrm>
        <a:graphic>
          <a:graphicData uri="http://schemas.openxmlformats.org/drawingml/2006/table">
            <a:tbl>
              <a:tblPr firstRow="1" firstCol="1" bandRow="1">
                <a:tableStyleId>{5C22544A-7EE6-4342-B048-85BDC9FD1C3A}</a:tableStyleId>
              </a:tblPr>
              <a:tblGrid>
                <a:gridCol w="2172544">
                  <a:extLst>
                    <a:ext uri="{9D8B030D-6E8A-4147-A177-3AD203B41FA5}">
                      <a16:colId xmlns:a16="http://schemas.microsoft.com/office/drawing/2014/main" val="3068418692"/>
                    </a:ext>
                  </a:extLst>
                </a:gridCol>
                <a:gridCol w="4962547">
                  <a:extLst>
                    <a:ext uri="{9D8B030D-6E8A-4147-A177-3AD203B41FA5}">
                      <a16:colId xmlns:a16="http://schemas.microsoft.com/office/drawing/2014/main" val="2025400505"/>
                    </a:ext>
                  </a:extLst>
                </a:gridCol>
              </a:tblGrid>
              <a:tr h="1013800">
                <a:tc>
                  <a:txBody>
                    <a:bodyPr/>
                    <a:lstStyle/>
                    <a:p>
                      <a:pPr marL="0" marR="0">
                        <a:lnSpc>
                          <a:spcPct val="110000"/>
                        </a:lnSpc>
                        <a:spcAft>
                          <a:spcPts val="600"/>
                        </a:spcAft>
                        <a:buNone/>
                      </a:pPr>
                      <a:r>
                        <a:rPr lang="en-US" sz="1400">
                          <a:effectLst/>
                        </a:rPr>
                        <a:t>3. Revolving Utilization</a:t>
                      </a:r>
                      <a:endParaRPr lang="en-US" sz="14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400" dirty="0">
                          <a:effectLst/>
                        </a:rPr>
                        <a:t>Compares credit utilization between the two loan outcomes. High utilization may show financial pressure and can be associated with greater repayment risk.</a:t>
                      </a:r>
                      <a:endParaRPr lang="en-US" sz="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3521417479"/>
                  </a:ext>
                </a:extLst>
              </a:tr>
            </a:tbl>
          </a:graphicData>
        </a:graphic>
      </p:graphicFrame>
      <p:pic>
        <p:nvPicPr>
          <p:cNvPr id="4" name="Picture 3">
            <a:extLst>
              <a:ext uri="{FF2B5EF4-FFF2-40B4-BE49-F238E27FC236}">
                <a16:creationId xmlns:a16="http://schemas.microsoft.com/office/drawing/2014/main" id="{263015A7-A6CB-392D-D206-C520F85443A5}"/>
              </a:ext>
            </a:extLst>
          </p:cNvPr>
          <p:cNvPicPr>
            <a:picLocks noChangeAspect="1"/>
          </p:cNvPicPr>
          <p:nvPr/>
        </p:nvPicPr>
        <p:blipFill>
          <a:blip r:embed="rId2"/>
          <a:stretch>
            <a:fillRect/>
          </a:stretch>
        </p:blipFill>
        <p:spPr>
          <a:xfrm>
            <a:off x="1883554" y="1715956"/>
            <a:ext cx="7400575" cy="4147801"/>
          </a:xfrm>
          <a:prstGeom prst="rect">
            <a:avLst/>
          </a:prstGeom>
        </p:spPr>
      </p:pic>
    </p:spTree>
    <p:extLst>
      <p:ext uri="{BB962C8B-B14F-4D97-AF65-F5344CB8AC3E}">
        <p14:creationId xmlns:p14="http://schemas.microsoft.com/office/powerpoint/2010/main" val="20145583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7CF4B-9B47-F236-582D-5D7C93AF5DB2}"/>
              </a:ext>
            </a:extLst>
          </p:cNvPr>
          <p:cNvSpPr>
            <a:spLocks noGrp="1"/>
          </p:cNvSpPr>
          <p:nvPr>
            <p:ph type="title"/>
          </p:nvPr>
        </p:nvSpPr>
        <p:spPr/>
        <p:txBody>
          <a:bodyPr/>
          <a:lstStyle/>
          <a:p>
            <a:pPr algn="ctr"/>
            <a:r>
              <a:rPr lang="en-US" dirty="0"/>
              <a:t>EDA OUTPUTS</a:t>
            </a:r>
          </a:p>
        </p:txBody>
      </p:sp>
      <p:pic>
        <p:nvPicPr>
          <p:cNvPr id="8" name="Picture 7">
            <a:extLst>
              <a:ext uri="{FF2B5EF4-FFF2-40B4-BE49-F238E27FC236}">
                <a16:creationId xmlns:a16="http://schemas.microsoft.com/office/drawing/2014/main" id="{E76DBFE8-4EBD-6086-5FEF-DBFAEBA3A369}"/>
              </a:ext>
            </a:extLst>
          </p:cNvPr>
          <p:cNvPicPr>
            <a:picLocks noChangeAspect="1"/>
          </p:cNvPicPr>
          <p:nvPr/>
        </p:nvPicPr>
        <p:blipFill>
          <a:blip r:embed="rId2"/>
          <a:stretch>
            <a:fillRect/>
          </a:stretch>
        </p:blipFill>
        <p:spPr>
          <a:xfrm>
            <a:off x="1930400" y="1607842"/>
            <a:ext cx="7922493" cy="3889308"/>
          </a:xfrm>
          <a:prstGeom prst="rect">
            <a:avLst/>
          </a:prstGeom>
        </p:spPr>
      </p:pic>
      <p:graphicFrame>
        <p:nvGraphicFramePr>
          <p:cNvPr id="9" name="Table 8">
            <a:extLst>
              <a:ext uri="{FF2B5EF4-FFF2-40B4-BE49-F238E27FC236}">
                <a16:creationId xmlns:a16="http://schemas.microsoft.com/office/drawing/2014/main" id="{D13B4896-7F22-2DE8-374E-405B9DDF3453}"/>
              </a:ext>
            </a:extLst>
          </p:cNvPr>
          <p:cNvGraphicFramePr>
            <a:graphicFrameLocks noGrp="1"/>
          </p:cNvGraphicFramePr>
          <p:nvPr>
            <p:extLst>
              <p:ext uri="{D42A27DB-BD31-4B8C-83A1-F6EECF244321}">
                <p14:modId xmlns:p14="http://schemas.microsoft.com/office/powerpoint/2010/main" val="4093451367"/>
              </p:ext>
            </p:extLst>
          </p:nvPr>
        </p:nvGraphicFramePr>
        <p:xfrm>
          <a:off x="2620818" y="5600969"/>
          <a:ext cx="7142018" cy="1109749"/>
        </p:xfrm>
        <a:graphic>
          <a:graphicData uri="http://schemas.openxmlformats.org/drawingml/2006/table">
            <a:tbl>
              <a:tblPr firstRow="1" firstCol="1" bandRow="1">
                <a:tableStyleId>{5C22544A-7EE6-4342-B048-85BDC9FD1C3A}</a:tableStyleId>
              </a:tblPr>
              <a:tblGrid>
                <a:gridCol w="2174652">
                  <a:extLst>
                    <a:ext uri="{9D8B030D-6E8A-4147-A177-3AD203B41FA5}">
                      <a16:colId xmlns:a16="http://schemas.microsoft.com/office/drawing/2014/main" val="4127709787"/>
                    </a:ext>
                  </a:extLst>
                </a:gridCol>
                <a:gridCol w="4967366">
                  <a:extLst>
                    <a:ext uri="{9D8B030D-6E8A-4147-A177-3AD203B41FA5}">
                      <a16:colId xmlns:a16="http://schemas.microsoft.com/office/drawing/2014/main" val="4139736202"/>
                    </a:ext>
                  </a:extLst>
                </a:gridCol>
              </a:tblGrid>
              <a:tr h="1109749">
                <a:tc>
                  <a:txBody>
                    <a:bodyPr/>
                    <a:lstStyle/>
                    <a:p>
                      <a:pPr marL="0" marR="0">
                        <a:lnSpc>
                          <a:spcPct val="110000"/>
                        </a:lnSpc>
                        <a:spcAft>
                          <a:spcPts val="600"/>
                        </a:spcAft>
                        <a:buNone/>
                      </a:pPr>
                      <a:r>
                        <a:rPr lang="en-US" sz="1400">
                          <a:effectLst/>
                        </a:rPr>
                        <a:t>4. Bad-Loan Rate by Grade</a:t>
                      </a:r>
                      <a:endParaRPr lang="en-US" sz="14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400" dirty="0">
                          <a:effectLst/>
                        </a:rPr>
                        <a:t>Shows the default percentage for each credit grade. It helps verify whether weaker grades carry higher observed risk and supports grade-based lending policy.</a:t>
                      </a:r>
                      <a:endParaRPr lang="en-US" sz="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3187273022"/>
                  </a:ext>
                </a:extLst>
              </a:tr>
            </a:tbl>
          </a:graphicData>
        </a:graphic>
      </p:graphicFrame>
    </p:spTree>
    <p:extLst>
      <p:ext uri="{BB962C8B-B14F-4D97-AF65-F5344CB8AC3E}">
        <p14:creationId xmlns:p14="http://schemas.microsoft.com/office/powerpoint/2010/main" val="38285622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C0E9D-8ED3-8242-9C4C-53654A0ADBEF}"/>
              </a:ext>
            </a:extLst>
          </p:cNvPr>
          <p:cNvSpPr>
            <a:spLocks noGrp="1"/>
          </p:cNvSpPr>
          <p:nvPr>
            <p:ph type="title"/>
          </p:nvPr>
        </p:nvSpPr>
        <p:spPr/>
        <p:txBody>
          <a:bodyPr/>
          <a:lstStyle/>
          <a:p>
            <a:pPr algn="ctr"/>
            <a:r>
              <a:rPr lang="en-US" dirty="0"/>
              <a:t>EDA OUTPUTS</a:t>
            </a:r>
          </a:p>
        </p:txBody>
      </p:sp>
      <p:pic>
        <p:nvPicPr>
          <p:cNvPr id="6" name="Picture 5">
            <a:extLst>
              <a:ext uri="{FF2B5EF4-FFF2-40B4-BE49-F238E27FC236}">
                <a16:creationId xmlns:a16="http://schemas.microsoft.com/office/drawing/2014/main" id="{5B82A2A3-DBA3-F776-3BA8-5E48D8D9620C}"/>
              </a:ext>
            </a:extLst>
          </p:cNvPr>
          <p:cNvPicPr>
            <a:picLocks noChangeAspect="1"/>
          </p:cNvPicPr>
          <p:nvPr/>
        </p:nvPicPr>
        <p:blipFill>
          <a:blip r:embed="rId2"/>
          <a:stretch>
            <a:fillRect/>
          </a:stretch>
        </p:blipFill>
        <p:spPr>
          <a:xfrm>
            <a:off x="1834500" y="1894386"/>
            <a:ext cx="7965281" cy="3991806"/>
          </a:xfrm>
          <a:prstGeom prst="rect">
            <a:avLst/>
          </a:prstGeom>
        </p:spPr>
      </p:pic>
      <p:graphicFrame>
        <p:nvGraphicFramePr>
          <p:cNvPr id="9" name="Table 8">
            <a:extLst>
              <a:ext uri="{FF2B5EF4-FFF2-40B4-BE49-F238E27FC236}">
                <a16:creationId xmlns:a16="http://schemas.microsoft.com/office/drawing/2014/main" id="{CDF70520-CC6B-60ED-B080-59A316F9416B}"/>
              </a:ext>
            </a:extLst>
          </p:cNvPr>
          <p:cNvGraphicFramePr>
            <a:graphicFrameLocks noGrp="1"/>
          </p:cNvGraphicFramePr>
          <p:nvPr>
            <p:extLst>
              <p:ext uri="{D42A27DB-BD31-4B8C-83A1-F6EECF244321}">
                <p14:modId xmlns:p14="http://schemas.microsoft.com/office/powerpoint/2010/main" val="293074127"/>
              </p:ext>
            </p:extLst>
          </p:nvPr>
        </p:nvGraphicFramePr>
        <p:xfrm>
          <a:off x="2701636" y="6064622"/>
          <a:ext cx="7227454" cy="702156"/>
        </p:xfrm>
        <a:graphic>
          <a:graphicData uri="http://schemas.openxmlformats.org/drawingml/2006/table">
            <a:tbl>
              <a:tblPr firstRow="1" firstCol="1" bandRow="1">
                <a:tableStyleId>{5C22544A-7EE6-4342-B048-85BDC9FD1C3A}</a:tableStyleId>
              </a:tblPr>
              <a:tblGrid>
                <a:gridCol w="2200667">
                  <a:extLst>
                    <a:ext uri="{9D8B030D-6E8A-4147-A177-3AD203B41FA5}">
                      <a16:colId xmlns:a16="http://schemas.microsoft.com/office/drawing/2014/main" val="1730038607"/>
                    </a:ext>
                  </a:extLst>
                </a:gridCol>
                <a:gridCol w="5026787">
                  <a:extLst>
                    <a:ext uri="{9D8B030D-6E8A-4147-A177-3AD203B41FA5}">
                      <a16:colId xmlns:a16="http://schemas.microsoft.com/office/drawing/2014/main" val="126177583"/>
                    </a:ext>
                  </a:extLst>
                </a:gridCol>
              </a:tblGrid>
              <a:tr h="702156">
                <a:tc>
                  <a:txBody>
                    <a:bodyPr/>
                    <a:lstStyle/>
                    <a:p>
                      <a:pPr marL="0" marR="0">
                        <a:lnSpc>
                          <a:spcPct val="110000"/>
                        </a:lnSpc>
                        <a:spcAft>
                          <a:spcPts val="600"/>
                        </a:spcAft>
                        <a:buNone/>
                      </a:pPr>
                      <a:r>
                        <a:rPr lang="en-US" sz="950">
                          <a:effectLst/>
                        </a:rPr>
                        <a:t>5. Bad-Loan Rate by Purpose</a:t>
                      </a:r>
                      <a:endParaRPr lang="en-US" sz="11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950" dirty="0">
                          <a:effectLst/>
                        </a:rPr>
                        <a:t>Compares default risk across loan purposes such as debt consolidation, business and credit card. It helps identify purposes that may need tighter review.</a:t>
                      </a:r>
                      <a:endParaRPr lang="en-US" sz="11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4115487953"/>
                  </a:ext>
                </a:extLst>
              </a:tr>
            </a:tbl>
          </a:graphicData>
        </a:graphic>
      </p:graphicFrame>
    </p:spTree>
    <p:extLst>
      <p:ext uri="{BB962C8B-B14F-4D97-AF65-F5344CB8AC3E}">
        <p14:creationId xmlns:p14="http://schemas.microsoft.com/office/powerpoint/2010/main" val="27381167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37701-40D1-DDD5-FA81-9731375B2ED0}"/>
              </a:ext>
            </a:extLst>
          </p:cNvPr>
          <p:cNvSpPr>
            <a:spLocks noGrp="1"/>
          </p:cNvSpPr>
          <p:nvPr>
            <p:ph type="title"/>
          </p:nvPr>
        </p:nvSpPr>
        <p:spPr/>
        <p:txBody>
          <a:bodyPr/>
          <a:lstStyle/>
          <a:p>
            <a:pPr algn="ctr"/>
            <a:r>
              <a:rPr lang="en-US" dirty="0"/>
              <a:t>EDA OUTPUTS</a:t>
            </a:r>
          </a:p>
        </p:txBody>
      </p:sp>
      <p:pic>
        <p:nvPicPr>
          <p:cNvPr id="11" name="Picture 10">
            <a:extLst>
              <a:ext uri="{FF2B5EF4-FFF2-40B4-BE49-F238E27FC236}">
                <a16:creationId xmlns:a16="http://schemas.microsoft.com/office/drawing/2014/main" id="{B6A708E2-8F07-C62F-8811-439D1B45E46E}"/>
              </a:ext>
            </a:extLst>
          </p:cNvPr>
          <p:cNvPicPr>
            <a:picLocks noChangeAspect="1"/>
          </p:cNvPicPr>
          <p:nvPr/>
        </p:nvPicPr>
        <p:blipFill>
          <a:blip r:embed="rId2"/>
          <a:stretch>
            <a:fillRect/>
          </a:stretch>
        </p:blipFill>
        <p:spPr>
          <a:xfrm>
            <a:off x="1603086" y="1715956"/>
            <a:ext cx="8741641" cy="4155619"/>
          </a:xfrm>
          <a:prstGeom prst="rect">
            <a:avLst/>
          </a:prstGeom>
        </p:spPr>
      </p:pic>
      <p:graphicFrame>
        <p:nvGraphicFramePr>
          <p:cNvPr id="12" name="Table 11">
            <a:extLst>
              <a:ext uri="{FF2B5EF4-FFF2-40B4-BE49-F238E27FC236}">
                <a16:creationId xmlns:a16="http://schemas.microsoft.com/office/drawing/2014/main" id="{C79F8FA0-4C61-02ED-384E-D3C00A50FD78}"/>
              </a:ext>
            </a:extLst>
          </p:cNvPr>
          <p:cNvGraphicFramePr>
            <a:graphicFrameLocks noGrp="1"/>
          </p:cNvGraphicFramePr>
          <p:nvPr>
            <p:extLst>
              <p:ext uri="{D42A27DB-BD31-4B8C-83A1-F6EECF244321}">
                <p14:modId xmlns:p14="http://schemas.microsoft.com/office/powerpoint/2010/main" val="2397433674"/>
              </p:ext>
            </p:extLst>
          </p:nvPr>
        </p:nvGraphicFramePr>
        <p:xfrm>
          <a:off x="2627746" y="5871574"/>
          <a:ext cx="7643090" cy="824789"/>
        </p:xfrm>
        <a:graphic>
          <a:graphicData uri="http://schemas.openxmlformats.org/drawingml/2006/table">
            <a:tbl>
              <a:tblPr firstRow="1" firstCol="1" bandRow="1">
                <a:tableStyleId>{5C22544A-7EE6-4342-B048-85BDC9FD1C3A}</a:tableStyleId>
              </a:tblPr>
              <a:tblGrid>
                <a:gridCol w="2327223">
                  <a:extLst>
                    <a:ext uri="{9D8B030D-6E8A-4147-A177-3AD203B41FA5}">
                      <a16:colId xmlns:a16="http://schemas.microsoft.com/office/drawing/2014/main" val="491658765"/>
                    </a:ext>
                  </a:extLst>
                </a:gridCol>
                <a:gridCol w="5315867">
                  <a:extLst>
                    <a:ext uri="{9D8B030D-6E8A-4147-A177-3AD203B41FA5}">
                      <a16:colId xmlns:a16="http://schemas.microsoft.com/office/drawing/2014/main" val="907155575"/>
                    </a:ext>
                  </a:extLst>
                </a:gridCol>
              </a:tblGrid>
              <a:tr h="824789">
                <a:tc>
                  <a:txBody>
                    <a:bodyPr/>
                    <a:lstStyle/>
                    <a:p>
                      <a:pPr marL="0" marR="0">
                        <a:lnSpc>
                          <a:spcPct val="110000"/>
                        </a:lnSpc>
                        <a:spcAft>
                          <a:spcPts val="600"/>
                        </a:spcAft>
                        <a:buNone/>
                      </a:pPr>
                      <a:r>
                        <a:rPr lang="en-US" sz="1400">
                          <a:effectLst/>
                        </a:rPr>
                        <a:t>6. Loan Amount by Condition</a:t>
                      </a:r>
                      <a:endParaRPr lang="en-US" sz="14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400" dirty="0">
                          <a:effectLst/>
                        </a:rPr>
                        <a:t>Compares requested loan amounts for good and bad loans. It helps determine whether larger loans are linked with different repayment outcomes or exposure.</a:t>
                      </a:r>
                      <a:endParaRPr lang="en-US" sz="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3735713960"/>
                  </a:ext>
                </a:extLst>
              </a:tr>
            </a:tbl>
          </a:graphicData>
        </a:graphic>
      </p:graphicFrame>
    </p:spTree>
    <p:extLst>
      <p:ext uri="{BB962C8B-B14F-4D97-AF65-F5344CB8AC3E}">
        <p14:creationId xmlns:p14="http://schemas.microsoft.com/office/powerpoint/2010/main" val="32798875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36BE2-E676-ADE1-F092-DFF004415842}"/>
              </a:ext>
            </a:extLst>
          </p:cNvPr>
          <p:cNvSpPr>
            <a:spLocks noGrp="1"/>
          </p:cNvSpPr>
          <p:nvPr>
            <p:ph type="title"/>
          </p:nvPr>
        </p:nvSpPr>
        <p:spPr/>
        <p:txBody>
          <a:bodyPr/>
          <a:lstStyle/>
          <a:p>
            <a:pPr algn="ctr"/>
            <a:r>
              <a:rPr lang="en-US" dirty="0"/>
              <a:t>EDA OUTPUTS</a:t>
            </a:r>
          </a:p>
        </p:txBody>
      </p:sp>
      <p:pic>
        <p:nvPicPr>
          <p:cNvPr id="8" name="Picture 7">
            <a:extLst>
              <a:ext uri="{FF2B5EF4-FFF2-40B4-BE49-F238E27FC236}">
                <a16:creationId xmlns:a16="http://schemas.microsoft.com/office/drawing/2014/main" id="{4BECAB67-9E14-1502-EDEB-311B31E4FB5E}"/>
              </a:ext>
            </a:extLst>
          </p:cNvPr>
          <p:cNvPicPr>
            <a:picLocks noChangeAspect="1"/>
          </p:cNvPicPr>
          <p:nvPr/>
        </p:nvPicPr>
        <p:blipFill>
          <a:blip r:embed="rId2"/>
          <a:stretch>
            <a:fillRect/>
          </a:stretch>
        </p:blipFill>
        <p:spPr>
          <a:xfrm>
            <a:off x="1512090" y="1715956"/>
            <a:ext cx="8996871" cy="4218556"/>
          </a:xfrm>
          <a:prstGeom prst="rect">
            <a:avLst/>
          </a:prstGeom>
        </p:spPr>
      </p:pic>
      <p:graphicFrame>
        <p:nvGraphicFramePr>
          <p:cNvPr id="9" name="Table 8">
            <a:extLst>
              <a:ext uri="{FF2B5EF4-FFF2-40B4-BE49-F238E27FC236}">
                <a16:creationId xmlns:a16="http://schemas.microsoft.com/office/drawing/2014/main" id="{FDE88E6E-56D4-603F-4099-BAC055B835AC}"/>
              </a:ext>
            </a:extLst>
          </p:cNvPr>
          <p:cNvGraphicFramePr>
            <a:graphicFrameLocks noGrp="1"/>
          </p:cNvGraphicFramePr>
          <p:nvPr>
            <p:extLst>
              <p:ext uri="{D42A27DB-BD31-4B8C-83A1-F6EECF244321}">
                <p14:modId xmlns:p14="http://schemas.microsoft.com/office/powerpoint/2010/main" val="138444362"/>
              </p:ext>
            </p:extLst>
          </p:nvPr>
        </p:nvGraphicFramePr>
        <p:xfrm>
          <a:off x="2369127" y="6041113"/>
          <a:ext cx="7763164" cy="792925"/>
        </p:xfrm>
        <a:graphic>
          <a:graphicData uri="http://schemas.openxmlformats.org/drawingml/2006/table">
            <a:tbl>
              <a:tblPr firstRow="1" firstCol="1" bandRow="1">
                <a:tableStyleId>{5C22544A-7EE6-4342-B048-85BDC9FD1C3A}</a:tableStyleId>
              </a:tblPr>
              <a:tblGrid>
                <a:gridCol w="2363784">
                  <a:extLst>
                    <a:ext uri="{9D8B030D-6E8A-4147-A177-3AD203B41FA5}">
                      <a16:colId xmlns:a16="http://schemas.microsoft.com/office/drawing/2014/main" val="1272452311"/>
                    </a:ext>
                  </a:extLst>
                </a:gridCol>
                <a:gridCol w="5399380">
                  <a:extLst>
                    <a:ext uri="{9D8B030D-6E8A-4147-A177-3AD203B41FA5}">
                      <a16:colId xmlns:a16="http://schemas.microsoft.com/office/drawing/2014/main" val="893984323"/>
                    </a:ext>
                  </a:extLst>
                </a:gridCol>
              </a:tblGrid>
              <a:tr h="0">
                <a:tc>
                  <a:txBody>
                    <a:bodyPr/>
                    <a:lstStyle/>
                    <a:p>
                      <a:pPr marL="0" marR="0">
                        <a:lnSpc>
                          <a:spcPct val="110000"/>
                        </a:lnSpc>
                        <a:spcAft>
                          <a:spcPts val="600"/>
                        </a:spcAft>
                        <a:buNone/>
                      </a:pPr>
                      <a:r>
                        <a:rPr lang="en-US" sz="1400">
                          <a:effectLst/>
                        </a:rPr>
                        <a:t>7. Interest Rate by Condition</a:t>
                      </a:r>
                      <a:endParaRPr lang="en-US" sz="14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400" dirty="0">
                          <a:effectLst/>
                        </a:rPr>
                        <a:t>Shows how interest rates differ between good and bad loans. Higher rates often represent higher expected risk, but may also increase repayment burden.</a:t>
                      </a:r>
                      <a:endParaRPr lang="en-US" sz="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735921414"/>
                  </a:ext>
                </a:extLst>
              </a:tr>
            </a:tbl>
          </a:graphicData>
        </a:graphic>
      </p:graphicFrame>
    </p:spTree>
    <p:extLst>
      <p:ext uri="{BB962C8B-B14F-4D97-AF65-F5344CB8AC3E}">
        <p14:creationId xmlns:p14="http://schemas.microsoft.com/office/powerpoint/2010/main" val="15773365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A5274-4BC4-4DB0-E508-218F53586D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E271ED-2A9B-4754-699C-737532658E78}"/>
              </a:ext>
            </a:extLst>
          </p:cNvPr>
          <p:cNvSpPr>
            <a:spLocks noGrp="1"/>
          </p:cNvSpPr>
          <p:nvPr>
            <p:ph type="title"/>
          </p:nvPr>
        </p:nvSpPr>
        <p:spPr/>
        <p:txBody>
          <a:bodyPr/>
          <a:lstStyle/>
          <a:p>
            <a:pPr algn="ctr"/>
            <a:r>
              <a:rPr lang="en-US" dirty="0"/>
              <a:t>EDA OUTPUTS</a:t>
            </a:r>
          </a:p>
        </p:txBody>
      </p:sp>
      <p:pic>
        <p:nvPicPr>
          <p:cNvPr id="4" name="Picture 3">
            <a:extLst>
              <a:ext uri="{FF2B5EF4-FFF2-40B4-BE49-F238E27FC236}">
                <a16:creationId xmlns:a16="http://schemas.microsoft.com/office/drawing/2014/main" id="{4591D34F-0028-DA0D-B13A-0F3C8F18ADAA}"/>
              </a:ext>
            </a:extLst>
          </p:cNvPr>
          <p:cNvPicPr>
            <a:picLocks noChangeAspect="1"/>
          </p:cNvPicPr>
          <p:nvPr/>
        </p:nvPicPr>
        <p:blipFill>
          <a:blip r:embed="rId3"/>
          <a:stretch>
            <a:fillRect/>
          </a:stretch>
        </p:blipFill>
        <p:spPr>
          <a:xfrm>
            <a:off x="1852666" y="1715956"/>
            <a:ext cx="8672743" cy="4145244"/>
          </a:xfrm>
          <a:prstGeom prst="rect">
            <a:avLst/>
          </a:prstGeom>
        </p:spPr>
      </p:pic>
      <p:graphicFrame>
        <p:nvGraphicFramePr>
          <p:cNvPr id="5" name="Table 4">
            <a:extLst>
              <a:ext uri="{FF2B5EF4-FFF2-40B4-BE49-F238E27FC236}">
                <a16:creationId xmlns:a16="http://schemas.microsoft.com/office/drawing/2014/main" id="{2DF06A66-1877-446D-FC36-B3B466F8CD35}"/>
              </a:ext>
            </a:extLst>
          </p:cNvPr>
          <p:cNvGraphicFramePr>
            <a:graphicFrameLocks noGrp="1"/>
          </p:cNvGraphicFramePr>
          <p:nvPr>
            <p:extLst>
              <p:ext uri="{D42A27DB-BD31-4B8C-83A1-F6EECF244321}">
                <p14:modId xmlns:p14="http://schemas.microsoft.com/office/powerpoint/2010/main" val="2150380783"/>
              </p:ext>
            </p:extLst>
          </p:nvPr>
        </p:nvGraphicFramePr>
        <p:xfrm>
          <a:off x="2226637" y="5948748"/>
          <a:ext cx="8298772" cy="909251"/>
        </p:xfrm>
        <a:graphic>
          <a:graphicData uri="http://schemas.openxmlformats.org/drawingml/2006/table">
            <a:tbl>
              <a:tblPr firstRow="1" firstCol="1" bandRow="1">
                <a:tableStyleId>{5C22544A-7EE6-4342-B048-85BDC9FD1C3A}</a:tableStyleId>
              </a:tblPr>
              <a:tblGrid>
                <a:gridCol w="2526870">
                  <a:extLst>
                    <a:ext uri="{9D8B030D-6E8A-4147-A177-3AD203B41FA5}">
                      <a16:colId xmlns:a16="http://schemas.microsoft.com/office/drawing/2014/main" val="3226284334"/>
                    </a:ext>
                  </a:extLst>
                </a:gridCol>
                <a:gridCol w="5771902">
                  <a:extLst>
                    <a:ext uri="{9D8B030D-6E8A-4147-A177-3AD203B41FA5}">
                      <a16:colId xmlns:a16="http://schemas.microsoft.com/office/drawing/2014/main" val="628867424"/>
                    </a:ext>
                  </a:extLst>
                </a:gridCol>
              </a:tblGrid>
              <a:tr h="909251">
                <a:tc>
                  <a:txBody>
                    <a:bodyPr/>
                    <a:lstStyle/>
                    <a:p>
                      <a:pPr marL="0" marR="0">
                        <a:lnSpc>
                          <a:spcPct val="110000"/>
                        </a:lnSpc>
                        <a:spcAft>
                          <a:spcPts val="600"/>
                        </a:spcAft>
                        <a:buNone/>
                      </a:pPr>
                      <a:r>
                        <a:rPr lang="en-US" sz="1600">
                          <a:effectLst/>
                        </a:rPr>
                        <a:t>8. Annual Income by Condition</a:t>
                      </a:r>
                      <a:endParaRPr lang="en-US" sz="16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600" dirty="0">
                          <a:effectLst/>
                        </a:rPr>
                        <a:t>Compares borrower income for good and bad loans. Income is useful for judging repayment capacity, but it should be considered together with loan amount and DTI.</a:t>
                      </a:r>
                      <a:endParaRPr lang="en-US" sz="16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3290721730"/>
                  </a:ext>
                </a:extLst>
              </a:tr>
            </a:tbl>
          </a:graphicData>
        </a:graphic>
      </p:graphicFrame>
      <p:sp>
        <p:nvSpPr>
          <p:cNvPr id="6" name="Footer Placeholder 5">
            <a:extLst>
              <a:ext uri="{FF2B5EF4-FFF2-40B4-BE49-F238E27FC236}">
                <a16:creationId xmlns:a16="http://schemas.microsoft.com/office/drawing/2014/main" id="{3DA46716-19A0-0214-2961-95F85D25D728}"/>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8155280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B4359-E818-D7EA-2AFC-294EAC738C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E30E7-6785-0209-2D05-2114BB27B26A}"/>
              </a:ext>
            </a:extLst>
          </p:cNvPr>
          <p:cNvSpPr>
            <a:spLocks noGrp="1"/>
          </p:cNvSpPr>
          <p:nvPr>
            <p:ph type="title"/>
          </p:nvPr>
        </p:nvSpPr>
        <p:spPr/>
        <p:txBody>
          <a:bodyPr/>
          <a:lstStyle/>
          <a:p>
            <a:pPr algn="ctr"/>
            <a:r>
              <a:rPr lang="en-US" dirty="0"/>
              <a:t>EDA OUTPUTS</a:t>
            </a:r>
          </a:p>
        </p:txBody>
      </p:sp>
      <p:graphicFrame>
        <p:nvGraphicFramePr>
          <p:cNvPr id="3" name="Table 2">
            <a:extLst>
              <a:ext uri="{FF2B5EF4-FFF2-40B4-BE49-F238E27FC236}">
                <a16:creationId xmlns:a16="http://schemas.microsoft.com/office/drawing/2014/main" id="{0426F224-2B29-CD6A-5EA2-8257F5735A9B}"/>
              </a:ext>
            </a:extLst>
          </p:cNvPr>
          <p:cNvGraphicFramePr>
            <a:graphicFrameLocks noGrp="1"/>
          </p:cNvGraphicFramePr>
          <p:nvPr>
            <p:extLst>
              <p:ext uri="{D42A27DB-BD31-4B8C-83A1-F6EECF244321}">
                <p14:modId xmlns:p14="http://schemas.microsoft.com/office/powerpoint/2010/main" val="1941330165"/>
              </p:ext>
            </p:extLst>
          </p:nvPr>
        </p:nvGraphicFramePr>
        <p:xfrm>
          <a:off x="2008908" y="5967222"/>
          <a:ext cx="8769927" cy="891731"/>
        </p:xfrm>
        <a:graphic>
          <a:graphicData uri="http://schemas.openxmlformats.org/drawingml/2006/table">
            <a:tbl>
              <a:tblPr firstRow="1" firstCol="1" bandRow="1">
                <a:tableStyleId>{5C22544A-7EE6-4342-B048-85BDC9FD1C3A}</a:tableStyleId>
              </a:tblPr>
              <a:tblGrid>
                <a:gridCol w="2670330">
                  <a:extLst>
                    <a:ext uri="{9D8B030D-6E8A-4147-A177-3AD203B41FA5}">
                      <a16:colId xmlns:a16="http://schemas.microsoft.com/office/drawing/2014/main" val="2297332114"/>
                    </a:ext>
                  </a:extLst>
                </a:gridCol>
                <a:gridCol w="6099597">
                  <a:extLst>
                    <a:ext uri="{9D8B030D-6E8A-4147-A177-3AD203B41FA5}">
                      <a16:colId xmlns:a16="http://schemas.microsoft.com/office/drawing/2014/main" val="4135129480"/>
                    </a:ext>
                  </a:extLst>
                </a:gridCol>
              </a:tblGrid>
              <a:tr h="729142">
                <a:tc>
                  <a:txBody>
                    <a:bodyPr/>
                    <a:lstStyle/>
                    <a:p>
                      <a:pPr marL="0" marR="0">
                        <a:lnSpc>
                          <a:spcPct val="110000"/>
                        </a:lnSpc>
                        <a:spcAft>
                          <a:spcPts val="600"/>
                        </a:spcAft>
                        <a:buNone/>
                      </a:pPr>
                      <a:r>
                        <a:rPr lang="en-US" sz="1600">
                          <a:effectLst/>
                        </a:rPr>
                        <a:t>9. Bad-Loan Rate by State</a:t>
                      </a:r>
                      <a:endParaRPr lang="en-US" sz="16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600" dirty="0">
                          <a:effectLst/>
                        </a:rPr>
                        <a:t>Compares default rates across borrower states. It supports geographic monitoring and can reveal areas that require further investigation, not automatic discrimination.</a:t>
                      </a:r>
                      <a:endParaRPr lang="en-US" sz="16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550564762"/>
                  </a:ext>
                </a:extLst>
              </a:tr>
            </a:tbl>
          </a:graphicData>
        </a:graphic>
      </p:graphicFrame>
      <p:pic>
        <p:nvPicPr>
          <p:cNvPr id="5" name="Picture 4">
            <a:extLst>
              <a:ext uri="{FF2B5EF4-FFF2-40B4-BE49-F238E27FC236}">
                <a16:creationId xmlns:a16="http://schemas.microsoft.com/office/drawing/2014/main" id="{077B4642-1B30-59F9-9ACE-F9DF8EF0F689}"/>
              </a:ext>
            </a:extLst>
          </p:cNvPr>
          <p:cNvPicPr>
            <a:picLocks noChangeAspect="1"/>
          </p:cNvPicPr>
          <p:nvPr/>
        </p:nvPicPr>
        <p:blipFill>
          <a:blip r:embed="rId2"/>
          <a:stretch>
            <a:fillRect/>
          </a:stretch>
        </p:blipFill>
        <p:spPr>
          <a:xfrm>
            <a:off x="1653309" y="1788636"/>
            <a:ext cx="9028251" cy="4290757"/>
          </a:xfrm>
          <a:prstGeom prst="rect">
            <a:avLst/>
          </a:prstGeom>
        </p:spPr>
      </p:pic>
      <p:sp>
        <p:nvSpPr>
          <p:cNvPr id="6" name="Footer Placeholder 5">
            <a:extLst>
              <a:ext uri="{FF2B5EF4-FFF2-40B4-BE49-F238E27FC236}">
                <a16:creationId xmlns:a16="http://schemas.microsoft.com/office/drawing/2014/main" id="{BFA53A68-A230-8EF0-4FB4-738B8338171F}"/>
              </a:ext>
            </a:extLst>
          </p:cNvPr>
          <p:cNvSpPr>
            <a:spLocks noGrp="1"/>
          </p:cNvSpPr>
          <p:nvPr>
            <p:ph type="ftr" sz="quarter" idx="11"/>
          </p:nvPr>
        </p:nvSpPr>
        <p:spPr/>
        <p:txBody>
          <a:bodyPr/>
          <a:lstStyle/>
          <a:p>
            <a:r>
              <a:rPr lang="en-US"/>
              <a:t>MICRO-LENDING RISK INTELLIGENCE SYSTEM - Presented by: Deesha (2310990067) Group 10 , Semester VII BE-CSE 2023 BATCH</a:t>
            </a:r>
          </a:p>
        </p:txBody>
      </p:sp>
    </p:spTree>
    <p:extLst>
      <p:ext uri="{BB962C8B-B14F-4D97-AF65-F5344CB8AC3E}">
        <p14:creationId xmlns:p14="http://schemas.microsoft.com/office/powerpoint/2010/main" val="3596747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79120" y="624563"/>
            <a:ext cx="10058400" cy="292608"/>
          </a:xfrm>
          <a:prstGeom prst="rect">
            <a:avLst/>
          </a:prstGeom>
          <a:noFill/>
          <a:ln/>
        </p:spPr>
        <p:txBody>
          <a:bodyPr wrap="square" rtlCol="0" anchor="ctr"/>
          <a:lstStyle/>
          <a:p>
            <a:pPr marL="0" indent="0">
              <a:buNone/>
            </a:pPr>
            <a:r>
              <a:rPr lang="en-US" sz="1600" b="1" kern="0" spc="200" dirty="0">
                <a:solidFill>
                  <a:srgbClr val="00A896"/>
                </a:solidFill>
                <a:latin typeface="Calibri" pitchFamily="34" charset="0"/>
                <a:ea typeface="Calibri" pitchFamily="34" charset="-122"/>
                <a:cs typeface="Calibri" pitchFamily="34" charset="-120"/>
              </a:rPr>
              <a:t>DATA ENGINEERING</a:t>
            </a:r>
            <a:endParaRPr lang="en-US" sz="1600" dirty="0"/>
          </a:p>
        </p:txBody>
      </p:sp>
      <p:sp>
        <p:nvSpPr>
          <p:cNvPr id="3" name="Text 1"/>
          <p:cNvSpPr/>
          <p:nvPr/>
        </p:nvSpPr>
        <p:spPr>
          <a:xfrm>
            <a:off x="548640" y="621792"/>
            <a:ext cx="11064240" cy="658368"/>
          </a:xfrm>
          <a:prstGeom prst="rect">
            <a:avLst/>
          </a:prstGeom>
          <a:noFill/>
          <a:ln/>
        </p:spPr>
        <p:txBody>
          <a:bodyPr wrap="square" rtlCol="0" anchor="ctr"/>
          <a:lstStyle/>
          <a:p>
            <a:pPr marL="0" indent="0">
              <a:buNone/>
            </a:pPr>
            <a:r>
              <a:rPr lang="en-US" sz="1600" b="1" dirty="0">
                <a:solidFill>
                  <a:srgbClr val="0B2B2E"/>
                </a:solidFill>
                <a:latin typeface="Cambria" pitchFamily="34" charset="0"/>
                <a:ea typeface="Cambria" pitchFamily="34" charset="-122"/>
                <a:cs typeface="Cambria" pitchFamily="34" charset="-120"/>
              </a:rPr>
              <a:t>Feature Engineering</a:t>
            </a:r>
            <a:endParaRPr lang="en-US" sz="1600" dirty="0"/>
          </a:p>
        </p:txBody>
      </p:sp>
      <p:sp>
        <p:nvSpPr>
          <p:cNvPr id="4" name="Text 2"/>
          <p:cNvSpPr/>
          <p:nvPr/>
        </p:nvSpPr>
        <p:spPr>
          <a:xfrm>
            <a:off x="548640" y="1371600"/>
            <a:ext cx="11064240" cy="502920"/>
          </a:xfrm>
          <a:prstGeom prst="rect">
            <a:avLst/>
          </a:prstGeom>
          <a:noFill/>
          <a:ln/>
        </p:spPr>
        <p:txBody>
          <a:bodyPr wrap="square" rtlCol="0" anchor="ctr"/>
          <a:lstStyle/>
          <a:p>
            <a:pPr marL="0" indent="0">
              <a:lnSpc>
                <a:spcPct val="125000"/>
              </a:lnSpc>
              <a:buNone/>
            </a:pPr>
            <a:r>
              <a:rPr lang="en-US" sz="1600" dirty="0">
                <a:solidFill>
                  <a:srgbClr val="5C7A7D"/>
                </a:solidFill>
                <a:latin typeface="Calibri" pitchFamily="34" charset="0"/>
                <a:ea typeface="Calibri" pitchFamily="34" charset="-122"/>
                <a:cs typeface="Calibri" pitchFamily="34" charset="-120"/>
              </a:rPr>
              <a:t>Feature engineering converts raw financial information into variables that are more useful for machine-learning models.</a:t>
            </a:r>
            <a:endParaRPr lang="en-US" sz="1600" dirty="0"/>
          </a:p>
        </p:txBody>
      </p:sp>
      <p:sp>
        <p:nvSpPr>
          <p:cNvPr id="5" name="Shape 3"/>
          <p:cNvSpPr/>
          <p:nvPr/>
        </p:nvSpPr>
        <p:spPr>
          <a:xfrm>
            <a:off x="548640" y="2057400"/>
            <a:ext cx="5349240" cy="1874520"/>
          </a:xfrm>
          <a:prstGeom prst="roundRect">
            <a:avLst>
              <a:gd name="adj" fmla="val 4390"/>
            </a:avLst>
          </a:prstGeom>
          <a:solidFill>
            <a:srgbClr val="F3F8F8"/>
          </a:solidFill>
          <a:ln w="12700">
            <a:solidFill>
              <a:srgbClr val="DCEBEA"/>
            </a:solidFill>
            <a:prstDash val="solid"/>
          </a:ln>
        </p:spPr>
        <p:txBody>
          <a:bodyPr/>
          <a:lstStyle/>
          <a:p>
            <a:endParaRPr lang="en-US"/>
          </a:p>
        </p:txBody>
      </p:sp>
      <p:sp>
        <p:nvSpPr>
          <p:cNvPr id="6" name="Text 4"/>
          <p:cNvSpPr/>
          <p:nvPr/>
        </p:nvSpPr>
        <p:spPr>
          <a:xfrm>
            <a:off x="777240" y="2194560"/>
            <a:ext cx="640080" cy="548640"/>
          </a:xfrm>
          <a:prstGeom prst="rect">
            <a:avLst/>
          </a:prstGeom>
          <a:noFill/>
          <a:ln/>
        </p:spPr>
        <p:txBody>
          <a:bodyPr wrap="square" rtlCol="0" anchor="ctr"/>
          <a:lstStyle/>
          <a:p>
            <a:pPr marL="0" indent="0">
              <a:buNone/>
            </a:pPr>
            <a:r>
              <a:rPr lang="en-US" sz="1600" b="1" dirty="0">
                <a:solidFill>
                  <a:srgbClr val="CFE6E6"/>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417320" y="2258568"/>
            <a:ext cx="4251960" cy="411480"/>
          </a:xfrm>
          <a:prstGeom prst="rect">
            <a:avLst/>
          </a:prstGeom>
          <a:noFill/>
          <a:ln/>
        </p:spPr>
        <p:txBody>
          <a:bodyPr wrap="square" rtlCol="0" anchor="ctr"/>
          <a:lstStyle/>
          <a:p>
            <a:pPr marL="0" indent="0">
              <a:buNone/>
            </a:pPr>
            <a:r>
              <a:rPr lang="en-US" sz="1600" b="1" dirty="0">
                <a:solidFill>
                  <a:srgbClr val="0B2B2E"/>
                </a:solidFill>
                <a:latin typeface="Calibri" pitchFamily="34" charset="0"/>
                <a:ea typeface="Calibri" pitchFamily="34" charset="-122"/>
                <a:cs typeface="Calibri" pitchFamily="34" charset="-120"/>
              </a:rPr>
              <a:t>Loan-to-Income Ratio</a:t>
            </a:r>
            <a:endParaRPr lang="en-US" sz="1600" dirty="0"/>
          </a:p>
        </p:txBody>
      </p:sp>
      <p:sp>
        <p:nvSpPr>
          <p:cNvPr id="8" name="Shape 6"/>
          <p:cNvSpPr/>
          <p:nvPr/>
        </p:nvSpPr>
        <p:spPr>
          <a:xfrm>
            <a:off x="777240" y="2834640"/>
            <a:ext cx="4892040" cy="502920"/>
          </a:xfrm>
          <a:prstGeom prst="roundRect">
            <a:avLst>
              <a:gd name="adj" fmla="val 10909"/>
            </a:avLst>
          </a:prstGeom>
          <a:solidFill>
            <a:srgbClr val="012B2E"/>
          </a:solidFill>
          <a:ln/>
        </p:spPr>
        <p:txBody>
          <a:bodyPr/>
          <a:lstStyle/>
          <a:p>
            <a:endParaRPr lang="en-US"/>
          </a:p>
        </p:txBody>
      </p:sp>
      <p:sp>
        <p:nvSpPr>
          <p:cNvPr id="9" name="Text 7"/>
          <p:cNvSpPr/>
          <p:nvPr/>
        </p:nvSpPr>
        <p:spPr>
          <a:xfrm>
            <a:off x="914400" y="2834640"/>
            <a:ext cx="4617720" cy="502920"/>
          </a:xfrm>
          <a:prstGeom prst="rect">
            <a:avLst/>
          </a:prstGeom>
          <a:noFill/>
          <a:ln/>
        </p:spPr>
        <p:txBody>
          <a:bodyPr wrap="square" rtlCol="0" anchor="ctr"/>
          <a:lstStyle/>
          <a:p>
            <a:pPr marL="0" indent="0">
              <a:buNone/>
            </a:pPr>
            <a:r>
              <a:rPr lang="en-US" sz="1600" dirty="0">
                <a:solidFill>
                  <a:srgbClr val="02C39A"/>
                </a:solidFill>
                <a:latin typeface="Consolas" pitchFamily="34" charset="0"/>
                <a:ea typeface="Consolas" pitchFamily="34" charset="-122"/>
                <a:cs typeface="Consolas" pitchFamily="34" charset="-120"/>
              </a:rPr>
              <a:t>Loan-to-Income % = Loan Amount / Annual Income × 100</a:t>
            </a:r>
            <a:endParaRPr lang="en-US" sz="1600" dirty="0"/>
          </a:p>
        </p:txBody>
      </p:sp>
      <p:sp>
        <p:nvSpPr>
          <p:cNvPr id="10" name="Text 8"/>
          <p:cNvSpPr/>
          <p:nvPr/>
        </p:nvSpPr>
        <p:spPr>
          <a:xfrm>
            <a:off x="777240" y="3410712"/>
            <a:ext cx="4892040" cy="457200"/>
          </a:xfrm>
          <a:prstGeom prst="rect">
            <a:avLst/>
          </a:prstGeom>
          <a:noFill/>
          <a:ln/>
        </p:spPr>
        <p:txBody>
          <a:bodyPr wrap="square" rtlCol="0" anchor="ctr"/>
          <a:lstStyle/>
          <a:p>
            <a:pPr marL="0" indent="0">
              <a:lnSpc>
                <a:spcPct val="115000"/>
              </a:lnSpc>
              <a:buNone/>
            </a:pPr>
            <a:r>
              <a:rPr lang="en-US" sz="1600" i="1" dirty="0">
                <a:solidFill>
                  <a:srgbClr val="5C7A7D"/>
                </a:solidFill>
                <a:latin typeface="Calibri" pitchFamily="34" charset="0"/>
                <a:ea typeface="Calibri" pitchFamily="34" charset="-122"/>
                <a:cs typeface="Calibri" pitchFamily="34" charset="-120"/>
              </a:rPr>
              <a:t>Higher values may indicate greater repayment pressure.</a:t>
            </a:r>
            <a:endParaRPr lang="en-US" sz="1600" dirty="0"/>
          </a:p>
        </p:txBody>
      </p:sp>
      <p:sp>
        <p:nvSpPr>
          <p:cNvPr id="11" name="Shape 9"/>
          <p:cNvSpPr/>
          <p:nvPr/>
        </p:nvSpPr>
        <p:spPr>
          <a:xfrm>
            <a:off x="6263640" y="2057400"/>
            <a:ext cx="5349240" cy="1874520"/>
          </a:xfrm>
          <a:prstGeom prst="roundRect">
            <a:avLst>
              <a:gd name="adj" fmla="val 4390"/>
            </a:avLst>
          </a:prstGeom>
          <a:solidFill>
            <a:srgbClr val="F3F8F8"/>
          </a:solidFill>
          <a:ln w="12700">
            <a:solidFill>
              <a:srgbClr val="DCEBEA"/>
            </a:solidFill>
            <a:prstDash val="solid"/>
          </a:ln>
        </p:spPr>
        <p:txBody>
          <a:bodyPr/>
          <a:lstStyle/>
          <a:p>
            <a:endParaRPr lang="en-US"/>
          </a:p>
        </p:txBody>
      </p:sp>
      <p:sp>
        <p:nvSpPr>
          <p:cNvPr id="12" name="Text 10"/>
          <p:cNvSpPr/>
          <p:nvPr/>
        </p:nvSpPr>
        <p:spPr>
          <a:xfrm>
            <a:off x="6492240" y="2194560"/>
            <a:ext cx="640080" cy="548640"/>
          </a:xfrm>
          <a:prstGeom prst="rect">
            <a:avLst/>
          </a:prstGeom>
          <a:noFill/>
          <a:ln/>
        </p:spPr>
        <p:txBody>
          <a:bodyPr wrap="square" rtlCol="0" anchor="ctr"/>
          <a:lstStyle/>
          <a:p>
            <a:pPr marL="0" indent="0">
              <a:buNone/>
            </a:pPr>
            <a:r>
              <a:rPr lang="en-US" sz="1600" b="1" dirty="0">
                <a:solidFill>
                  <a:srgbClr val="CFE6E6"/>
                </a:solidFill>
                <a:latin typeface="Cambria" pitchFamily="34" charset="0"/>
                <a:ea typeface="Cambria" pitchFamily="34" charset="-122"/>
                <a:cs typeface="Cambria" pitchFamily="34" charset="-120"/>
              </a:rPr>
              <a:t>2</a:t>
            </a:r>
            <a:endParaRPr lang="en-US" sz="1600" dirty="0"/>
          </a:p>
        </p:txBody>
      </p:sp>
      <p:sp>
        <p:nvSpPr>
          <p:cNvPr id="13" name="Text 11"/>
          <p:cNvSpPr/>
          <p:nvPr/>
        </p:nvSpPr>
        <p:spPr>
          <a:xfrm>
            <a:off x="7132320" y="2258568"/>
            <a:ext cx="4251960" cy="411480"/>
          </a:xfrm>
          <a:prstGeom prst="rect">
            <a:avLst/>
          </a:prstGeom>
          <a:noFill/>
          <a:ln/>
        </p:spPr>
        <p:txBody>
          <a:bodyPr wrap="square" rtlCol="0" anchor="ctr"/>
          <a:lstStyle/>
          <a:p>
            <a:pPr marL="0" indent="0">
              <a:buNone/>
            </a:pPr>
            <a:r>
              <a:rPr lang="en-US" sz="1600" b="1" dirty="0">
                <a:solidFill>
                  <a:srgbClr val="0B2B2E"/>
                </a:solidFill>
                <a:latin typeface="Calibri" pitchFamily="34" charset="0"/>
                <a:ea typeface="Calibri" pitchFamily="34" charset="-122"/>
                <a:cs typeface="Calibri" pitchFamily="34" charset="-120"/>
              </a:rPr>
              <a:t>Average FICO</a:t>
            </a:r>
            <a:endParaRPr lang="en-US" sz="1600" dirty="0"/>
          </a:p>
        </p:txBody>
      </p:sp>
      <p:sp>
        <p:nvSpPr>
          <p:cNvPr id="14" name="Shape 12"/>
          <p:cNvSpPr/>
          <p:nvPr/>
        </p:nvSpPr>
        <p:spPr>
          <a:xfrm>
            <a:off x="6492240" y="2834640"/>
            <a:ext cx="4892040" cy="502920"/>
          </a:xfrm>
          <a:prstGeom prst="roundRect">
            <a:avLst>
              <a:gd name="adj" fmla="val 10909"/>
            </a:avLst>
          </a:prstGeom>
          <a:solidFill>
            <a:srgbClr val="012B2E"/>
          </a:solidFill>
          <a:ln/>
        </p:spPr>
        <p:txBody>
          <a:bodyPr/>
          <a:lstStyle/>
          <a:p>
            <a:endParaRPr lang="en-US"/>
          </a:p>
        </p:txBody>
      </p:sp>
      <p:sp>
        <p:nvSpPr>
          <p:cNvPr id="15" name="Text 13"/>
          <p:cNvSpPr/>
          <p:nvPr/>
        </p:nvSpPr>
        <p:spPr>
          <a:xfrm>
            <a:off x="6629400" y="2834640"/>
            <a:ext cx="4617720" cy="502920"/>
          </a:xfrm>
          <a:prstGeom prst="rect">
            <a:avLst/>
          </a:prstGeom>
          <a:noFill/>
          <a:ln/>
        </p:spPr>
        <p:txBody>
          <a:bodyPr wrap="square" rtlCol="0" anchor="ctr"/>
          <a:lstStyle/>
          <a:p>
            <a:pPr marL="0" indent="0">
              <a:buNone/>
            </a:pPr>
            <a:r>
              <a:rPr lang="en-US" sz="1600" dirty="0">
                <a:solidFill>
                  <a:srgbClr val="02C39A"/>
                </a:solidFill>
                <a:latin typeface="Consolas" pitchFamily="34" charset="0"/>
                <a:ea typeface="Consolas" pitchFamily="34" charset="-122"/>
                <a:cs typeface="Consolas" pitchFamily="34" charset="-120"/>
              </a:rPr>
              <a:t>Average FICO = (FICO Low + FICO High) / 2</a:t>
            </a:r>
            <a:endParaRPr lang="en-US" sz="1600" dirty="0"/>
          </a:p>
        </p:txBody>
      </p:sp>
      <p:sp>
        <p:nvSpPr>
          <p:cNvPr id="16" name="Shape 14"/>
          <p:cNvSpPr/>
          <p:nvPr/>
        </p:nvSpPr>
        <p:spPr>
          <a:xfrm>
            <a:off x="548640" y="4206240"/>
            <a:ext cx="5349240" cy="1874520"/>
          </a:xfrm>
          <a:prstGeom prst="roundRect">
            <a:avLst>
              <a:gd name="adj" fmla="val 4390"/>
            </a:avLst>
          </a:prstGeom>
          <a:solidFill>
            <a:srgbClr val="F3F8F8"/>
          </a:solidFill>
          <a:ln w="12700">
            <a:solidFill>
              <a:srgbClr val="DCEBEA"/>
            </a:solidFill>
            <a:prstDash val="solid"/>
          </a:ln>
        </p:spPr>
        <p:txBody>
          <a:bodyPr/>
          <a:lstStyle/>
          <a:p>
            <a:endParaRPr lang="en-US"/>
          </a:p>
        </p:txBody>
      </p:sp>
      <p:sp>
        <p:nvSpPr>
          <p:cNvPr id="17" name="Text 15"/>
          <p:cNvSpPr/>
          <p:nvPr/>
        </p:nvSpPr>
        <p:spPr>
          <a:xfrm>
            <a:off x="777240" y="4343400"/>
            <a:ext cx="640080" cy="548640"/>
          </a:xfrm>
          <a:prstGeom prst="rect">
            <a:avLst/>
          </a:prstGeom>
          <a:noFill/>
          <a:ln/>
        </p:spPr>
        <p:txBody>
          <a:bodyPr wrap="square" rtlCol="0" anchor="ctr"/>
          <a:lstStyle/>
          <a:p>
            <a:pPr marL="0" indent="0">
              <a:buNone/>
            </a:pPr>
            <a:r>
              <a:rPr lang="en-US" sz="1600" b="1" dirty="0">
                <a:solidFill>
                  <a:srgbClr val="CFE6E6"/>
                </a:solidFill>
                <a:latin typeface="Cambria" pitchFamily="34" charset="0"/>
                <a:ea typeface="Cambria" pitchFamily="34" charset="-122"/>
                <a:cs typeface="Cambria" pitchFamily="34" charset="-120"/>
              </a:rPr>
              <a:t>3</a:t>
            </a:r>
            <a:endParaRPr lang="en-US" sz="1600" dirty="0"/>
          </a:p>
        </p:txBody>
      </p:sp>
      <p:sp>
        <p:nvSpPr>
          <p:cNvPr id="18" name="Text 16"/>
          <p:cNvSpPr/>
          <p:nvPr/>
        </p:nvSpPr>
        <p:spPr>
          <a:xfrm>
            <a:off x="1417320" y="4407408"/>
            <a:ext cx="4251960" cy="411480"/>
          </a:xfrm>
          <a:prstGeom prst="rect">
            <a:avLst/>
          </a:prstGeom>
          <a:noFill/>
          <a:ln/>
        </p:spPr>
        <p:txBody>
          <a:bodyPr wrap="square" rtlCol="0" anchor="ctr"/>
          <a:lstStyle/>
          <a:p>
            <a:pPr marL="0" indent="0">
              <a:buNone/>
            </a:pPr>
            <a:r>
              <a:rPr lang="en-US" sz="1600" b="1" dirty="0">
                <a:solidFill>
                  <a:srgbClr val="0B2B2E"/>
                </a:solidFill>
                <a:latin typeface="Calibri" pitchFamily="34" charset="0"/>
                <a:ea typeface="Calibri" pitchFamily="34" charset="-122"/>
                <a:cs typeface="Calibri" pitchFamily="34" charset="-120"/>
              </a:rPr>
              <a:t>Credit History</a:t>
            </a:r>
            <a:endParaRPr lang="en-US" sz="1600" dirty="0"/>
          </a:p>
        </p:txBody>
      </p:sp>
      <p:sp>
        <p:nvSpPr>
          <p:cNvPr id="19" name="Shape 17"/>
          <p:cNvSpPr/>
          <p:nvPr/>
        </p:nvSpPr>
        <p:spPr>
          <a:xfrm>
            <a:off x="777240" y="4983480"/>
            <a:ext cx="4892040" cy="502920"/>
          </a:xfrm>
          <a:prstGeom prst="roundRect">
            <a:avLst>
              <a:gd name="adj" fmla="val 10909"/>
            </a:avLst>
          </a:prstGeom>
          <a:solidFill>
            <a:srgbClr val="012B2E"/>
          </a:solidFill>
          <a:ln/>
        </p:spPr>
        <p:txBody>
          <a:bodyPr/>
          <a:lstStyle/>
          <a:p>
            <a:endParaRPr lang="en-US"/>
          </a:p>
        </p:txBody>
      </p:sp>
      <p:sp>
        <p:nvSpPr>
          <p:cNvPr id="20" name="Text 18"/>
          <p:cNvSpPr/>
          <p:nvPr/>
        </p:nvSpPr>
        <p:spPr>
          <a:xfrm>
            <a:off x="914400" y="4983480"/>
            <a:ext cx="4617720" cy="502920"/>
          </a:xfrm>
          <a:prstGeom prst="rect">
            <a:avLst/>
          </a:prstGeom>
          <a:noFill/>
          <a:ln/>
        </p:spPr>
        <p:txBody>
          <a:bodyPr wrap="square" rtlCol="0" anchor="ctr"/>
          <a:lstStyle/>
          <a:p>
            <a:pPr marL="0" indent="0">
              <a:buNone/>
            </a:pPr>
            <a:r>
              <a:rPr lang="en-US" sz="1600" dirty="0">
                <a:solidFill>
                  <a:srgbClr val="02C39A"/>
                </a:solidFill>
                <a:latin typeface="Consolas" pitchFamily="34" charset="0"/>
                <a:ea typeface="Consolas" pitchFamily="34" charset="-122"/>
                <a:cs typeface="Consolas" pitchFamily="34" charset="-120"/>
              </a:rPr>
              <a:t>Credit History Years = Current Year − Earliest Credit Year</a:t>
            </a:r>
            <a:endParaRPr lang="en-US" sz="1600" dirty="0"/>
          </a:p>
        </p:txBody>
      </p:sp>
      <p:sp>
        <p:nvSpPr>
          <p:cNvPr id="21" name="Shape 19"/>
          <p:cNvSpPr/>
          <p:nvPr/>
        </p:nvSpPr>
        <p:spPr>
          <a:xfrm>
            <a:off x="6263640" y="4206240"/>
            <a:ext cx="5349240" cy="1874520"/>
          </a:xfrm>
          <a:prstGeom prst="roundRect">
            <a:avLst>
              <a:gd name="adj" fmla="val 4390"/>
            </a:avLst>
          </a:prstGeom>
          <a:solidFill>
            <a:srgbClr val="F3F8F8"/>
          </a:solidFill>
          <a:ln w="12700">
            <a:solidFill>
              <a:srgbClr val="DCEBEA"/>
            </a:solidFill>
            <a:prstDash val="solid"/>
          </a:ln>
        </p:spPr>
        <p:txBody>
          <a:bodyPr/>
          <a:lstStyle/>
          <a:p>
            <a:endParaRPr lang="en-US"/>
          </a:p>
        </p:txBody>
      </p:sp>
      <p:sp>
        <p:nvSpPr>
          <p:cNvPr id="22" name="Text 20"/>
          <p:cNvSpPr/>
          <p:nvPr/>
        </p:nvSpPr>
        <p:spPr>
          <a:xfrm>
            <a:off x="6492240" y="4343400"/>
            <a:ext cx="640080" cy="548640"/>
          </a:xfrm>
          <a:prstGeom prst="rect">
            <a:avLst/>
          </a:prstGeom>
          <a:noFill/>
          <a:ln/>
        </p:spPr>
        <p:txBody>
          <a:bodyPr wrap="square" rtlCol="0" anchor="ctr"/>
          <a:lstStyle/>
          <a:p>
            <a:pPr marL="0" indent="0">
              <a:buNone/>
            </a:pPr>
            <a:r>
              <a:rPr lang="en-US" sz="1600" b="1" dirty="0">
                <a:solidFill>
                  <a:srgbClr val="CFE6E6"/>
                </a:solidFill>
                <a:latin typeface="Cambria" pitchFamily="34" charset="0"/>
                <a:ea typeface="Cambria" pitchFamily="34" charset="-122"/>
                <a:cs typeface="Cambria" pitchFamily="34" charset="-120"/>
              </a:rPr>
              <a:t>4</a:t>
            </a:r>
            <a:endParaRPr lang="en-US" sz="1600" dirty="0"/>
          </a:p>
        </p:txBody>
      </p:sp>
      <p:sp>
        <p:nvSpPr>
          <p:cNvPr id="23" name="Text 21"/>
          <p:cNvSpPr/>
          <p:nvPr/>
        </p:nvSpPr>
        <p:spPr>
          <a:xfrm>
            <a:off x="7132320" y="4407408"/>
            <a:ext cx="4251960" cy="411480"/>
          </a:xfrm>
          <a:prstGeom prst="rect">
            <a:avLst/>
          </a:prstGeom>
          <a:noFill/>
          <a:ln/>
        </p:spPr>
        <p:txBody>
          <a:bodyPr wrap="square" rtlCol="0" anchor="ctr"/>
          <a:lstStyle/>
          <a:p>
            <a:pPr marL="0" indent="0">
              <a:buNone/>
            </a:pPr>
            <a:r>
              <a:rPr lang="en-US" sz="1600" b="1" dirty="0">
                <a:solidFill>
                  <a:srgbClr val="0B2B2E"/>
                </a:solidFill>
                <a:latin typeface="Calibri" pitchFamily="34" charset="0"/>
                <a:ea typeface="Calibri" pitchFamily="34" charset="-122"/>
                <a:cs typeface="Calibri" pitchFamily="34" charset="-120"/>
              </a:rPr>
              <a:t>Issue Year</a:t>
            </a:r>
            <a:endParaRPr lang="en-US" sz="1600" dirty="0"/>
          </a:p>
        </p:txBody>
      </p:sp>
      <p:sp>
        <p:nvSpPr>
          <p:cNvPr id="24" name="Shape 22"/>
          <p:cNvSpPr/>
          <p:nvPr/>
        </p:nvSpPr>
        <p:spPr>
          <a:xfrm>
            <a:off x="6492240" y="4983480"/>
            <a:ext cx="4892040" cy="502920"/>
          </a:xfrm>
          <a:prstGeom prst="roundRect">
            <a:avLst>
              <a:gd name="adj" fmla="val 10909"/>
            </a:avLst>
          </a:prstGeom>
          <a:solidFill>
            <a:srgbClr val="012B2E"/>
          </a:solidFill>
          <a:ln/>
        </p:spPr>
        <p:txBody>
          <a:bodyPr/>
          <a:lstStyle/>
          <a:p>
            <a:endParaRPr lang="en-US"/>
          </a:p>
        </p:txBody>
      </p:sp>
      <p:sp>
        <p:nvSpPr>
          <p:cNvPr id="25" name="Text 23"/>
          <p:cNvSpPr/>
          <p:nvPr/>
        </p:nvSpPr>
        <p:spPr>
          <a:xfrm>
            <a:off x="6629400" y="4983480"/>
            <a:ext cx="4617720" cy="502920"/>
          </a:xfrm>
          <a:prstGeom prst="rect">
            <a:avLst/>
          </a:prstGeom>
          <a:noFill/>
          <a:ln/>
        </p:spPr>
        <p:txBody>
          <a:bodyPr wrap="square" rtlCol="0" anchor="ctr"/>
          <a:lstStyle/>
          <a:p>
            <a:pPr marL="0" indent="0">
              <a:buNone/>
            </a:pPr>
            <a:r>
              <a:rPr lang="en-US" sz="1600" dirty="0">
                <a:solidFill>
                  <a:srgbClr val="02C39A"/>
                </a:solidFill>
                <a:latin typeface="Consolas" pitchFamily="34" charset="0"/>
                <a:ea typeface="Consolas" pitchFamily="34" charset="-122"/>
                <a:cs typeface="Consolas" pitchFamily="34" charset="-120"/>
              </a:rPr>
              <a:t>Extracted from the loan issue date.</a:t>
            </a:r>
            <a:endParaRPr lang="en-US" sz="1600" dirty="0"/>
          </a:p>
        </p:txBody>
      </p:sp>
      <p:sp>
        <p:nvSpPr>
          <p:cNvPr id="27" name="Text 25"/>
          <p:cNvSpPr/>
          <p:nvPr/>
        </p:nvSpPr>
        <p:spPr>
          <a:xfrm>
            <a:off x="11338560" y="6528816"/>
            <a:ext cx="457200" cy="274320"/>
          </a:xfrm>
          <a:prstGeom prst="rect">
            <a:avLst/>
          </a:prstGeom>
          <a:noFill/>
          <a:ln/>
        </p:spPr>
        <p:txBody>
          <a:bodyPr wrap="square" rtlCol="0" anchor="ctr"/>
          <a:lstStyle/>
          <a:p>
            <a:pPr marL="0" indent="0" algn="r">
              <a:buNone/>
            </a:pPr>
            <a:r>
              <a:rPr lang="en-US" sz="1600" dirty="0">
                <a:solidFill>
                  <a:srgbClr val="5C7A7D"/>
                </a:solidFill>
                <a:latin typeface="Calibri" pitchFamily="34" charset="0"/>
                <a:ea typeface="Calibri" pitchFamily="34" charset="-122"/>
                <a:cs typeface="Calibri" pitchFamily="34" charset="-120"/>
              </a:rPr>
              <a:t>11</a:t>
            </a:r>
            <a:endParaRPr lang="en-US" sz="1600" dirty="0"/>
          </a:p>
        </p:txBody>
      </p:sp>
    </p:spTree>
    <p:extLst>
      <p:ext uri="{BB962C8B-B14F-4D97-AF65-F5344CB8AC3E}">
        <p14:creationId xmlns:p14="http://schemas.microsoft.com/office/powerpoint/2010/main" val="33085967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3">
            <a:extLst>
              <a:ext uri="{FF2B5EF4-FFF2-40B4-BE49-F238E27FC236}">
                <a16:creationId xmlns:a16="http://schemas.microsoft.com/office/drawing/2014/main" id="{CEFFFB0B-503E-76B1-4D90-E6678914C118}"/>
              </a:ext>
            </a:extLst>
          </p:cNvPr>
          <p:cNvSpPr/>
          <p:nvPr/>
        </p:nvSpPr>
        <p:spPr>
          <a:xfrm>
            <a:off x="170178" y="1776062"/>
            <a:ext cx="4115263" cy="1321031"/>
          </a:xfrm>
          <a:prstGeom prst="roundRect">
            <a:avLst>
              <a:gd name="adj" fmla="val 5455"/>
            </a:avLst>
          </a:prstGeom>
          <a:solidFill>
            <a:srgbClr val="F3F8F8"/>
          </a:solidFill>
          <a:ln w="12700">
            <a:solidFill>
              <a:srgbClr val="DCEBEA"/>
            </a:solidFill>
            <a:prstDash val="solid"/>
          </a:ln>
        </p:spPr>
        <p:txBody>
          <a:bodyPr/>
          <a:lstStyle/>
          <a:p>
            <a:endParaRPr lang="en-US"/>
          </a:p>
        </p:txBody>
      </p:sp>
      <p:sp>
        <p:nvSpPr>
          <p:cNvPr id="2" name="Title 1">
            <a:extLst>
              <a:ext uri="{FF2B5EF4-FFF2-40B4-BE49-F238E27FC236}">
                <a16:creationId xmlns:a16="http://schemas.microsoft.com/office/drawing/2014/main" id="{B4088F3A-0F66-EC5A-1D91-CB3C6E4A8B0E}"/>
              </a:ext>
            </a:extLst>
          </p:cNvPr>
          <p:cNvSpPr>
            <a:spLocks noGrp="1"/>
          </p:cNvSpPr>
          <p:nvPr>
            <p:ph type="title"/>
          </p:nvPr>
        </p:nvSpPr>
        <p:spPr>
          <a:xfrm>
            <a:off x="1403926" y="692727"/>
            <a:ext cx="10206881" cy="1023229"/>
          </a:xfrm>
        </p:spPr>
        <p:txBody>
          <a:bodyPr>
            <a:normAutofit/>
          </a:bodyPr>
          <a:lstStyle/>
          <a:p>
            <a:r>
              <a:rPr lang="en-US" b="1" dirty="0"/>
              <a:t>Machine Learning </a:t>
            </a:r>
            <a:r>
              <a:rPr lang="en-US" b="1" dirty="0" err="1"/>
              <a:t>PipelinE</a:t>
            </a:r>
            <a:br>
              <a:rPr lang="en-US" b="1" dirty="0"/>
            </a:br>
            <a:r>
              <a:rPr lang="en-US" b="1" dirty="0"/>
              <a:t>Model Development</a:t>
            </a:r>
            <a:endParaRPr lang="en-US" dirty="0"/>
          </a:p>
        </p:txBody>
      </p:sp>
      <p:pic>
        <p:nvPicPr>
          <p:cNvPr id="5" name="Content Placeholder 4">
            <a:extLst>
              <a:ext uri="{FF2B5EF4-FFF2-40B4-BE49-F238E27FC236}">
                <a16:creationId xmlns:a16="http://schemas.microsoft.com/office/drawing/2014/main" id="{83D22962-284D-21A1-53AC-9C082B517AA2}"/>
              </a:ext>
            </a:extLst>
          </p:cNvPr>
          <p:cNvPicPr>
            <a:picLocks noGrp="1" noChangeAspect="1"/>
          </p:cNvPicPr>
          <p:nvPr>
            <p:ph idx="1"/>
          </p:nvPr>
        </p:nvPicPr>
        <p:blipFill>
          <a:blip r:embed="rId2"/>
          <a:stretch>
            <a:fillRect/>
          </a:stretch>
        </p:blipFill>
        <p:spPr>
          <a:xfrm>
            <a:off x="7989454" y="0"/>
            <a:ext cx="2798620" cy="6902571"/>
          </a:xfrm>
          <a:prstGeom prst="rect">
            <a:avLst/>
          </a:prstGeom>
        </p:spPr>
      </p:pic>
      <p:sp>
        <p:nvSpPr>
          <p:cNvPr id="7" name="TextBox 6">
            <a:extLst>
              <a:ext uri="{FF2B5EF4-FFF2-40B4-BE49-F238E27FC236}">
                <a16:creationId xmlns:a16="http://schemas.microsoft.com/office/drawing/2014/main" id="{5F2B6DAB-9ADF-27DF-139D-64B1A9E3FD24}"/>
              </a:ext>
            </a:extLst>
          </p:cNvPr>
          <p:cNvSpPr txBox="1"/>
          <p:nvPr/>
        </p:nvSpPr>
        <p:spPr>
          <a:xfrm>
            <a:off x="244763" y="1861165"/>
            <a:ext cx="4451927" cy="1200329"/>
          </a:xfrm>
          <a:prstGeom prst="rect">
            <a:avLst/>
          </a:prstGeom>
          <a:noFill/>
        </p:spPr>
        <p:txBody>
          <a:bodyPr wrap="square">
            <a:spAutoFit/>
          </a:bodyPr>
          <a:lstStyle/>
          <a:p>
            <a:pPr>
              <a:buNone/>
            </a:pPr>
            <a:r>
              <a:rPr lang="en-US" dirty="0"/>
              <a:t>The trained model is stored as:</a:t>
            </a:r>
          </a:p>
          <a:p>
            <a:pPr rtl="0">
              <a:buNone/>
            </a:pPr>
            <a:r>
              <a:rPr lang="en-US" dirty="0">
                <a:latin typeface="Courier New" panose="02070309020205020404" pitchFamily="49" charset="0"/>
              </a:rPr>
              <a:t>models/</a:t>
            </a:r>
            <a:r>
              <a:rPr lang="en-US" dirty="0" err="1">
                <a:latin typeface="Courier New" panose="02070309020205020404" pitchFamily="49" charset="0"/>
              </a:rPr>
              <a:t>default_model.joblib</a:t>
            </a:r>
            <a:endParaRPr lang="en-US" dirty="0">
              <a:latin typeface="Courier New" panose="02070309020205020404" pitchFamily="49" charset="0"/>
            </a:endParaRPr>
          </a:p>
          <a:p>
            <a:pPr>
              <a:buNone/>
            </a:pPr>
            <a:r>
              <a:rPr lang="en-US" dirty="0"/>
              <a:t>Metadata is stored as:</a:t>
            </a:r>
          </a:p>
          <a:p>
            <a:pPr rtl="0">
              <a:buNone/>
            </a:pPr>
            <a:r>
              <a:rPr lang="en-US" dirty="0">
                <a:latin typeface="Courier New" panose="02070309020205020404" pitchFamily="49" charset="0"/>
              </a:rPr>
              <a:t>models/</a:t>
            </a:r>
            <a:r>
              <a:rPr lang="en-US" dirty="0" err="1">
                <a:latin typeface="Courier New" panose="02070309020205020404" pitchFamily="49" charset="0"/>
              </a:rPr>
              <a:t>model_metadata.json</a:t>
            </a:r>
            <a:endParaRPr lang="en-US" dirty="0">
              <a:latin typeface="Courier New" panose="02070309020205020404" pitchFamily="49" charset="0"/>
            </a:endParaRPr>
          </a:p>
        </p:txBody>
      </p:sp>
      <p:sp>
        <p:nvSpPr>
          <p:cNvPr id="8" name="TextBox 7">
            <a:extLst>
              <a:ext uri="{FF2B5EF4-FFF2-40B4-BE49-F238E27FC236}">
                <a16:creationId xmlns:a16="http://schemas.microsoft.com/office/drawing/2014/main" id="{A1B88013-EBB8-AE46-6A98-0EAF11E2BF22}"/>
              </a:ext>
            </a:extLst>
          </p:cNvPr>
          <p:cNvSpPr txBox="1"/>
          <p:nvPr/>
        </p:nvSpPr>
        <p:spPr>
          <a:xfrm>
            <a:off x="-1" y="3429000"/>
            <a:ext cx="8109527" cy="2308324"/>
          </a:xfrm>
          <a:prstGeom prst="rect">
            <a:avLst/>
          </a:prstGeom>
          <a:solidFill>
            <a:srgbClr val="FFFF00"/>
          </a:solidFill>
        </p:spPr>
        <p:txBody>
          <a:bodyPr wrap="square">
            <a:spAutoFit/>
          </a:bodyPr>
          <a:lstStyle/>
          <a:p>
            <a:pPr marL="342900" lvl="0" indent="-342900">
              <a:buFont typeface="Arial" panose="020B0604020202020204" pitchFamily="34" charset="0"/>
              <a:buChar char="•"/>
            </a:pPr>
            <a:r>
              <a:rPr lang="en-US" b="1" dirty="0"/>
              <a:t>Dataset:</a:t>
            </a:r>
            <a:r>
              <a:rPr lang="en-US" dirty="0"/>
              <a:t> Collect borrower data containing financial and credit information. </a:t>
            </a:r>
          </a:p>
          <a:p>
            <a:pPr marL="342900" lvl="0" indent="-342900">
              <a:buFont typeface="Arial" panose="020B0604020202020204" pitchFamily="34" charset="0"/>
              <a:buChar char="•"/>
            </a:pPr>
            <a:r>
              <a:rPr lang="en-US" b="1" dirty="0"/>
              <a:t>Train/Test Split:</a:t>
            </a:r>
            <a:r>
              <a:rPr lang="en-US" dirty="0"/>
              <a:t> Divide the data into training and testing sets. </a:t>
            </a:r>
          </a:p>
          <a:p>
            <a:pPr marL="342900" lvl="0" indent="-342900">
              <a:buFont typeface="Arial" panose="020B0604020202020204" pitchFamily="34" charset="0"/>
              <a:buChar char="•"/>
            </a:pPr>
            <a:r>
              <a:rPr lang="en-US" b="1" dirty="0"/>
              <a:t>Feature Preprocessing:</a:t>
            </a:r>
            <a:r>
              <a:rPr lang="en-US" dirty="0"/>
              <a:t> Clean and prepare the data for the ML model. </a:t>
            </a:r>
          </a:p>
          <a:p>
            <a:pPr marL="342900" lvl="0" indent="-342900">
              <a:buFont typeface="Arial" panose="020B0604020202020204" pitchFamily="34" charset="0"/>
              <a:buChar char="•"/>
            </a:pPr>
            <a:r>
              <a:rPr lang="en-US" b="1" dirty="0"/>
              <a:t>Model Training:</a:t>
            </a:r>
            <a:r>
              <a:rPr lang="en-US" dirty="0"/>
              <a:t> Train different machine learning models using the prepared data. </a:t>
            </a:r>
          </a:p>
          <a:p>
            <a:pPr marL="342900" lvl="0" indent="-342900">
              <a:buFont typeface="Arial" panose="020B0604020202020204" pitchFamily="34" charset="0"/>
              <a:buChar char="•"/>
            </a:pPr>
            <a:r>
              <a:rPr lang="en-US" b="1" dirty="0"/>
              <a:t>Model Evaluation:</a:t>
            </a:r>
            <a:r>
              <a:rPr lang="en-US" dirty="0"/>
              <a:t> Check and compare the performance of the trained models. </a:t>
            </a:r>
          </a:p>
          <a:p>
            <a:pPr marL="342900" lvl="0" indent="-342900">
              <a:buFont typeface="Arial" panose="020B0604020202020204" pitchFamily="34" charset="0"/>
              <a:buChar char="•"/>
            </a:pPr>
            <a:r>
              <a:rPr lang="en-US" b="1" dirty="0"/>
              <a:t>Best Model Selection:</a:t>
            </a:r>
            <a:r>
              <a:rPr lang="en-US" dirty="0"/>
              <a:t> Select the model that gives the best results. </a:t>
            </a:r>
          </a:p>
          <a:p>
            <a:pPr marL="342900" lvl="0" indent="-342900">
              <a:buFont typeface="Arial" panose="020B0604020202020204" pitchFamily="34" charset="0"/>
              <a:buChar char="•"/>
            </a:pPr>
            <a:r>
              <a:rPr lang="en-US" b="1" dirty="0"/>
              <a:t>Model Serialization:</a:t>
            </a:r>
            <a:r>
              <a:rPr lang="en-US" dirty="0"/>
              <a:t> Save the selected model for future use. </a:t>
            </a:r>
          </a:p>
          <a:p>
            <a:pPr marL="342900" lvl="0" indent="-342900">
              <a:buFont typeface="Arial" panose="020B0604020202020204" pitchFamily="34" charset="0"/>
              <a:buChar char="•"/>
            </a:pPr>
            <a:r>
              <a:rPr lang="en-US" b="1" dirty="0"/>
              <a:t>ML Model:</a:t>
            </a:r>
            <a:r>
              <a:rPr lang="en-US" dirty="0"/>
              <a:t> Use the final model to predict the borrower’s loan default risk.</a:t>
            </a:r>
          </a:p>
        </p:txBody>
      </p:sp>
    </p:spTree>
    <p:extLst>
      <p:ext uri="{BB962C8B-B14F-4D97-AF65-F5344CB8AC3E}">
        <p14:creationId xmlns:p14="http://schemas.microsoft.com/office/powerpoint/2010/main" val="32889557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79120" y="560093"/>
            <a:ext cx="10058400" cy="292608"/>
          </a:xfrm>
          <a:prstGeom prst="rect">
            <a:avLst/>
          </a:prstGeom>
          <a:noFill/>
          <a:ln/>
        </p:spPr>
        <p:txBody>
          <a:bodyPr wrap="square" rtlCol="0" anchor="ctr"/>
          <a:lstStyle/>
          <a:p>
            <a:pPr marL="0" indent="0">
              <a:buNone/>
            </a:pPr>
            <a:r>
              <a:rPr lang="en-US" b="1" kern="0" spc="200" dirty="0">
                <a:solidFill>
                  <a:srgbClr val="00A896"/>
                </a:solidFill>
                <a:latin typeface="Calibri" pitchFamily="34" charset="0"/>
                <a:ea typeface="Calibri" pitchFamily="34" charset="-122"/>
                <a:cs typeface="Calibri" pitchFamily="34" charset="-120"/>
              </a:rPr>
              <a:t>RISK INTELLIGENCE</a:t>
            </a:r>
            <a:endParaRPr lang="en-US" dirty="0"/>
          </a:p>
        </p:txBody>
      </p:sp>
      <p:sp>
        <p:nvSpPr>
          <p:cNvPr id="3" name="Text 1"/>
          <p:cNvSpPr/>
          <p:nvPr/>
        </p:nvSpPr>
        <p:spPr>
          <a:xfrm>
            <a:off x="548640" y="621792"/>
            <a:ext cx="11064240" cy="658368"/>
          </a:xfrm>
          <a:prstGeom prst="rect">
            <a:avLst/>
          </a:prstGeom>
          <a:noFill/>
          <a:ln/>
        </p:spPr>
        <p:txBody>
          <a:bodyPr wrap="square" rtlCol="0" anchor="ctr"/>
          <a:lstStyle/>
          <a:p>
            <a:pPr marL="0" indent="0">
              <a:buNone/>
            </a:pPr>
            <a:r>
              <a:rPr lang="en-US" b="1" dirty="0">
                <a:solidFill>
                  <a:srgbClr val="0B2B2E"/>
                </a:solidFill>
                <a:latin typeface="Cambria" pitchFamily="34" charset="0"/>
                <a:ea typeface="Cambria" pitchFamily="34" charset="-122"/>
                <a:cs typeface="Cambria" pitchFamily="34" charset="-120"/>
              </a:rPr>
              <a:t>Risk Assessment Engine</a:t>
            </a:r>
            <a:endParaRPr lang="en-US" dirty="0"/>
          </a:p>
        </p:txBody>
      </p:sp>
      <p:sp>
        <p:nvSpPr>
          <p:cNvPr id="4" name="Text 2"/>
          <p:cNvSpPr/>
          <p:nvPr/>
        </p:nvSpPr>
        <p:spPr>
          <a:xfrm>
            <a:off x="548640" y="1371600"/>
            <a:ext cx="11064240" cy="365760"/>
          </a:xfrm>
          <a:prstGeom prst="rect">
            <a:avLst/>
          </a:prstGeom>
          <a:noFill/>
          <a:ln/>
        </p:spPr>
        <p:txBody>
          <a:bodyPr wrap="square" rtlCol="0" anchor="ctr"/>
          <a:lstStyle/>
          <a:p>
            <a:pPr marL="0" indent="0">
              <a:buNone/>
            </a:pPr>
            <a:r>
              <a:rPr lang="en-US" i="1" dirty="0">
                <a:solidFill>
                  <a:srgbClr val="5C7A7D"/>
                </a:solidFill>
                <a:latin typeface="Calibri" pitchFamily="34" charset="0"/>
                <a:ea typeface="Calibri" pitchFamily="34" charset="-122"/>
                <a:cs typeface="Calibri" pitchFamily="34" charset="-120"/>
              </a:rPr>
              <a:t>This is where we distinguish the project from a simple ML prediction project.</a:t>
            </a:r>
            <a:endParaRPr lang="en-US" dirty="0"/>
          </a:p>
        </p:txBody>
      </p:sp>
      <p:sp>
        <p:nvSpPr>
          <p:cNvPr id="5" name="Shape 3"/>
          <p:cNvSpPr/>
          <p:nvPr/>
        </p:nvSpPr>
        <p:spPr>
          <a:xfrm>
            <a:off x="548640" y="1828800"/>
            <a:ext cx="5349240" cy="1783080"/>
          </a:xfrm>
          <a:prstGeom prst="roundRect">
            <a:avLst>
              <a:gd name="adj" fmla="val 4615"/>
            </a:avLst>
          </a:prstGeom>
          <a:solidFill>
            <a:srgbClr val="F3F8F8"/>
          </a:solidFill>
          <a:ln w="12700">
            <a:solidFill>
              <a:srgbClr val="DCEBEA"/>
            </a:solidFill>
            <a:prstDash val="solid"/>
          </a:ln>
        </p:spPr>
        <p:txBody>
          <a:bodyPr/>
          <a:lstStyle/>
          <a:p>
            <a:endParaRPr lang="en-US"/>
          </a:p>
        </p:txBody>
      </p:sp>
      <p:sp>
        <p:nvSpPr>
          <p:cNvPr id="6" name="Text 4"/>
          <p:cNvSpPr/>
          <p:nvPr/>
        </p:nvSpPr>
        <p:spPr>
          <a:xfrm>
            <a:off x="822960" y="2011680"/>
            <a:ext cx="4800600" cy="292608"/>
          </a:xfrm>
          <a:prstGeom prst="rect">
            <a:avLst/>
          </a:prstGeom>
          <a:noFill/>
          <a:ln/>
        </p:spPr>
        <p:txBody>
          <a:bodyPr wrap="square" rtlCol="0" anchor="ctr"/>
          <a:lstStyle/>
          <a:p>
            <a:pPr marL="0" indent="0">
              <a:buNone/>
            </a:pPr>
            <a:r>
              <a:rPr lang="en-US" b="1" kern="0" spc="100" dirty="0">
                <a:solidFill>
                  <a:srgbClr val="5C7A7D"/>
                </a:solidFill>
                <a:latin typeface="Calibri" pitchFamily="34" charset="0"/>
                <a:ea typeface="Calibri" pitchFamily="34" charset="-122"/>
                <a:cs typeface="Calibri" pitchFamily="34" charset="-120"/>
              </a:rPr>
              <a:t>ML OUTPUT</a:t>
            </a:r>
            <a:endParaRPr lang="en-US" dirty="0"/>
          </a:p>
        </p:txBody>
      </p:sp>
      <p:sp>
        <p:nvSpPr>
          <p:cNvPr id="7" name="Text 5"/>
          <p:cNvSpPr/>
          <p:nvPr/>
        </p:nvSpPr>
        <p:spPr>
          <a:xfrm>
            <a:off x="822960" y="2331720"/>
            <a:ext cx="4800600" cy="365760"/>
          </a:xfrm>
          <a:prstGeom prst="rect">
            <a:avLst/>
          </a:prstGeom>
          <a:noFill/>
          <a:ln/>
        </p:spPr>
        <p:txBody>
          <a:bodyPr wrap="square" rtlCol="0" anchor="ctr"/>
          <a:lstStyle/>
          <a:p>
            <a:pPr marL="0" indent="0">
              <a:buNone/>
            </a:pPr>
            <a:r>
              <a:rPr lang="en-US" dirty="0">
                <a:solidFill>
                  <a:srgbClr val="0B2B2E"/>
                </a:solidFill>
                <a:latin typeface="Calibri" pitchFamily="34" charset="0"/>
                <a:ea typeface="Calibri" pitchFamily="34" charset="-122"/>
                <a:cs typeface="Calibri" pitchFamily="34" charset="-120"/>
              </a:rPr>
              <a:t>The model produces: Default Probability</a:t>
            </a:r>
            <a:endParaRPr lang="en-US" dirty="0"/>
          </a:p>
        </p:txBody>
      </p:sp>
      <p:sp>
        <p:nvSpPr>
          <p:cNvPr id="8" name="Text 6"/>
          <p:cNvSpPr/>
          <p:nvPr/>
        </p:nvSpPr>
        <p:spPr>
          <a:xfrm>
            <a:off x="822960" y="2743200"/>
            <a:ext cx="4800600" cy="274320"/>
          </a:xfrm>
          <a:prstGeom prst="rect">
            <a:avLst/>
          </a:prstGeom>
          <a:noFill/>
          <a:ln/>
        </p:spPr>
        <p:txBody>
          <a:bodyPr wrap="square" rtlCol="0" anchor="ctr"/>
          <a:lstStyle/>
          <a:p>
            <a:pPr marL="0" indent="0">
              <a:buNone/>
            </a:pPr>
            <a:r>
              <a:rPr lang="en-US" dirty="0">
                <a:solidFill>
                  <a:srgbClr val="5C7A7D"/>
                </a:solidFill>
                <a:latin typeface="Calibri" pitchFamily="34" charset="0"/>
                <a:ea typeface="Calibri" pitchFamily="34" charset="-122"/>
                <a:cs typeface="Calibri" pitchFamily="34" charset="-120"/>
              </a:rPr>
              <a:t>For example:</a:t>
            </a:r>
            <a:endParaRPr lang="en-US" dirty="0"/>
          </a:p>
        </p:txBody>
      </p:sp>
      <p:sp>
        <p:nvSpPr>
          <p:cNvPr id="9" name="Text 7"/>
          <p:cNvSpPr/>
          <p:nvPr/>
        </p:nvSpPr>
        <p:spPr>
          <a:xfrm>
            <a:off x="822960" y="2999232"/>
            <a:ext cx="4800600" cy="457200"/>
          </a:xfrm>
          <a:prstGeom prst="rect">
            <a:avLst/>
          </a:prstGeom>
          <a:noFill/>
          <a:ln/>
        </p:spPr>
        <p:txBody>
          <a:bodyPr wrap="square" rtlCol="0" anchor="ctr"/>
          <a:lstStyle/>
          <a:p>
            <a:pPr marL="0" indent="0">
              <a:buNone/>
            </a:pPr>
            <a:r>
              <a:rPr lang="en-US" b="1" dirty="0">
                <a:solidFill>
                  <a:srgbClr val="028090"/>
                </a:solidFill>
                <a:latin typeface="Cambria" pitchFamily="34" charset="0"/>
                <a:ea typeface="Cambria" pitchFamily="34" charset="-122"/>
                <a:cs typeface="Cambria" pitchFamily="34" charset="-120"/>
              </a:rPr>
              <a:t>Default Probability = 22%</a:t>
            </a:r>
            <a:endParaRPr lang="en-US" dirty="0"/>
          </a:p>
        </p:txBody>
      </p:sp>
      <p:sp>
        <p:nvSpPr>
          <p:cNvPr id="10" name="Shape 8"/>
          <p:cNvSpPr/>
          <p:nvPr/>
        </p:nvSpPr>
        <p:spPr>
          <a:xfrm>
            <a:off x="6126480" y="1828800"/>
            <a:ext cx="5349240" cy="1783080"/>
          </a:xfrm>
          <a:prstGeom prst="roundRect">
            <a:avLst>
              <a:gd name="adj" fmla="val 4615"/>
            </a:avLst>
          </a:prstGeom>
          <a:solidFill>
            <a:srgbClr val="F3F8F8"/>
          </a:solidFill>
          <a:ln w="12700">
            <a:solidFill>
              <a:srgbClr val="DCEBEA"/>
            </a:solidFill>
            <a:prstDash val="solid"/>
          </a:ln>
        </p:spPr>
        <p:txBody>
          <a:bodyPr/>
          <a:lstStyle/>
          <a:p>
            <a:endParaRPr lang="en-US"/>
          </a:p>
        </p:txBody>
      </p:sp>
      <p:sp>
        <p:nvSpPr>
          <p:cNvPr id="11" name="Text 9"/>
          <p:cNvSpPr/>
          <p:nvPr/>
        </p:nvSpPr>
        <p:spPr>
          <a:xfrm>
            <a:off x="6400800" y="2011680"/>
            <a:ext cx="4800600" cy="292608"/>
          </a:xfrm>
          <a:prstGeom prst="rect">
            <a:avLst/>
          </a:prstGeom>
          <a:noFill/>
          <a:ln/>
        </p:spPr>
        <p:txBody>
          <a:bodyPr wrap="square" rtlCol="0" anchor="ctr"/>
          <a:lstStyle/>
          <a:p>
            <a:pPr marL="0" indent="0">
              <a:buNone/>
            </a:pPr>
            <a:r>
              <a:rPr lang="en-US" b="1" kern="0" spc="100" dirty="0">
                <a:solidFill>
                  <a:srgbClr val="5C7A7D"/>
                </a:solidFill>
                <a:latin typeface="Calibri" pitchFamily="34" charset="0"/>
                <a:ea typeface="Calibri" pitchFamily="34" charset="-122"/>
                <a:cs typeface="Calibri" pitchFamily="34" charset="-120"/>
              </a:rPr>
              <a:t>RISK SCORE</a:t>
            </a:r>
            <a:endParaRPr lang="en-US" dirty="0"/>
          </a:p>
        </p:txBody>
      </p:sp>
      <p:sp>
        <p:nvSpPr>
          <p:cNvPr id="12" name="Text 10"/>
          <p:cNvSpPr/>
          <p:nvPr/>
        </p:nvSpPr>
        <p:spPr>
          <a:xfrm>
            <a:off x="6400800" y="2331720"/>
            <a:ext cx="4800600" cy="457200"/>
          </a:xfrm>
          <a:prstGeom prst="rect">
            <a:avLst/>
          </a:prstGeom>
          <a:noFill/>
          <a:ln/>
        </p:spPr>
        <p:txBody>
          <a:bodyPr wrap="square" rtlCol="0" anchor="ctr"/>
          <a:lstStyle/>
          <a:p>
            <a:pPr marL="0" indent="0">
              <a:lnSpc>
                <a:spcPct val="115000"/>
              </a:lnSpc>
              <a:buNone/>
            </a:pPr>
            <a:r>
              <a:rPr lang="en-US" dirty="0">
                <a:solidFill>
                  <a:srgbClr val="0B2B2E"/>
                </a:solidFill>
                <a:latin typeface="Calibri" pitchFamily="34" charset="0"/>
                <a:ea typeface="Calibri" pitchFamily="34" charset="-122"/>
                <a:cs typeface="Calibri" pitchFamily="34" charset="-120"/>
              </a:rPr>
              <a:t>The system converts probability into an intuitive score:</a:t>
            </a:r>
            <a:endParaRPr lang="en-US" dirty="0"/>
          </a:p>
        </p:txBody>
      </p:sp>
      <p:sp>
        <p:nvSpPr>
          <p:cNvPr id="13" name="Shape 11"/>
          <p:cNvSpPr/>
          <p:nvPr/>
        </p:nvSpPr>
        <p:spPr>
          <a:xfrm>
            <a:off x="6400800" y="2880360"/>
            <a:ext cx="4800600" cy="566928"/>
          </a:xfrm>
          <a:prstGeom prst="roundRect">
            <a:avLst>
              <a:gd name="adj" fmla="val 9677"/>
            </a:avLst>
          </a:prstGeom>
          <a:solidFill>
            <a:srgbClr val="012B2E"/>
          </a:solidFill>
          <a:ln/>
        </p:spPr>
        <p:txBody>
          <a:bodyPr/>
          <a:lstStyle/>
          <a:p>
            <a:endParaRPr lang="en-US"/>
          </a:p>
        </p:txBody>
      </p:sp>
      <p:sp>
        <p:nvSpPr>
          <p:cNvPr id="14" name="Text 12"/>
          <p:cNvSpPr/>
          <p:nvPr/>
        </p:nvSpPr>
        <p:spPr>
          <a:xfrm>
            <a:off x="6537960" y="2880360"/>
            <a:ext cx="4526280" cy="566928"/>
          </a:xfrm>
          <a:prstGeom prst="rect">
            <a:avLst/>
          </a:prstGeom>
          <a:noFill/>
          <a:ln/>
        </p:spPr>
        <p:txBody>
          <a:bodyPr wrap="square" rtlCol="0" anchor="ctr"/>
          <a:lstStyle/>
          <a:p>
            <a:pPr marL="0" indent="0">
              <a:buNone/>
            </a:pPr>
            <a:r>
              <a:rPr lang="en-US" dirty="0">
                <a:solidFill>
                  <a:srgbClr val="02C39A"/>
                </a:solidFill>
                <a:latin typeface="Consolas" pitchFamily="34" charset="0"/>
                <a:ea typeface="Consolas" pitchFamily="34" charset="-122"/>
                <a:cs typeface="Consolas" pitchFamily="34" charset="-120"/>
              </a:rPr>
              <a:t>Risk Score = (1 − Default Probability) × 100</a:t>
            </a:r>
            <a:endParaRPr lang="en-US" dirty="0"/>
          </a:p>
        </p:txBody>
      </p:sp>
      <p:sp>
        <p:nvSpPr>
          <p:cNvPr id="15" name="Shape 13"/>
          <p:cNvSpPr/>
          <p:nvPr/>
        </p:nvSpPr>
        <p:spPr>
          <a:xfrm>
            <a:off x="548640" y="3794760"/>
            <a:ext cx="5349240" cy="2057400"/>
          </a:xfrm>
          <a:prstGeom prst="roundRect">
            <a:avLst>
              <a:gd name="adj" fmla="val 4000"/>
            </a:avLst>
          </a:prstGeom>
          <a:solidFill>
            <a:srgbClr val="012B2E"/>
          </a:solidFill>
          <a:ln/>
        </p:spPr>
        <p:txBody>
          <a:bodyPr/>
          <a:lstStyle/>
          <a:p>
            <a:endParaRPr lang="en-US"/>
          </a:p>
        </p:txBody>
      </p:sp>
      <p:sp>
        <p:nvSpPr>
          <p:cNvPr id="16" name="Text 14"/>
          <p:cNvSpPr/>
          <p:nvPr/>
        </p:nvSpPr>
        <p:spPr>
          <a:xfrm>
            <a:off x="822960" y="3977640"/>
            <a:ext cx="4800600" cy="292608"/>
          </a:xfrm>
          <a:prstGeom prst="rect">
            <a:avLst/>
          </a:prstGeom>
          <a:noFill/>
          <a:ln/>
        </p:spPr>
        <p:txBody>
          <a:bodyPr wrap="square" rtlCol="0" anchor="ctr"/>
          <a:lstStyle/>
          <a:p>
            <a:pPr marL="0" indent="0">
              <a:buNone/>
            </a:pPr>
            <a:r>
              <a:rPr lang="en-US" b="1" kern="0" spc="100" dirty="0">
                <a:solidFill>
                  <a:srgbClr val="8FC4C2"/>
                </a:solidFill>
                <a:latin typeface="Calibri" pitchFamily="34" charset="0"/>
                <a:ea typeface="Calibri" pitchFamily="34" charset="-122"/>
                <a:cs typeface="Calibri" pitchFamily="34" charset="-120"/>
              </a:rPr>
              <a:t>WORKED EXAMPLE</a:t>
            </a:r>
            <a:endParaRPr lang="en-US" dirty="0"/>
          </a:p>
        </p:txBody>
      </p:sp>
      <p:sp>
        <p:nvSpPr>
          <p:cNvPr id="17" name="Text 15"/>
          <p:cNvSpPr/>
          <p:nvPr/>
        </p:nvSpPr>
        <p:spPr>
          <a:xfrm>
            <a:off x="822960" y="4315968"/>
            <a:ext cx="4800600" cy="320040"/>
          </a:xfrm>
          <a:prstGeom prst="rect">
            <a:avLst/>
          </a:prstGeom>
          <a:noFill/>
          <a:ln/>
        </p:spPr>
        <p:txBody>
          <a:bodyPr wrap="square" rtlCol="0" anchor="ctr"/>
          <a:lstStyle/>
          <a:p>
            <a:pPr marL="0" indent="0">
              <a:buNone/>
            </a:pPr>
            <a:r>
              <a:rPr lang="en-US" dirty="0">
                <a:solidFill>
                  <a:srgbClr val="D7EFED"/>
                </a:solidFill>
                <a:latin typeface="Calibri" pitchFamily="34" charset="0"/>
                <a:ea typeface="Calibri" pitchFamily="34" charset="-122"/>
                <a:cs typeface="Calibri" pitchFamily="34" charset="-120"/>
              </a:rPr>
              <a:t>22% default probability</a:t>
            </a:r>
            <a:endParaRPr lang="en-US" dirty="0"/>
          </a:p>
        </p:txBody>
      </p:sp>
      <p:sp>
        <p:nvSpPr>
          <p:cNvPr id="18" name="Text 16"/>
          <p:cNvSpPr/>
          <p:nvPr/>
        </p:nvSpPr>
        <p:spPr>
          <a:xfrm>
            <a:off x="822960" y="4663440"/>
            <a:ext cx="4800600" cy="457200"/>
          </a:xfrm>
          <a:prstGeom prst="rect">
            <a:avLst/>
          </a:prstGeom>
          <a:noFill/>
          <a:ln/>
        </p:spPr>
        <p:txBody>
          <a:bodyPr wrap="square" rtlCol="0" anchor="ctr"/>
          <a:lstStyle/>
          <a:p>
            <a:pPr marL="0" indent="0">
              <a:buNone/>
            </a:pPr>
            <a:r>
              <a:rPr lang="en-US" b="1" dirty="0">
                <a:solidFill>
                  <a:srgbClr val="02C39A"/>
                </a:solidFill>
                <a:latin typeface="Cambria" pitchFamily="34" charset="0"/>
                <a:ea typeface="Cambria" pitchFamily="34" charset="-122"/>
                <a:cs typeface="Cambria" pitchFamily="34" charset="-120"/>
              </a:rPr>
              <a:t>Risk Score = (1 − 0.22) × 100 = 78</a:t>
            </a:r>
            <a:endParaRPr lang="en-US" dirty="0"/>
          </a:p>
        </p:txBody>
      </p:sp>
      <p:sp>
        <p:nvSpPr>
          <p:cNvPr id="19" name="Text 17"/>
          <p:cNvSpPr/>
          <p:nvPr/>
        </p:nvSpPr>
        <p:spPr>
          <a:xfrm>
            <a:off x="822960" y="5212080"/>
            <a:ext cx="4800600" cy="502920"/>
          </a:xfrm>
          <a:prstGeom prst="rect">
            <a:avLst/>
          </a:prstGeom>
          <a:noFill/>
          <a:ln/>
        </p:spPr>
        <p:txBody>
          <a:bodyPr wrap="square" rtlCol="0" anchor="ctr"/>
          <a:lstStyle/>
          <a:p>
            <a:pPr marL="0" indent="0">
              <a:lnSpc>
                <a:spcPct val="120000"/>
              </a:lnSpc>
              <a:buNone/>
            </a:pPr>
            <a:r>
              <a:rPr lang="en-US" i="1" dirty="0">
                <a:solidFill>
                  <a:srgbClr val="8FC4C2"/>
                </a:solidFill>
                <a:latin typeface="Calibri" pitchFamily="34" charset="0"/>
                <a:ea typeface="Calibri" pitchFamily="34" charset="-122"/>
                <a:cs typeface="Calibri" pitchFamily="34" charset="-120"/>
              </a:rPr>
              <a:t>A default probability of 22% converts to a Risk Score of 78.</a:t>
            </a:r>
            <a:endParaRPr lang="en-US" dirty="0"/>
          </a:p>
        </p:txBody>
      </p:sp>
      <p:sp>
        <p:nvSpPr>
          <p:cNvPr id="20" name="Text 18"/>
          <p:cNvSpPr/>
          <p:nvPr/>
        </p:nvSpPr>
        <p:spPr>
          <a:xfrm>
            <a:off x="6126480" y="3794760"/>
            <a:ext cx="4800600" cy="292608"/>
          </a:xfrm>
          <a:prstGeom prst="rect">
            <a:avLst/>
          </a:prstGeom>
          <a:noFill/>
          <a:ln/>
        </p:spPr>
        <p:txBody>
          <a:bodyPr wrap="square" rtlCol="0" anchor="ctr"/>
          <a:lstStyle/>
          <a:p>
            <a:pPr marL="0" indent="0">
              <a:buNone/>
            </a:pPr>
            <a:r>
              <a:rPr lang="en-US" b="1" kern="0" spc="100" dirty="0">
                <a:solidFill>
                  <a:srgbClr val="5C7A7D"/>
                </a:solidFill>
                <a:latin typeface="Calibri" pitchFamily="34" charset="0"/>
                <a:ea typeface="Calibri" pitchFamily="34" charset="-122"/>
                <a:cs typeface="Calibri" pitchFamily="34" charset="-120"/>
              </a:rPr>
              <a:t>RISK CATEGORIES</a:t>
            </a:r>
            <a:endParaRPr lang="en-US" dirty="0"/>
          </a:p>
        </p:txBody>
      </p:sp>
      <p:sp>
        <p:nvSpPr>
          <p:cNvPr id="21" name="Shape 19"/>
          <p:cNvSpPr/>
          <p:nvPr/>
        </p:nvSpPr>
        <p:spPr>
          <a:xfrm>
            <a:off x="6126480" y="4160520"/>
            <a:ext cx="5349240" cy="402336"/>
          </a:xfrm>
          <a:prstGeom prst="roundRect">
            <a:avLst>
              <a:gd name="adj" fmla="val 11364"/>
            </a:avLst>
          </a:prstGeom>
          <a:solidFill>
            <a:srgbClr val="F3F8F8"/>
          </a:solidFill>
          <a:ln w="12700">
            <a:solidFill>
              <a:srgbClr val="DCEBEA"/>
            </a:solidFill>
            <a:prstDash val="solid"/>
          </a:ln>
        </p:spPr>
        <p:txBody>
          <a:bodyPr/>
          <a:lstStyle/>
          <a:p>
            <a:endParaRPr lang="en-US"/>
          </a:p>
        </p:txBody>
      </p:sp>
      <p:sp>
        <p:nvSpPr>
          <p:cNvPr id="22" name="Shape 20"/>
          <p:cNvSpPr/>
          <p:nvPr/>
        </p:nvSpPr>
        <p:spPr>
          <a:xfrm>
            <a:off x="6263640" y="4251960"/>
            <a:ext cx="219456" cy="219456"/>
          </a:xfrm>
          <a:prstGeom prst="roundRect">
            <a:avLst>
              <a:gd name="adj" fmla="val 20833"/>
            </a:avLst>
          </a:prstGeom>
          <a:solidFill>
            <a:srgbClr val="02C39A"/>
          </a:solidFill>
          <a:ln/>
        </p:spPr>
        <p:txBody>
          <a:bodyPr/>
          <a:lstStyle/>
          <a:p>
            <a:endParaRPr lang="en-US"/>
          </a:p>
        </p:txBody>
      </p:sp>
      <p:sp>
        <p:nvSpPr>
          <p:cNvPr id="23" name="Text 21"/>
          <p:cNvSpPr/>
          <p:nvPr/>
        </p:nvSpPr>
        <p:spPr>
          <a:xfrm>
            <a:off x="6583680" y="4160520"/>
            <a:ext cx="1463040" cy="402336"/>
          </a:xfrm>
          <a:prstGeom prst="rect">
            <a:avLst/>
          </a:prstGeom>
          <a:noFill/>
          <a:ln/>
        </p:spPr>
        <p:txBody>
          <a:bodyPr wrap="square" rtlCol="0" anchor="ctr"/>
          <a:lstStyle/>
          <a:p>
            <a:pPr marL="0" indent="0">
              <a:buNone/>
            </a:pPr>
            <a:r>
              <a:rPr lang="en-US" b="1" dirty="0">
                <a:solidFill>
                  <a:srgbClr val="0B2B2E"/>
                </a:solidFill>
                <a:latin typeface="Calibri" pitchFamily="34" charset="0"/>
                <a:ea typeface="Calibri" pitchFamily="34" charset="-122"/>
                <a:cs typeface="Calibri" pitchFamily="34" charset="-120"/>
              </a:rPr>
              <a:t>75–100</a:t>
            </a:r>
            <a:endParaRPr lang="en-US" dirty="0"/>
          </a:p>
        </p:txBody>
      </p:sp>
      <p:sp>
        <p:nvSpPr>
          <p:cNvPr id="24" name="Text 22"/>
          <p:cNvSpPr/>
          <p:nvPr/>
        </p:nvSpPr>
        <p:spPr>
          <a:xfrm>
            <a:off x="8046720" y="4160520"/>
            <a:ext cx="3291840" cy="402336"/>
          </a:xfrm>
          <a:prstGeom prst="rect">
            <a:avLst/>
          </a:prstGeom>
          <a:noFill/>
          <a:ln/>
        </p:spPr>
        <p:txBody>
          <a:bodyPr wrap="square" rtlCol="0" anchor="ctr"/>
          <a:lstStyle/>
          <a:p>
            <a:pPr marL="0" indent="0" algn="r">
              <a:buNone/>
            </a:pPr>
            <a:r>
              <a:rPr lang="en-US" b="1" dirty="0">
                <a:solidFill>
                  <a:srgbClr val="0B2B2E"/>
                </a:solidFill>
                <a:latin typeface="Calibri" pitchFamily="34" charset="0"/>
                <a:ea typeface="Calibri" pitchFamily="34" charset="-122"/>
                <a:cs typeface="Calibri" pitchFamily="34" charset="-120"/>
              </a:rPr>
              <a:t>Low Risk</a:t>
            </a:r>
            <a:endParaRPr lang="en-US" dirty="0"/>
          </a:p>
        </p:txBody>
      </p:sp>
      <p:sp>
        <p:nvSpPr>
          <p:cNvPr id="25" name="Shape 23"/>
          <p:cNvSpPr/>
          <p:nvPr/>
        </p:nvSpPr>
        <p:spPr>
          <a:xfrm>
            <a:off x="6126480" y="4645152"/>
            <a:ext cx="5349240" cy="402336"/>
          </a:xfrm>
          <a:prstGeom prst="roundRect">
            <a:avLst>
              <a:gd name="adj" fmla="val 11364"/>
            </a:avLst>
          </a:prstGeom>
          <a:solidFill>
            <a:srgbClr val="F3F8F8"/>
          </a:solidFill>
          <a:ln w="12700">
            <a:solidFill>
              <a:srgbClr val="DCEBEA"/>
            </a:solidFill>
            <a:prstDash val="solid"/>
          </a:ln>
        </p:spPr>
        <p:txBody>
          <a:bodyPr/>
          <a:lstStyle/>
          <a:p>
            <a:endParaRPr lang="en-US"/>
          </a:p>
        </p:txBody>
      </p:sp>
      <p:sp>
        <p:nvSpPr>
          <p:cNvPr id="26" name="Shape 24"/>
          <p:cNvSpPr/>
          <p:nvPr/>
        </p:nvSpPr>
        <p:spPr>
          <a:xfrm>
            <a:off x="6263640" y="4736592"/>
            <a:ext cx="219456" cy="219456"/>
          </a:xfrm>
          <a:prstGeom prst="roundRect">
            <a:avLst>
              <a:gd name="adj" fmla="val 20833"/>
            </a:avLst>
          </a:prstGeom>
          <a:solidFill>
            <a:srgbClr val="00A896"/>
          </a:solidFill>
          <a:ln/>
        </p:spPr>
        <p:txBody>
          <a:bodyPr/>
          <a:lstStyle/>
          <a:p>
            <a:endParaRPr lang="en-US"/>
          </a:p>
        </p:txBody>
      </p:sp>
      <p:sp>
        <p:nvSpPr>
          <p:cNvPr id="27" name="Text 25"/>
          <p:cNvSpPr/>
          <p:nvPr/>
        </p:nvSpPr>
        <p:spPr>
          <a:xfrm>
            <a:off x="6583680" y="4645152"/>
            <a:ext cx="1463040" cy="402336"/>
          </a:xfrm>
          <a:prstGeom prst="rect">
            <a:avLst/>
          </a:prstGeom>
          <a:noFill/>
          <a:ln/>
        </p:spPr>
        <p:txBody>
          <a:bodyPr wrap="square" rtlCol="0" anchor="ctr"/>
          <a:lstStyle/>
          <a:p>
            <a:pPr marL="0" indent="0">
              <a:buNone/>
            </a:pPr>
            <a:r>
              <a:rPr lang="en-US" b="1" dirty="0">
                <a:solidFill>
                  <a:srgbClr val="0B2B2E"/>
                </a:solidFill>
                <a:latin typeface="Calibri" pitchFamily="34" charset="0"/>
                <a:ea typeface="Calibri" pitchFamily="34" charset="-122"/>
                <a:cs typeface="Calibri" pitchFamily="34" charset="-120"/>
              </a:rPr>
              <a:t>55–74</a:t>
            </a:r>
            <a:endParaRPr lang="en-US" dirty="0"/>
          </a:p>
        </p:txBody>
      </p:sp>
      <p:sp>
        <p:nvSpPr>
          <p:cNvPr id="28" name="Text 26"/>
          <p:cNvSpPr/>
          <p:nvPr/>
        </p:nvSpPr>
        <p:spPr>
          <a:xfrm>
            <a:off x="8046720" y="4645152"/>
            <a:ext cx="3291840" cy="402336"/>
          </a:xfrm>
          <a:prstGeom prst="rect">
            <a:avLst/>
          </a:prstGeom>
          <a:noFill/>
          <a:ln/>
        </p:spPr>
        <p:txBody>
          <a:bodyPr wrap="square" rtlCol="0" anchor="ctr"/>
          <a:lstStyle/>
          <a:p>
            <a:pPr marL="0" indent="0" algn="r">
              <a:buNone/>
            </a:pPr>
            <a:r>
              <a:rPr lang="en-US" b="1" dirty="0">
                <a:solidFill>
                  <a:srgbClr val="0B2B2E"/>
                </a:solidFill>
                <a:latin typeface="Calibri" pitchFamily="34" charset="0"/>
                <a:ea typeface="Calibri" pitchFamily="34" charset="-122"/>
                <a:cs typeface="Calibri" pitchFamily="34" charset="-120"/>
              </a:rPr>
              <a:t>Medium Risk</a:t>
            </a:r>
            <a:endParaRPr lang="en-US" dirty="0"/>
          </a:p>
        </p:txBody>
      </p:sp>
      <p:sp>
        <p:nvSpPr>
          <p:cNvPr id="29" name="Shape 27"/>
          <p:cNvSpPr/>
          <p:nvPr/>
        </p:nvSpPr>
        <p:spPr>
          <a:xfrm>
            <a:off x="6126480" y="5094217"/>
            <a:ext cx="5349240" cy="402336"/>
          </a:xfrm>
          <a:prstGeom prst="roundRect">
            <a:avLst>
              <a:gd name="adj" fmla="val 11364"/>
            </a:avLst>
          </a:prstGeom>
          <a:solidFill>
            <a:srgbClr val="F3F8F8"/>
          </a:solidFill>
          <a:ln w="12700">
            <a:solidFill>
              <a:srgbClr val="DCEBEA"/>
            </a:solidFill>
            <a:prstDash val="solid"/>
          </a:ln>
        </p:spPr>
        <p:txBody>
          <a:bodyPr/>
          <a:lstStyle/>
          <a:p>
            <a:endParaRPr lang="en-US"/>
          </a:p>
        </p:txBody>
      </p:sp>
      <p:sp>
        <p:nvSpPr>
          <p:cNvPr id="30" name="Shape 28"/>
          <p:cNvSpPr/>
          <p:nvPr/>
        </p:nvSpPr>
        <p:spPr>
          <a:xfrm>
            <a:off x="6263640" y="5221224"/>
            <a:ext cx="219456" cy="219456"/>
          </a:xfrm>
          <a:prstGeom prst="roundRect">
            <a:avLst>
              <a:gd name="adj" fmla="val 20833"/>
            </a:avLst>
          </a:prstGeom>
          <a:solidFill>
            <a:srgbClr val="E8A33D"/>
          </a:solidFill>
          <a:ln/>
        </p:spPr>
        <p:txBody>
          <a:bodyPr/>
          <a:lstStyle/>
          <a:p>
            <a:endParaRPr lang="en-US"/>
          </a:p>
        </p:txBody>
      </p:sp>
      <p:sp>
        <p:nvSpPr>
          <p:cNvPr id="31" name="Text 29"/>
          <p:cNvSpPr/>
          <p:nvPr/>
        </p:nvSpPr>
        <p:spPr>
          <a:xfrm>
            <a:off x="6583680" y="5129784"/>
            <a:ext cx="1463040" cy="402336"/>
          </a:xfrm>
          <a:prstGeom prst="rect">
            <a:avLst/>
          </a:prstGeom>
          <a:noFill/>
          <a:ln/>
        </p:spPr>
        <p:txBody>
          <a:bodyPr wrap="square" rtlCol="0" anchor="ctr"/>
          <a:lstStyle/>
          <a:p>
            <a:pPr marL="0" indent="0">
              <a:buNone/>
            </a:pPr>
            <a:r>
              <a:rPr lang="en-US" b="1" dirty="0">
                <a:solidFill>
                  <a:srgbClr val="0B2B2E"/>
                </a:solidFill>
                <a:latin typeface="Calibri" pitchFamily="34" charset="0"/>
                <a:ea typeface="Calibri" pitchFamily="34" charset="-122"/>
                <a:cs typeface="Calibri" pitchFamily="34" charset="-120"/>
              </a:rPr>
              <a:t>35–54</a:t>
            </a:r>
            <a:endParaRPr lang="en-US" dirty="0"/>
          </a:p>
        </p:txBody>
      </p:sp>
      <p:sp>
        <p:nvSpPr>
          <p:cNvPr id="32" name="Text 30"/>
          <p:cNvSpPr/>
          <p:nvPr/>
        </p:nvSpPr>
        <p:spPr>
          <a:xfrm>
            <a:off x="8046720" y="5129784"/>
            <a:ext cx="3291840" cy="402336"/>
          </a:xfrm>
          <a:prstGeom prst="rect">
            <a:avLst/>
          </a:prstGeom>
          <a:noFill/>
          <a:ln/>
        </p:spPr>
        <p:txBody>
          <a:bodyPr wrap="square" rtlCol="0" anchor="ctr"/>
          <a:lstStyle/>
          <a:p>
            <a:pPr marL="0" indent="0" algn="r">
              <a:buNone/>
            </a:pPr>
            <a:r>
              <a:rPr lang="en-US" b="1" dirty="0">
                <a:solidFill>
                  <a:srgbClr val="0B2B2E"/>
                </a:solidFill>
                <a:latin typeface="Calibri" pitchFamily="34" charset="0"/>
                <a:ea typeface="Calibri" pitchFamily="34" charset="-122"/>
                <a:cs typeface="Calibri" pitchFamily="34" charset="-120"/>
              </a:rPr>
              <a:t>High Risk</a:t>
            </a:r>
            <a:endParaRPr lang="en-US" dirty="0"/>
          </a:p>
        </p:txBody>
      </p:sp>
      <p:sp>
        <p:nvSpPr>
          <p:cNvPr id="36" name="Text 34"/>
          <p:cNvSpPr/>
          <p:nvPr/>
        </p:nvSpPr>
        <p:spPr>
          <a:xfrm>
            <a:off x="8046720" y="5994901"/>
            <a:ext cx="3291840" cy="402336"/>
          </a:xfrm>
          <a:prstGeom prst="rect">
            <a:avLst/>
          </a:prstGeom>
          <a:noFill/>
          <a:ln/>
        </p:spPr>
        <p:txBody>
          <a:bodyPr wrap="square" rtlCol="0" anchor="ctr"/>
          <a:lstStyle/>
          <a:p>
            <a:pPr marL="0" indent="0" algn="r">
              <a:buNone/>
            </a:pPr>
            <a:endParaRPr lang="en-US" dirty="0"/>
          </a:p>
        </p:txBody>
      </p:sp>
      <p:sp>
        <p:nvSpPr>
          <p:cNvPr id="38" name="Text 36"/>
          <p:cNvSpPr/>
          <p:nvPr/>
        </p:nvSpPr>
        <p:spPr>
          <a:xfrm>
            <a:off x="11338560" y="6528816"/>
            <a:ext cx="457200" cy="274320"/>
          </a:xfrm>
          <a:prstGeom prst="rect">
            <a:avLst/>
          </a:prstGeom>
          <a:noFill/>
          <a:ln/>
        </p:spPr>
        <p:txBody>
          <a:bodyPr wrap="square" rtlCol="0" anchor="ctr"/>
          <a:lstStyle/>
          <a:p>
            <a:pPr marL="0" indent="0" algn="r">
              <a:buNone/>
            </a:pPr>
            <a:r>
              <a:rPr lang="en-US" dirty="0">
                <a:solidFill>
                  <a:srgbClr val="5C7A7D"/>
                </a:solidFill>
                <a:latin typeface="Calibri" pitchFamily="34" charset="0"/>
                <a:ea typeface="Calibri" pitchFamily="34" charset="-122"/>
                <a:cs typeface="Calibri" pitchFamily="34" charset="-120"/>
              </a:rPr>
              <a:t>13</a:t>
            </a:r>
            <a:endParaRPr lang="en-US" dirty="0"/>
          </a:p>
        </p:txBody>
      </p:sp>
    </p:spTree>
    <p:extLst>
      <p:ext uri="{BB962C8B-B14F-4D97-AF65-F5344CB8AC3E}">
        <p14:creationId xmlns:p14="http://schemas.microsoft.com/office/powerpoint/2010/main" val="18782755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79120" y="578658"/>
            <a:ext cx="10058400" cy="292608"/>
          </a:xfrm>
          <a:prstGeom prst="rect">
            <a:avLst/>
          </a:prstGeom>
          <a:noFill/>
          <a:ln/>
        </p:spPr>
        <p:txBody>
          <a:bodyPr wrap="square" rtlCol="0" anchor="ctr"/>
          <a:lstStyle/>
          <a:p>
            <a:pPr marL="0" indent="0">
              <a:buNone/>
            </a:pPr>
            <a:r>
              <a:rPr lang="en-US" sz="1600" b="1" kern="0" spc="200" dirty="0">
                <a:solidFill>
                  <a:srgbClr val="00A896"/>
                </a:solidFill>
                <a:latin typeface="Calibri" pitchFamily="34" charset="0"/>
                <a:ea typeface="Calibri" pitchFamily="34" charset="-122"/>
                <a:cs typeface="Calibri" pitchFamily="34" charset="-120"/>
              </a:rPr>
              <a:t>RISK INTELLIGENCE</a:t>
            </a:r>
            <a:endParaRPr lang="en-US" sz="1600" dirty="0"/>
          </a:p>
        </p:txBody>
      </p:sp>
      <p:sp>
        <p:nvSpPr>
          <p:cNvPr id="3" name="Text 1"/>
          <p:cNvSpPr/>
          <p:nvPr/>
        </p:nvSpPr>
        <p:spPr>
          <a:xfrm>
            <a:off x="548640" y="621792"/>
            <a:ext cx="11064240" cy="658368"/>
          </a:xfrm>
          <a:prstGeom prst="rect">
            <a:avLst/>
          </a:prstGeom>
          <a:noFill/>
          <a:ln/>
        </p:spPr>
        <p:txBody>
          <a:bodyPr wrap="square" rtlCol="0" anchor="ctr"/>
          <a:lstStyle/>
          <a:p>
            <a:pPr marL="0" indent="0">
              <a:buNone/>
            </a:pPr>
            <a:r>
              <a:rPr lang="en-US" sz="1600" b="1" dirty="0">
                <a:solidFill>
                  <a:srgbClr val="0B2B2E"/>
                </a:solidFill>
                <a:latin typeface="Cambria" pitchFamily="34" charset="0"/>
                <a:ea typeface="Cambria" pitchFamily="34" charset="-122"/>
                <a:cs typeface="Cambria" pitchFamily="34" charset="-120"/>
              </a:rPr>
              <a:t>Lending Decision Engine</a:t>
            </a:r>
            <a:endParaRPr lang="en-US" sz="1600" dirty="0"/>
          </a:p>
        </p:txBody>
      </p:sp>
      <p:sp>
        <p:nvSpPr>
          <p:cNvPr id="4" name="Text 2"/>
          <p:cNvSpPr/>
          <p:nvPr/>
        </p:nvSpPr>
        <p:spPr>
          <a:xfrm>
            <a:off x="548640" y="1371600"/>
            <a:ext cx="11064240" cy="365760"/>
          </a:xfrm>
          <a:prstGeom prst="rect">
            <a:avLst/>
          </a:prstGeom>
          <a:noFill/>
          <a:ln/>
        </p:spPr>
        <p:txBody>
          <a:bodyPr wrap="square" rtlCol="0" anchor="ctr"/>
          <a:lstStyle/>
          <a:p>
            <a:pPr marL="0" indent="0">
              <a:buNone/>
            </a:pPr>
            <a:r>
              <a:rPr lang="en-US" sz="1600" dirty="0">
                <a:solidFill>
                  <a:srgbClr val="5C7A7D"/>
                </a:solidFill>
                <a:latin typeface="Calibri" pitchFamily="34" charset="0"/>
                <a:ea typeface="Calibri" pitchFamily="34" charset="-122"/>
                <a:cs typeface="Calibri" pitchFamily="34" charset="-120"/>
              </a:rPr>
              <a:t>The system combines the ML result with rule-based risk assessment.</a:t>
            </a:r>
            <a:endParaRPr lang="en-US" sz="1600" dirty="0"/>
          </a:p>
        </p:txBody>
      </p:sp>
      <p:sp>
        <p:nvSpPr>
          <p:cNvPr id="5" name="Shape 3"/>
          <p:cNvSpPr/>
          <p:nvPr/>
        </p:nvSpPr>
        <p:spPr>
          <a:xfrm>
            <a:off x="4056149" y="2089404"/>
            <a:ext cx="3108960" cy="420624"/>
          </a:xfrm>
          <a:prstGeom prst="roundRect">
            <a:avLst>
              <a:gd name="adj" fmla="val 15217"/>
            </a:avLst>
          </a:prstGeom>
          <a:solidFill>
            <a:srgbClr val="F3F8F8"/>
          </a:solidFill>
          <a:ln w="12700">
            <a:solidFill>
              <a:srgbClr val="DCEBEA"/>
            </a:solidFill>
            <a:prstDash val="solid"/>
          </a:ln>
        </p:spPr>
        <p:txBody>
          <a:bodyPr/>
          <a:lstStyle/>
          <a:p>
            <a:endParaRPr lang="en-US"/>
          </a:p>
        </p:txBody>
      </p:sp>
      <p:sp>
        <p:nvSpPr>
          <p:cNvPr id="6" name="Text 4"/>
          <p:cNvSpPr/>
          <p:nvPr/>
        </p:nvSpPr>
        <p:spPr>
          <a:xfrm>
            <a:off x="4056149" y="2048256"/>
            <a:ext cx="3108960" cy="420624"/>
          </a:xfrm>
          <a:prstGeom prst="rect">
            <a:avLst/>
          </a:prstGeom>
          <a:noFill/>
          <a:ln/>
        </p:spPr>
        <p:txBody>
          <a:bodyPr wrap="square" rtlCol="0" anchor="ctr"/>
          <a:lstStyle/>
          <a:p>
            <a:pPr marL="0" indent="0" algn="ctr">
              <a:buNone/>
            </a:pPr>
            <a:r>
              <a:rPr lang="en-US" sz="1600" b="1" dirty="0">
                <a:solidFill>
                  <a:srgbClr val="0B2B2E"/>
                </a:solidFill>
                <a:latin typeface="Calibri" pitchFamily="34" charset="0"/>
                <a:ea typeface="Calibri" pitchFamily="34" charset="-122"/>
                <a:cs typeface="Calibri" pitchFamily="34" charset="-120"/>
              </a:rPr>
              <a:t>Borrower</a:t>
            </a:r>
            <a:endParaRPr lang="en-US" sz="1600" dirty="0"/>
          </a:p>
        </p:txBody>
      </p:sp>
      <p:sp>
        <p:nvSpPr>
          <p:cNvPr id="7" name="Shape 5"/>
          <p:cNvSpPr/>
          <p:nvPr/>
        </p:nvSpPr>
        <p:spPr>
          <a:xfrm>
            <a:off x="5537477" y="2505456"/>
            <a:ext cx="146304" cy="100584"/>
          </a:xfrm>
          <a:prstGeom prst="downArrow">
            <a:avLst/>
          </a:prstGeom>
          <a:solidFill>
            <a:srgbClr val="9FC4C2"/>
          </a:solidFill>
          <a:ln/>
        </p:spPr>
        <p:txBody>
          <a:bodyPr/>
          <a:lstStyle/>
          <a:p>
            <a:endParaRPr lang="en-US"/>
          </a:p>
        </p:txBody>
      </p:sp>
      <p:sp>
        <p:nvSpPr>
          <p:cNvPr id="8" name="Shape 6"/>
          <p:cNvSpPr/>
          <p:nvPr/>
        </p:nvSpPr>
        <p:spPr>
          <a:xfrm>
            <a:off x="4056149" y="2642616"/>
            <a:ext cx="3108960" cy="420624"/>
          </a:xfrm>
          <a:prstGeom prst="roundRect">
            <a:avLst>
              <a:gd name="adj" fmla="val 15217"/>
            </a:avLst>
          </a:prstGeom>
          <a:solidFill>
            <a:srgbClr val="F3F8F8"/>
          </a:solidFill>
          <a:ln w="12700">
            <a:solidFill>
              <a:srgbClr val="DCEBEA"/>
            </a:solidFill>
            <a:prstDash val="solid"/>
          </a:ln>
        </p:spPr>
        <p:txBody>
          <a:bodyPr/>
          <a:lstStyle/>
          <a:p>
            <a:endParaRPr lang="en-US"/>
          </a:p>
        </p:txBody>
      </p:sp>
      <p:sp>
        <p:nvSpPr>
          <p:cNvPr id="9" name="Text 7"/>
          <p:cNvSpPr/>
          <p:nvPr/>
        </p:nvSpPr>
        <p:spPr>
          <a:xfrm>
            <a:off x="4056149" y="2642616"/>
            <a:ext cx="3108960" cy="420624"/>
          </a:xfrm>
          <a:prstGeom prst="rect">
            <a:avLst/>
          </a:prstGeom>
          <a:noFill/>
          <a:ln/>
        </p:spPr>
        <p:txBody>
          <a:bodyPr wrap="square" rtlCol="0" anchor="ctr"/>
          <a:lstStyle/>
          <a:p>
            <a:pPr marL="0" indent="0" algn="ctr">
              <a:buNone/>
            </a:pPr>
            <a:r>
              <a:rPr lang="en-US" sz="1600" b="1" dirty="0">
                <a:solidFill>
                  <a:srgbClr val="0B2B2E"/>
                </a:solidFill>
                <a:latin typeface="Calibri" pitchFamily="34" charset="0"/>
                <a:ea typeface="Calibri" pitchFamily="34" charset="-122"/>
                <a:cs typeface="Calibri" pitchFamily="34" charset="-120"/>
              </a:rPr>
              <a:t>ML Model</a:t>
            </a:r>
            <a:endParaRPr lang="en-US" sz="1600" dirty="0"/>
          </a:p>
        </p:txBody>
      </p:sp>
      <p:sp>
        <p:nvSpPr>
          <p:cNvPr id="10" name="Shape 8"/>
          <p:cNvSpPr/>
          <p:nvPr/>
        </p:nvSpPr>
        <p:spPr>
          <a:xfrm>
            <a:off x="5537477" y="3099816"/>
            <a:ext cx="146304" cy="100584"/>
          </a:xfrm>
          <a:prstGeom prst="downArrow">
            <a:avLst/>
          </a:prstGeom>
          <a:solidFill>
            <a:srgbClr val="9FC4C2"/>
          </a:solidFill>
          <a:ln/>
        </p:spPr>
        <p:txBody>
          <a:bodyPr/>
          <a:lstStyle/>
          <a:p>
            <a:endParaRPr lang="en-US"/>
          </a:p>
        </p:txBody>
      </p:sp>
      <p:sp>
        <p:nvSpPr>
          <p:cNvPr id="11" name="Shape 9"/>
          <p:cNvSpPr/>
          <p:nvPr/>
        </p:nvSpPr>
        <p:spPr>
          <a:xfrm>
            <a:off x="4056149" y="3236976"/>
            <a:ext cx="3108960" cy="420624"/>
          </a:xfrm>
          <a:prstGeom prst="roundRect">
            <a:avLst>
              <a:gd name="adj" fmla="val 15217"/>
            </a:avLst>
          </a:prstGeom>
          <a:solidFill>
            <a:srgbClr val="F3F8F8"/>
          </a:solidFill>
          <a:ln w="12700">
            <a:solidFill>
              <a:srgbClr val="DCEBEA"/>
            </a:solidFill>
            <a:prstDash val="solid"/>
          </a:ln>
        </p:spPr>
        <p:txBody>
          <a:bodyPr/>
          <a:lstStyle/>
          <a:p>
            <a:endParaRPr lang="en-US"/>
          </a:p>
        </p:txBody>
      </p:sp>
      <p:sp>
        <p:nvSpPr>
          <p:cNvPr id="12" name="Text 10"/>
          <p:cNvSpPr/>
          <p:nvPr/>
        </p:nvSpPr>
        <p:spPr>
          <a:xfrm>
            <a:off x="4056149" y="3236976"/>
            <a:ext cx="3108960" cy="420624"/>
          </a:xfrm>
          <a:prstGeom prst="rect">
            <a:avLst/>
          </a:prstGeom>
          <a:noFill/>
          <a:ln/>
        </p:spPr>
        <p:txBody>
          <a:bodyPr wrap="square" rtlCol="0" anchor="ctr"/>
          <a:lstStyle/>
          <a:p>
            <a:pPr marL="0" indent="0" algn="ctr">
              <a:buNone/>
            </a:pPr>
            <a:r>
              <a:rPr lang="en-US" sz="1600" b="1" dirty="0">
                <a:solidFill>
                  <a:srgbClr val="0B2B2E"/>
                </a:solidFill>
                <a:latin typeface="Calibri" pitchFamily="34" charset="0"/>
                <a:ea typeface="Calibri" pitchFamily="34" charset="-122"/>
                <a:cs typeface="Calibri" pitchFamily="34" charset="-120"/>
              </a:rPr>
              <a:t>Default Probability</a:t>
            </a:r>
            <a:endParaRPr lang="en-US" sz="1600" dirty="0"/>
          </a:p>
        </p:txBody>
      </p:sp>
      <p:sp>
        <p:nvSpPr>
          <p:cNvPr id="13" name="Shape 11"/>
          <p:cNvSpPr/>
          <p:nvPr/>
        </p:nvSpPr>
        <p:spPr>
          <a:xfrm>
            <a:off x="5537477" y="3694176"/>
            <a:ext cx="146304" cy="100584"/>
          </a:xfrm>
          <a:prstGeom prst="downArrow">
            <a:avLst/>
          </a:prstGeom>
          <a:solidFill>
            <a:srgbClr val="9FC4C2"/>
          </a:solidFill>
          <a:ln/>
        </p:spPr>
        <p:txBody>
          <a:bodyPr/>
          <a:lstStyle/>
          <a:p>
            <a:endParaRPr lang="en-US"/>
          </a:p>
        </p:txBody>
      </p:sp>
      <p:sp>
        <p:nvSpPr>
          <p:cNvPr id="14" name="Shape 12"/>
          <p:cNvSpPr/>
          <p:nvPr/>
        </p:nvSpPr>
        <p:spPr>
          <a:xfrm>
            <a:off x="4056149" y="3831336"/>
            <a:ext cx="3108960" cy="420624"/>
          </a:xfrm>
          <a:prstGeom prst="roundRect">
            <a:avLst>
              <a:gd name="adj" fmla="val 15217"/>
            </a:avLst>
          </a:prstGeom>
          <a:solidFill>
            <a:srgbClr val="F3F8F8"/>
          </a:solidFill>
          <a:ln w="12700">
            <a:solidFill>
              <a:srgbClr val="DCEBEA"/>
            </a:solidFill>
            <a:prstDash val="solid"/>
          </a:ln>
        </p:spPr>
        <p:txBody>
          <a:bodyPr/>
          <a:lstStyle/>
          <a:p>
            <a:endParaRPr lang="en-US"/>
          </a:p>
        </p:txBody>
      </p:sp>
      <p:sp>
        <p:nvSpPr>
          <p:cNvPr id="15" name="Text 13"/>
          <p:cNvSpPr/>
          <p:nvPr/>
        </p:nvSpPr>
        <p:spPr>
          <a:xfrm>
            <a:off x="4056149" y="3831336"/>
            <a:ext cx="3108960" cy="420624"/>
          </a:xfrm>
          <a:prstGeom prst="rect">
            <a:avLst/>
          </a:prstGeom>
          <a:noFill/>
          <a:ln/>
        </p:spPr>
        <p:txBody>
          <a:bodyPr wrap="square" rtlCol="0" anchor="ctr"/>
          <a:lstStyle/>
          <a:p>
            <a:pPr marL="0" indent="0" algn="ctr">
              <a:buNone/>
            </a:pPr>
            <a:r>
              <a:rPr lang="en-US" sz="1600" b="1" dirty="0">
                <a:solidFill>
                  <a:srgbClr val="0B2B2E"/>
                </a:solidFill>
                <a:latin typeface="Calibri" pitchFamily="34" charset="0"/>
                <a:ea typeface="Calibri" pitchFamily="34" charset="-122"/>
                <a:cs typeface="Calibri" pitchFamily="34" charset="-120"/>
              </a:rPr>
              <a:t>Risk Score</a:t>
            </a:r>
            <a:endParaRPr lang="en-US" sz="1600" dirty="0"/>
          </a:p>
        </p:txBody>
      </p:sp>
      <p:sp>
        <p:nvSpPr>
          <p:cNvPr id="16" name="Shape 14"/>
          <p:cNvSpPr/>
          <p:nvPr/>
        </p:nvSpPr>
        <p:spPr>
          <a:xfrm>
            <a:off x="5537477" y="4288536"/>
            <a:ext cx="146304" cy="100584"/>
          </a:xfrm>
          <a:prstGeom prst="downArrow">
            <a:avLst/>
          </a:prstGeom>
          <a:solidFill>
            <a:srgbClr val="9FC4C2"/>
          </a:solidFill>
          <a:ln/>
        </p:spPr>
        <p:txBody>
          <a:bodyPr/>
          <a:lstStyle/>
          <a:p>
            <a:endParaRPr lang="en-US"/>
          </a:p>
        </p:txBody>
      </p:sp>
      <p:sp>
        <p:nvSpPr>
          <p:cNvPr id="17" name="Shape 15"/>
          <p:cNvSpPr/>
          <p:nvPr/>
        </p:nvSpPr>
        <p:spPr>
          <a:xfrm>
            <a:off x="4056149" y="4425696"/>
            <a:ext cx="3108960" cy="420624"/>
          </a:xfrm>
          <a:prstGeom prst="roundRect">
            <a:avLst>
              <a:gd name="adj" fmla="val 15217"/>
            </a:avLst>
          </a:prstGeom>
          <a:solidFill>
            <a:srgbClr val="F3F8F8"/>
          </a:solidFill>
          <a:ln w="12700">
            <a:solidFill>
              <a:srgbClr val="DCEBEA"/>
            </a:solidFill>
            <a:prstDash val="solid"/>
          </a:ln>
        </p:spPr>
        <p:txBody>
          <a:bodyPr/>
          <a:lstStyle/>
          <a:p>
            <a:endParaRPr lang="en-US"/>
          </a:p>
        </p:txBody>
      </p:sp>
      <p:sp>
        <p:nvSpPr>
          <p:cNvPr id="18" name="Text 16"/>
          <p:cNvSpPr/>
          <p:nvPr/>
        </p:nvSpPr>
        <p:spPr>
          <a:xfrm>
            <a:off x="4056149" y="4425696"/>
            <a:ext cx="3108960" cy="420624"/>
          </a:xfrm>
          <a:prstGeom prst="rect">
            <a:avLst/>
          </a:prstGeom>
          <a:noFill/>
          <a:ln/>
        </p:spPr>
        <p:txBody>
          <a:bodyPr wrap="square" rtlCol="0" anchor="ctr"/>
          <a:lstStyle/>
          <a:p>
            <a:pPr marL="0" indent="0" algn="ctr">
              <a:buNone/>
            </a:pPr>
            <a:r>
              <a:rPr lang="en-US" sz="1600" b="1" dirty="0">
                <a:solidFill>
                  <a:srgbClr val="0B2B2E"/>
                </a:solidFill>
                <a:latin typeface="Calibri" pitchFamily="34" charset="0"/>
                <a:ea typeface="Calibri" pitchFamily="34" charset="-122"/>
                <a:cs typeface="Calibri" pitchFamily="34" charset="-120"/>
              </a:rPr>
              <a:t>Risk Category</a:t>
            </a:r>
            <a:endParaRPr lang="en-US" sz="1600" dirty="0"/>
          </a:p>
        </p:txBody>
      </p:sp>
      <p:sp>
        <p:nvSpPr>
          <p:cNvPr id="19" name="Shape 17"/>
          <p:cNvSpPr/>
          <p:nvPr/>
        </p:nvSpPr>
        <p:spPr>
          <a:xfrm>
            <a:off x="5537477" y="4882896"/>
            <a:ext cx="146304" cy="100584"/>
          </a:xfrm>
          <a:prstGeom prst="downArrow">
            <a:avLst/>
          </a:prstGeom>
          <a:solidFill>
            <a:srgbClr val="9FC4C2"/>
          </a:solidFill>
          <a:ln/>
        </p:spPr>
        <p:txBody>
          <a:bodyPr/>
          <a:lstStyle/>
          <a:p>
            <a:endParaRPr lang="en-US"/>
          </a:p>
        </p:txBody>
      </p:sp>
      <p:sp>
        <p:nvSpPr>
          <p:cNvPr id="20" name="Shape 18"/>
          <p:cNvSpPr/>
          <p:nvPr/>
        </p:nvSpPr>
        <p:spPr>
          <a:xfrm>
            <a:off x="4056149" y="5020056"/>
            <a:ext cx="3108960" cy="420624"/>
          </a:xfrm>
          <a:prstGeom prst="roundRect">
            <a:avLst>
              <a:gd name="adj" fmla="val 15217"/>
            </a:avLst>
          </a:prstGeom>
          <a:solidFill>
            <a:srgbClr val="F3F8F8"/>
          </a:solidFill>
          <a:ln w="12700">
            <a:solidFill>
              <a:srgbClr val="DCEBEA"/>
            </a:solidFill>
            <a:prstDash val="solid"/>
          </a:ln>
        </p:spPr>
        <p:txBody>
          <a:bodyPr/>
          <a:lstStyle/>
          <a:p>
            <a:endParaRPr lang="en-US"/>
          </a:p>
        </p:txBody>
      </p:sp>
      <p:sp>
        <p:nvSpPr>
          <p:cNvPr id="21" name="Text 19"/>
          <p:cNvSpPr/>
          <p:nvPr/>
        </p:nvSpPr>
        <p:spPr>
          <a:xfrm>
            <a:off x="4056149" y="5020056"/>
            <a:ext cx="3108960" cy="420624"/>
          </a:xfrm>
          <a:prstGeom prst="rect">
            <a:avLst/>
          </a:prstGeom>
          <a:noFill/>
          <a:ln/>
        </p:spPr>
        <p:txBody>
          <a:bodyPr wrap="square" rtlCol="0" anchor="ctr"/>
          <a:lstStyle/>
          <a:p>
            <a:pPr marL="0" indent="0" algn="ctr">
              <a:buNone/>
            </a:pPr>
            <a:r>
              <a:rPr lang="en-US" sz="1600" b="1" dirty="0">
                <a:solidFill>
                  <a:srgbClr val="0B2B2E"/>
                </a:solidFill>
                <a:latin typeface="Calibri" pitchFamily="34" charset="0"/>
                <a:ea typeface="Calibri" pitchFamily="34" charset="-122"/>
                <a:cs typeface="Calibri" pitchFamily="34" charset="-120"/>
              </a:rPr>
              <a:t>Risk Engine</a:t>
            </a:r>
            <a:endParaRPr lang="en-US" sz="1600" dirty="0"/>
          </a:p>
        </p:txBody>
      </p:sp>
      <p:sp>
        <p:nvSpPr>
          <p:cNvPr id="22" name="Shape 20"/>
          <p:cNvSpPr/>
          <p:nvPr/>
        </p:nvSpPr>
        <p:spPr>
          <a:xfrm>
            <a:off x="5537477" y="5477256"/>
            <a:ext cx="146304" cy="100584"/>
          </a:xfrm>
          <a:prstGeom prst="downArrow">
            <a:avLst/>
          </a:prstGeom>
          <a:solidFill>
            <a:srgbClr val="9FC4C2"/>
          </a:solidFill>
          <a:ln/>
        </p:spPr>
        <p:txBody>
          <a:bodyPr/>
          <a:lstStyle/>
          <a:p>
            <a:endParaRPr lang="en-US"/>
          </a:p>
        </p:txBody>
      </p:sp>
      <p:sp>
        <p:nvSpPr>
          <p:cNvPr id="23" name="Shape 21"/>
          <p:cNvSpPr/>
          <p:nvPr/>
        </p:nvSpPr>
        <p:spPr>
          <a:xfrm>
            <a:off x="4056149" y="5614416"/>
            <a:ext cx="3108960" cy="420624"/>
          </a:xfrm>
          <a:prstGeom prst="roundRect">
            <a:avLst>
              <a:gd name="adj" fmla="val 15217"/>
            </a:avLst>
          </a:prstGeom>
          <a:solidFill>
            <a:srgbClr val="028090"/>
          </a:solidFill>
          <a:ln w="12700">
            <a:solidFill>
              <a:srgbClr val="028090"/>
            </a:solidFill>
            <a:prstDash val="solid"/>
          </a:ln>
        </p:spPr>
        <p:txBody>
          <a:bodyPr/>
          <a:lstStyle/>
          <a:p>
            <a:endParaRPr lang="en-US"/>
          </a:p>
        </p:txBody>
      </p:sp>
      <p:sp>
        <p:nvSpPr>
          <p:cNvPr id="24" name="Text 22"/>
          <p:cNvSpPr/>
          <p:nvPr/>
        </p:nvSpPr>
        <p:spPr>
          <a:xfrm>
            <a:off x="4056149" y="5614416"/>
            <a:ext cx="3108960" cy="42062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Decision</a:t>
            </a:r>
            <a:endParaRPr lang="en-US" sz="1600" dirty="0"/>
          </a:p>
        </p:txBody>
      </p:sp>
      <p:sp>
        <p:nvSpPr>
          <p:cNvPr id="26" name="Text 24"/>
          <p:cNvSpPr/>
          <p:nvPr/>
        </p:nvSpPr>
        <p:spPr>
          <a:xfrm>
            <a:off x="4937760" y="2286000"/>
            <a:ext cx="5989320" cy="320040"/>
          </a:xfrm>
          <a:prstGeom prst="rect">
            <a:avLst/>
          </a:prstGeom>
          <a:noFill/>
          <a:ln/>
        </p:spPr>
        <p:txBody>
          <a:bodyPr wrap="square" rtlCol="0" anchor="ctr"/>
          <a:lstStyle/>
          <a:p>
            <a:pPr marL="0" indent="0">
              <a:buNone/>
            </a:pPr>
            <a:endParaRPr lang="en-US" sz="1600" dirty="0"/>
          </a:p>
        </p:txBody>
      </p:sp>
      <p:sp>
        <p:nvSpPr>
          <p:cNvPr id="28" name="Text 26"/>
          <p:cNvSpPr/>
          <p:nvPr/>
        </p:nvSpPr>
        <p:spPr>
          <a:xfrm>
            <a:off x="4937760" y="2743200"/>
            <a:ext cx="2743200" cy="64008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ELIGIBLE</a:t>
            </a:r>
            <a:endParaRPr lang="en-US" sz="1600" dirty="0"/>
          </a:p>
        </p:txBody>
      </p:sp>
      <p:sp>
        <p:nvSpPr>
          <p:cNvPr id="30" name="Text 28"/>
          <p:cNvSpPr/>
          <p:nvPr/>
        </p:nvSpPr>
        <p:spPr>
          <a:xfrm>
            <a:off x="7863840" y="2743200"/>
            <a:ext cx="3063240" cy="64008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NOT ELIGIBLE</a:t>
            </a:r>
            <a:endParaRPr lang="en-US" sz="1600" dirty="0"/>
          </a:p>
        </p:txBody>
      </p:sp>
      <p:sp>
        <p:nvSpPr>
          <p:cNvPr id="31" name="Text 29"/>
          <p:cNvSpPr/>
          <p:nvPr/>
        </p:nvSpPr>
        <p:spPr>
          <a:xfrm>
            <a:off x="4937760" y="3611880"/>
            <a:ext cx="5989320" cy="320040"/>
          </a:xfrm>
          <a:prstGeom prst="rect">
            <a:avLst/>
          </a:prstGeom>
          <a:noFill/>
          <a:ln/>
        </p:spPr>
        <p:txBody>
          <a:bodyPr wrap="square" rtlCol="0" anchor="ctr"/>
          <a:lstStyle/>
          <a:p>
            <a:pPr marL="0" indent="0">
              <a:buNone/>
            </a:pPr>
            <a:endParaRPr lang="en-US" sz="1600" dirty="0"/>
          </a:p>
        </p:txBody>
      </p:sp>
      <p:sp>
        <p:nvSpPr>
          <p:cNvPr id="32" name="Text 30"/>
          <p:cNvSpPr/>
          <p:nvPr/>
        </p:nvSpPr>
        <p:spPr>
          <a:xfrm>
            <a:off x="4937760" y="4023360"/>
            <a:ext cx="5989320" cy="2011680"/>
          </a:xfrm>
          <a:prstGeom prst="rect">
            <a:avLst/>
          </a:prstGeom>
          <a:noFill/>
          <a:ln/>
        </p:spPr>
        <p:txBody>
          <a:bodyPr wrap="square" rtlCol="0" anchor="ctr"/>
          <a:lstStyle/>
          <a:p>
            <a:pPr>
              <a:lnSpc>
                <a:spcPct val="120000"/>
              </a:lnSpc>
              <a:spcAft>
                <a:spcPts val="1200"/>
              </a:spcAft>
              <a:buSzPct val="100000"/>
            </a:pPr>
            <a:endParaRPr lang="en-US" sz="1600" dirty="0"/>
          </a:p>
        </p:txBody>
      </p:sp>
      <p:sp>
        <p:nvSpPr>
          <p:cNvPr id="34" name="Text 32"/>
          <p:cNvSpPr/>
          <p:nvPr/>
        </p:nvSpPr>
        <p:spPr>
          <a:xfrm>
            <a:off x="11338560" y="6528816"/>
            <a:ext cx="457200" cy="274320"/>
          </a:xfrm>
          <a:prstGeom prst="rect">
            <a:avLst/>
          </a:prstGeom>
          <a:noFill/>
          <a:ln/>
        </p:spPr>
        <p:txBody>
          <a:bodyPr wrap="square" rtlCol="0" anchor="ctr"/>
          <a:lstStyle/>
          <a:p>
            <a:pPr marL="0" indent="0" algn="r">
              <a:buNone/>
            </a:pPr>
            <a:r>
              <a:rPr lang="en-US" sz="1600" dirty="0">
                <a:solidFill>
                  <a:srgbClr val="5C7A7D"/>
                </a:solidFill>
                <a:latin typeface="Calibri" pitchFamily="34" charset="0"/>
                <a:ea typeface="Calibri" pitchFamily="34" charset="-122"/>
                <a:cs typeface="Calibri" pitchFamily="34" charset="-120"/>
              </a:rPr>
              <a:t>14</a:t>
            </a:r>
            <a:endParaRPr lang="en-US" sz="1600" dirty="0"/>
          </a:p>
        </p:txBody>
      </p:sp>
    </p:spTree>
    <p:extLst>
      <p:ext uri="{BB962C8B-B14F-4D97-AF65-F5344CB8AC3E}">
        <p14:creationId xmlns:p14="http://schemas.microsoft.com/office/powerpoint/2010/main" val="16364099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576072"/>
            <a:ext cx="10058400" cy="292608"/>
          </a:xfrm>
          <a:prstGeom prst="rect">
            <a:avLst/>
          </a:prstGeom>
          <a:noFill/>
          <a:ln/>
        </p:spPr>
        <p:txBody>
          <a:bodyPr wrap="square" rtlCol="0" anchor="ctr"/>
          <a:lstStyle/>
          <a:p>
            <a:pPr marL="0" indent="0">
              <a:buNone/>
            </a:pPr>
            <a:r>
              <a:rPr lang="en-US" sz="1400" b="1" kern="0" spc="200" dirty="0">
                <a:solidFill>
                  <a:srgbClr val="00A896"/>
                </a:solidFill>
                <a:latin typeface="Calibri" pitchFamily="34" charset="0"/>
                <a:ea typeface="Calibri" pitchFamily="34" charset="-122"/>
                <a:cs typeface="Calibri" pitchFamily="34" charset="-120"/>
              </a:rPr>
              <a:t>INTEGRATION</a:t>
            </a:r>
            <a:endParaRPr lang="en-US" sz="1400" dirty="0"/>
          </a:p>
        </p:txBody>
      </p:sp>
      <p:sp>
        <p:nvSpPr>
          <p:cNvPr id="3" name="Text 1"/>
          <p:cNvSpPr/>
          <p:nvPr/>
        </p:nvSpPr>
        <p:spPr>
          <a:xfrm>
            <a:off x="548640" y="621792"/>
            <a:ext cx="11064240" cy="658368"/>
          </a:xfrm>
          <a:prstGeom prst="rect">
            <a:avLst/>
          </a:prstGeom>
          <a:noFill/>
          <a:ln/>
        </p:spPr>
        <p:txBody>
          <a:bodyPr wrap="square" rtlCol="0" anchor="ctr"/>
          <a:lstStyle/>
          <a:p>
            <a:pPr marL="0" indent="0">
              <a:buNone/>
            </a:pPr>
            <a:r>
              <a:rPr lang="en-US" sz="1400" b="1" dirty="0">
                <a:solidFill>
                  <a:srgbClr val="0B2B2E"/>
                </a:solidFill>
                <a:latin typeface="Cambria" pitchFamily="34" charset="0"/>
                <a:ea typeface="Cambria" pitchFamily="34" charset="-122"/>
                <a:cs typeface="Cambria" pitchFamily="34" charset="-120"/>
              </a:rPr>
              <a:t>FastAPI REST API</a:t>
            </a:r>
            <a:endParaRPr lang="en-US" sz="1400" dirty="0"/>
          </a:p>
        </p:txBody>
      </p:sp>
      <p:sp>
        <p:nvSpPr>
          <p:cNvPr id="4" name="Text 2"/>
          <p:cNvSpPr/>
          <p:nvPr/>
        </p:nvSpPr>
        <p:spPr>
          <a:xfrm>
            <a:off x="548640" y="1417320"/>
            <a:ext cx="4572000" cy="365760"/>
          </a:xfrm>
          <a:prstGeom prst="rect">
            <a:avLst/>
          </a:prstGeom>
          <a:noFill/>
          <a:ln/>
        </p:spPr>
        <p:txBody>
          <a:bodyPr wrap="square" rtlCol="0" anchor="ctr"/>
          <a:lstStyle/>
          <a:p>
            <a:pPr marL="0" indent="0">
              <a:buNone/>
            </a:pPr>
            <a:r>
              <a:rPr lang="en-US" sz="1400" b="1" dirty="0">
                <a:solidFill>
                  <a:srgbClr val="0B2B2E"/>
                </a:solidFill>
                <a:latin typeface="Cambria" pitchFamily="34" charset="0"/>
                <a:ea typeface="Cambria" pitchFamily="34" charset="-122"/>
                <a:cs typeface="Cambria" pitchFamily="34" charset="-120"/>
              </a:rPr>
              <a:t>API Endpoints</a:t>
            </a:r>
            <a:endParaRPr lang="en-US" sz="1400" dirty="0"/>
          </a:p>
        </p:txBody>
      </p:sp>
      <p:graphicFrame>
        <p:nvGraphicFramePr>
          <p:cNvPr id="16" name="Table 0"/>
          <p:cNvGraphicFramePr>
            <a:graphicFrameLocks noGrp="1"/>
          </p:cNvGraphicFramePr>
          <p:nvPr/>
        </p:nvGraphicFramePr>
        <p:xfrm>
          <a:off x="548640" y="1874520"/>
          <a:ext cx="7315200" cy="4023360"/>
        </p:xfrm>
        <a:graphic>
          <a:graphicData uri="http://schemas.openxmlformats.org/drawingml/2006/table">
            <a:tbl>
              <a:tblPr/>
              <a:tblGrid>
                <a:gridCol w="402336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tblGrid>
              <a:tr h="50292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Endpoint</a:t>
                      </a:r>
                      <a:endParaRPr lang="en-US" sz="1300" dirty="0">
                        <a:latin typeface="Calibri" charset="0"/>
                        <a:ea typeface="Calibri" charset="0"/>
                        <a:cs typeface="Calibri" charset="0"/>
                      </a:endParaRPr>
                    </a:p>
                  </a:txBody>
                  <a:tcPr anchor="ctr">
                    <a:lnL w="9525" cap="flat" cmpd="sng" algn="ctr">
                      <a:solidFill>
                        <a:srgbClr val="DCEBEA"/>
                      </a:solidFill>
                      <a:prstDash val="solid"/>
                      <a:round/>
                      <a:headEnd type="none" w="med" len="med"/>
                      <a:tailEnd type="none" w="med" len="med"/>
                    </a:lnL>
                    <a:lnR w="9525" cap="flat" cmpd="sng" algn="ctr">
                      <a:solidFill>
                        <a:srgbClr val="DCEBEA"/>
                      </a:solidFill>
                      <a:prstDash val="solid"/>
                      <a:round/>
                      <a:headEnd type="none" w="med" len="med"/>
                      <a:tailEnd type="none" w="med" len="med"/>
                    </a:lnR>
                    <a:lnT w="9525" cap="flat" cmpd="sng" algn="ctr">
                      <a:solidFill>
                        <a:srgbClr val="DCEBEA"/>
                      </a:solidFill>
                      <a:prstDash val="solid"/>
                      <a:round/>
                      <a:headEnd type="none" w="med" len="med"/>
                      <a:tailEnd type="none" w="med" len="med"/>
                    </a:lnT>
                    <a:lnB w="9525" cap="flat" cmpd="sng" algn="ctr">
                      <a:solidFill>
                        <a:srgbClr val="DCEBEA"/>
                      </a:solidFill>
                      <a:prstDash val="solid"/>
                      <a:round/>
                      <a:headEnd type="none" w="med" len="med"/>
                      <a:tailEnd type="none" w="med" len="med"/>
                    </a:lnB>
                    <a:solidFill>
                      <a:srgbClr val="028090"/>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Purpose</a:t>
                      </a:r>
                      <a:endParaRPr lang="en-US" sz="1300" dirty="0">
                        <a:latin typeface="Calibri" charset="0"/>
                        <a:ea typeface="Calibri" charset="0"/>
                        <a:cs typeface="Calibri" charset="0"/>
                      </a:endParaRPr>
                    </a:p>
                  </a:txBody>
                  <a:tcPr anchor="ctr">
                    <a:lnL w="9525" cap="flat" cmpd="sng" algn="ctr">
                      <a:solidFill>
                        <a:srgbClr val="DCEBEA"/>
                      </a:solidFill>
                      <a:prstDash val="solid"/>
                      <a:round/>
                      <a:headEnd type="none" w="med" len="med"/>
                      <a:tailEnd type="none" w="med" len="med"/>
                    </a:lnL>
                    <a:lnR w="9525" cap="flat" cmpd="sng" algn="ctr">
                      <a:solidFill>
                        <a:srgbClr val="DCEBEA"/>
                      </a:solidFill>
                      <a:prstDash val="solid"/>
                      <a:round/>
                      <a:headEnd type="none" w="med" len="med"/>
                      <a:tailEnd type="none" w="med" len="med"/>
                    </a:lnR>
                    <a:lnT w="9525" cap="flat" cmpd="sng" algn="ctr">
                      <a:solidFill>
                        <a:srgbClr val="DCEBEA"/>
                      </a:solidFill>
                      <a:prstDash val="solid"/>
                      <a:round/>
                      <a:headEnd type="none" w="med" len="med"/>
                      <a:tailEnd type="none" w="med" len="med"/>
                    </a:lnT>
                    <a:lnB w="9525" cap="flat" cmpd="sng" algn="ctr">
                      <a:solidFill>
                        <a:srgbClr val="DCEBEA"/>
                      </a:solidFill>
                      <a:prstDash val="solid"/>
                      <a:round/>
                      <a:headEnd type="none" w="med" len="med"/>
                      <a:tailEnd type="none" w="med" len="med"/>
                    </a:lnB>
                    <a:solidFill>
                      <a:srgbClr val="028090"/>
                    </a:solidFill>
                  </a:tcPr>
                </a:tc>
                <a:extLst>
                  <a:ext uri="{0D108BD9-81ED-4DB2-BD59-A6C34878D82A}">
                    <a16:rowId xmlns:a16="http://schemas.microsoft.com/office/drawing/2014/main" val="10000"/>
                  </a:ext>
                </a:extLst>
              </a:tr>
              <a:tr h="502920">
                <a:tc>
                  <a:txBody>
                    <a:bodyPr/>
                    <a:lstStyle/>
                    <a:p>
                      <a:pPr marL="0" indent="0" algn="l">
                        <a:buNone/>
                      </a:pPr>
                      <a:r>
                        <a:rPr lang="en-US" sz="1300" b="1" dirty="0">
                          <a:solidFill>
                            <a:srgbClr val="028090"/>
                          </a:solidFill>
                          <a:latin typeface="Consolas" pitchFamily="34" charset="0"/>
                          <a:ea typeface="Consolas" pitchFamily="34" charset="-122"/>
                          <a:cs typeface="Consolas" pitchFamily="34" charset="-120"/>
                        </a:rPr>
                        <a:t>/</a:t>
                      </a:r>
                      <a:endParaRPr lang="en-US" sz="1300" dirty="0">
                        <a:latin typeface="Consolas" charset="0"/>
                        <a:ea typeface="Consolas" charset="0"/>
                        <a:cs typeface="Consolas" charset="0"/>
                      </a:endParaRPr>
                    </a:p>
                  </a:txBody>
                  <a:tcPr anchor="ctr">
                    <a:lnL w="9525" cap="flat" cmpd="sng" algn="ctr">
                      <a:solidFill>
                        <a:srgbClr val="DCEBEA"/>
                      </a:solidFill>
                      <a:prstDash val="solid"/>
                      <a:round/>
                      <a:headEnd type="none" w="med" len="med"/>
                      <a:tailEnd type="none" w="med" len="med"/>
                    </a:lnL>
                    <a:lnR w="9525" cap="flat" cmpd="sng" algn="ctr">
                      <a:solidFill>
                        <a:srgbClr val="DCEBEA"/>
                      </a:solidFill>
                      <a:prstDash val="solid"/>
                      <a:round/>
                      <a:headEnd type="none" w="med" len="med"/>
                      <a:tailEnd type="none" w="med" len="med"/>
                    </a:lnR>
                    <a:lnT w="9525" cap="flat" cmpd="sng" algn="ctr">
                      <a:solidFill>
                        <a:srgbClr val="DCEBEA"/>
                      </a:solidFill>
                      <a:prstDash val="solid"/>
                      <a:round/>
                      <a:headEnd type="none" w="med" len="med"/>
                      <a:tailEnd type="none" w="med" len="med"/>
                    </a:lnT>
                    <a:lnB w="9525" cap="flat" cmpd="sng" algn="ctr">
                      <a:solidFill>
                        <a:srgbClr val="DCEB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0B2B2E"/>
                          </a:solidFill>
                          <a:latin typeface="Calibri" pitchFamily="34" charset="0"/>
                          <a:ea typeface="Calibri" pitchFamily="34" charset="-122"/>
                          <a:cs typeface="Calibri" pitchFamily="34" charset="-120"/>
                        </a:rPr>
                        <a:t>API information</a:t>
                      </a:r>
                      <a:endParaRPr lang="en-US" sz="1300" dirty="0">
                        <a:latin typeface="Calibri" charset="0"/>
                        <a:ea typeface="Calibri" charset="0"/>
                        <a:cs typeface="Calibri" charset="0"/>
                      </a:endParaRPr>
                    </a:p>
                  </a:txBody>
                  <a:tcPr anchor="ctr">
                    <a:lnL w="9525" cap="flat" cmpd="sng" algn="ctr">
                      <a:solidFill>
                        <a:srgbClr val="DCEBEA"/>
                      </a:solidFill>
                      <a:prstDash val="solid"/>
                      <a:round/>
                      <a:headEnd type="none" w="med" len="med"/>
                      <a:tailEnd type="none" w="med" len="med"/>
                    </a:lnL>
                    <a:lnR w="9525" cap="flat" cmpd="sng" algn="ctr">
                      <a:solidFill>
                        <a:srgbClr val="DCEBEA"/>
                      </a:solidFill>
                      <a:prstDash val="solid"/>
                      <a:round/>
                      <a:headEnd type="none" w="med" len="med"/>
                      <a:tailEnd type="none" w="med" len="med"/>
                    </a:lnR>
                    <a:lnT w="9525" cap="flat" cmpd="sng" algn="ctr">
                      <a:solidFill>
                        <a:srgbClr val="DCEBEA"/>
                      </a:solidFill>
                      <a:prstDash val="solid"/>
                      <a:round/>
                      <a:headEnd type="none" w="med" len="med"/>
                      <a:tailEnd type="none" w="med" len="med"/>
                    </a:lnT>
                    <a:lnB w="9525" cap="flat" cmpd="sng" algn="ctr">
                      <a:solidFill>
                        <a:srgbClr val="DCEB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300" b="1" dirty="0">
                          <a:solidFill>
                            <a:srgbClr val="028090"/>
                          </a:solidFill>
                          <a:latin typeface="Consolas" pitchFamily="34" charset="0"/>
                          <a:ea typeface="Consolas" pitchFamily="34" charset="-122"/>
                          <a:cs typeface="Consolas" pitchFamily="34" charset="-120"/>
                        </a:rPr>
                        <a:t>/health</a:t>
                      </a:r>
                      <a:endParaRPr lang="en-US" sz="1300" dirty="0">
                        <a:latin typeface="Consolas" charset="0"/>
                        <a:ea typeface="Consolas" charset="0"/>
                        <a:cs typeface="Consolas" charset="0"/>
                      </a:endParaRPr>
                    </a:p>
                  </a:txBody>
                  <a:tcPr anchor="ctr">
                    <a:lnL w="9525" cap="flat" cmpd="sng" algn="ctr">
                      <a:solidFill>
                        <a:srgbClr val="DCEBEA"/>
                      </a:solidFill>
                      <a:prstDash val="solid"/>
                      <a:round/>
                      <a:headEnd type="none" w="med" len="med"/>
                      <a:tailEnd type="none" w="med" len="med"/>
                    </a:lnL>
                    <a:lnR w="9525" cap="flat" cmpd="sng" algn="ctr">
                      <a:solidFill>
                        <a:srgbClr val="DCEBEA"/>
                      </a:solidFill>
                      <a:prstDash val="solid"/>
                      <a:round/>
                      <a:headEnd type="none" w="med" len="med"/>
                      <a:tailEnd type="none" w="med" len="med"/>
                    </a:lnR>
                    <a:lnT w="9525" cap="flat" cmpd="sng" algn="ctr">
                      <a:solidFill>
                        <a:srgbClr val="DCEBEA"/>
                      </a:solidFill>
                      <a:prstDash val="solid"/>
                      <a:round/>
                      <a:headEnd type="none" w="med" len="med"/>
                      <a:tailEnd type="none" w="med" len="med"/>
                    </a:lnT>
                    <a:lnB w="9525" cap="flat" cmpd="sng" algn="ctr">
                      <a:solidFill>
                        <a:srgbClr val="DCEBEA"/>
                      </a:solidFill>
                      <a:prstDash val="solid"/>
                      <a:round/>
                      <a:headEnd type="none" w="med" len="med"/>
                      <a:tailEnd type="none" w="med" len="med"/>
                    </a:lnB>
                    <a:solidFill>
                      <a:srgbClr val="F3F8F8"/>
                    </a:solidFill>
                  </a:tcPr>
                </a:tc>
                <a:tc>
                  <a:txBody>
                    <a:bodyPr/>
                    <a:lstStyle/>
                    <a:p>
                      <a:pPr marL="0" indent="0" algn="l">
                        <a:buNone/>
                      </a:pPr>
                      <a:r>
                        <a:rPr lang="en-US" sz="1300" dirty="0">
                          <a:solidFill>
                            <a:srgbClr val="0B2B2E"/>
                          </a:solidFill>
                          <a:latin typeface="Calibri" pitchFamily="34" charset="0"/>
                          <a:ea typeface="Calibri" pitchFamily="34" charset="-122"/>
                          <a:cs typeface="Calibri" pitchFamily="34" charset="-120"/>
                        </a:rPr>
                        <a:t>Health check</a:t>
                      </a:r>
                      <a:endParaRPr lang="en-US" sz="1300" dirty="0">
                        <a:latin typeface="Calibri" charset="0"/>
                        <a:ea typeface="Calibri" charset="0"/>
                        <a:cs typeface="Calibri" charset="0"/>
                      </a:endParaRPr>
                    </a:p>
                  </a:txBody>
                  <a:tcPr anchor="ctr">
                    <a:lnL w="9525" cap="flat" cmpd="sng" algn="ctr">
                      <a:solidFill>
                        <a:srgbClr val="DCEBEA"/>
                      </a:solidFill>
                      <a:prstDash val="solid"/>
                      <a:round/>
                      <a:headEnd type="none" w="med" len="med"/>
                      <a:tailEnd type="none" w="med" len="med"/>
                    </a:lnL>
                    <a:lnR w="9525" cap="flat" cmpd="sng" algn="ctr">
                      <a:solidFill>
                        <a:srgbClr val="DCEBEA"/>
                      </a:solidFill>
                      <a:prstDash val="solid"/>
                      <a:round/>
                      <a:headEnd type="none" w="med" len="med"/>
                      <a:tailEnd type="none" w="med" len="med"/>
                    </a:lnR>
                    <a:lnT w="9525" cap="flat" cmpd="sng" algn="ctr">
                      <a:solidFill>
                        <a:srgbClr val="DCEBEA"/>
                      </a:solidFill>
                      <a:prstDash val="solid"/>
                      <a:round/>
                      <a:headEnd type="none" w="med" len="med"/>
                      <a:tailEnd type="none" w="med" len="med"/>
                    </a:lnT>
                    <a:lnB w="9525" cap="flat" cmpd="sng" algn="ctr">
                      <a:solidFill>
                        <a:srgbClr val="DCEBEA"/>
                      </a:solidFill>
                      <a:prstDash val="solid"/>
                      <a:round/>
                      <a:headEnd type="none" w="med" len="med"/>
                      <a:tailEnd type="none" w="med" len="med"/>
                    </a:lnB>
                    <a:solidFill>
                      <a:srgbClr val="F3F8F8"/>
                    </a:solidFill>
                  </a:tcPr>
                </a:tc>
                <a:extLst>
                  <a:ext uri="{0D108BD9-81ED-4DB2-BD59-A6C34878D82A}">
                    <a16:rowId xmlns:a16="http://schemas.microsoft.com/office/drawing/2014/main" val="10002"/>
                  </a:ext>
                </a:extLst>
              </a:tr>
              <a:tr h="502920">
                <a:tc>
                  <a:txBody>
                    <a:bodyPr/>
                    <a:lstStyle/>
                    <a:p>
                      <a:pPr marL="0" indent="0" algn="l">
                        <a:buNone/>
                      </a:pPr>
                      <a:r>
                        <a:rPr lang="en-US" sz="1300" b="1" dirty="0">
                          <a:solidFill>
                            <a:srgbClr val="028090"/>
                          </a:solidFill>
                          <a:latin typeface="Consolas" pitchFamily="34" charset="0"/>
                          <a:ea typeface="Consolas" pitchFamily="34" charset="-122"/>
                          <a:cs typeface="Consolas" pitchFamily="34" charset="-120"/>
                        </a:rPr>
                        <a:t>/model-info</a:t>
                      </a:r>
                      <a:endParaRPr lang="en-US" sz="1300" dirty="0">
                        <a:latin typeface="Consolas" charset="0"/>
                        <a:ea typeface="Consolas" charset="0"/>
                        <a:cs typeface="Consolas" charset="0"/>
                      </a:endParaRPr>
                    </a:p>
                  </a:txBody>
                  <a:tcPr anchor="ctr">
                    <a:lnL w="9525" cap="flat" cmpd="sng" algn="ctr">
                      <a:solidFill>
                        <a:srgbClr val="DCEBEA"/>
                      </a:solidFill>
                      <a:prstDash val="solid"/>
                      <a:round/>
                      <a:headEnd type="none" w="med" len="med"/>
                      <a:tailEnd type="none" w="med" len="med"/>
                    </a:lnL>
                    <a:lnR w="9525" cap="flat" cmpd="sng" algn="ctr">
                      <a:solidFill>
                        <a:srgbClr val="DCEBEA"/>
                      </a:solidFill>
                      <a:prstDash val="solid"/>
                      <a:round/>
                      <a:headEnd type="none" w="med" len="med"/>
                      <a:tailEnd type="none" w="med" len="med"/>
                    </a:lnR>
                    <a:lnT w="9525" cap="flat" cmpd="sng" algn="ctr">
                      <a:solidFill>
                        <a:srgbClr val="DCEBEA"/>
                      </a:solidFill>
                      <a:prstDash val="solid"/>
                      <a:round/>
                      <a:headEnd type="none" w="med" len="med"/>
                      <a:tailEnd type="none" w="med" len="med"/>
                    </a:lnT>
                    <a:lnB w="9525" cap="flat" cmpd="sng" algn="ctr">
                      <a:solidFill>
                        <a:srgbClr val="DCEB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0B2B2E"/>
                          </a:solidFill>
                          <a:latin typeface="Calibri" pitchFamily="34" charset="0"/>
                          <a:ea typeface="Calibri" pitchFamily="34" charset="-122"/>
                          <a:cs typeface="Calibri" pitchFamily="34" charset="-120"/>
                        </a:rPr>
                        <a:t>Model details</a:t>
                      </a:r>
                      <a:endParaRPr lang="en-US" sz="1300" dirty="0">
                        <a:latin typeface="Calibri" charset="0"/>
                        <a:ea typeface="Calibri" charset="0"/>
                        <a:cs typeface="Calibri" charset="0"/>
                      </a:endParaRPr>
                    </a:p>
                  </a:txBody>
                  <a:tcPr anchor="ctr">
                    <a:lnL w="9525" cap="flat" cmpd="sng" algn="ctr">
                      <a:solidFill>
                        <a:srgbClr val="DCEBEA"/>
                      </a:solidFill>
                      <a:prstDash val="solid"/>
                      <a:round/>
                      <a:headEnd type="none" w="med" len="med"/>
                      <a:tailEnd type="none" w="med" len="med"/>
                    </a:lnL>
                    <a:lnR w="9525" cap="flat" cmpd="sng" algn="ctr">
                      <a:solidFill>
                        <a:srgbClr val="DCEBEA"/>
                      </a:solidFill>
                      <a:prstDash val="solid"/>
                      <a:round/>
                      <a:headEnd type="none" w="med" len="med"/>
                      <a:tailEnd type="none" w="med" len="med"/>
                    </a:lnR>
                    <a:lnT w="9525" cap="flat" cmpd="sng" algn="ctr">
                      <a:solidFill>
                        <a:srgbClr val="DCEBEA"/>
                      </a:solidFill>
                      <a:prstDash val="solid"/>
                      <a:round/>
                      <a:headEnd type="none" w="med" len="med"/>
                      <a:tailEnd type="none" w="med" len="med"/>
                    </a:lnT>
                    <a:lnB w="9525" cap="flat" cmpd="sng" algn="ctr">
                      <a:solidFill>
                        <a:srgbClr val="DCEB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300" b="1" dirty="0">
                          <a:solidFill>
                            <a:srgbClr val="028090"/>
                          </a:solidFill>
                          <a:latin typeface="Consolas" pitchFamily="34" charset="0"/>
                          <a:ea typeface="Consolas" pitchFamily="34" charset="-122"/>
                          <a:cs typeface="Consolas" pitchFamily="34" charset="-120"/>
                        </a:rPr>
                        <a:t>/predict</a:t>
                      </a:r>
                      <a:endParaRPr lang="en-US" sz="1300" dirty="0">
                        <a:latin typeface="Consolas" charset="0"/>
                        <a:ea typeface="Consolas" charset="0"/>
                        <a:cs typeface="Consolas" charset="0"/>
                      </a:endParaRPr>
                    </a:p>
                  </a:txBody>
                  <a:tcPr anchor="ctr">
                    <a:lnL w="9525" cap="flat" cmpd="sng" algn="ctr">
                      <a:solidFill>
                        <a:srgbClr val="DCEBEA"/>
                      </a:solidFill>
                      <a:prstDash val="solid"/>
                      <a:round/>
                      <a:headEnd type="none" w="med" len="med"/>
                      <a:tailEnd type="none" w="med" len="med"/>
                    </a:lnL>
                    <a:lnR w="9525" cap="flat" cmpd="sng" algn="ctr">
                      <a:solidFill>
                        <a:srgbClr val="DCEBEA"/>
                      </a:solidFill>
                      <a:prstDash val="solid"/>
                      <a:round/>
                      <a:headEnd type="none" w="med" len="med"/>
                      <a:tailEnd type="none" w="med" len="med"/>
                    </a:lnR>
                    <a:lnT w="9525" cap="flat" cmpd="sng" algn="ctr">
                      <a:solidFill>
                        <a:srgbClr val="DCEBEA"/>
                      </a:solidFill>
                      <a:prstDash val="solid"/>
                      <a:round/>
                      <a:headEnd type="none" w="med" len="med"/>
                      <a:tailEnd type="none" w="med" len="med"/>
                    </a:lnT>
                    <a:lnB w="9525" cap="flat" cmpd="sng" algn="ctr">
                      <a:solidFill>
                        <a:srgbClr val="DCEBEA"/>
                      </a:solidFill>
                      <a:prstDash val="solid"/>
                      <a:round/>
                      <a:headEnd type="none" w="med" len="med"/>
                      <a:tailEnd type="none" w="med" len="med"/>
                    </a:lnB>
                    <a:solidFill>
                      <a:srgbClr val="F3F8F8"/>
                    </a:solidFill>
                  </a:tcPr>
                </a:tc>
                <a:tc>
                  <a:txBody>
                    <a:bodyPr/>
                    <a:lstStyle/>
                    <a:p>
                      <a:pPr marL="0" indent="0" algn="l">
                        <a:buNone/>
                      </a:pPr>
                      <a:r>
                        <a:rPr lang="en-US" sz="1300" dirty="0">
                          <a:solidFill>
                            <a:srgbClr val="0B2B2E"/>
                          </a:solidFill>
                          <a:latin typeface="Calibri" pitchFamily="34" charset="0"/>
                          <a:ea typeface="Calibri" pitchFamily="34" charset="-122"/>
                          <a:cs typeface="Calibri" pitchFamily="34" charset="-120"/>
                        </a:rPr>
                        <a:t>Predict new borrower</a:t>
                      </a:r>
                      <a:endParaRPr lang="en-US" sz="1300" dirty="0">
                        <a:latin typeface="Calibri" charset="0"/>
                        <a:ea typeface="Calibri" charset="0"/>
                        <a:cs typeface="Calibri" charset="0"/>
                      </a:endParaRPr>
                    </a:p>
                  </a:txBody>
                  <a:tcPr anchor="ctr">
                    <a:lnL w="9525" cap="flat" cmpd="sng" algn="ctr">
                      <a:solidFill>
                        <a:srgbClr val="DCEBEA"/>
                      </a:solidFill>
                      <a:prstDash val="solid"/>
                      <a:round/>
                      <a:headEnd type="none" w="med" len="med"/>
                      <a:tailEnd type="none" w="med" len="med"/>
                    </a:lnL>
                    <a:lnR w="9525" cap="flat" cmpd="sng" algn="ctr">
                      <a:solidFill>
                        <a:srgbClr val="DCEBEA"/>
                      </a:solidFill>
                      <a:prstDash val="solid"/>
                      <a:round/>
                      <a:headEnd type="none" w="med" len="med"/>
                      <a:tailEnd type="none" w="med" len="med"/>
                    </a:lnR>
                    <a:lnT w="9525" cap="flat" cmpd="sng" algn="ctr">
                      <a:solidFill>
                        <a:srgbClr val="DCEBEA"/>
                      </a:solidFill>
                      <a:prstDash val="solid"/>
                      <a:round/>
                      <a:headEnd type="none" w="med" len="med"/>
                      <a:tailEnd type="none" w="med" len="med"/>
                    </a:lnT>
                    <a:lnB w="9525" cap="flat" cmpd="sng" algn="ctr">
                      <a:solidFill>
                        <a:srgbClr val="DCEBEA"/>
                      </a:solidFill>
                      <a:prstDash val="solid"/>
                      <a:round/>
                      <a:headEnd type="none" w="med" len="med"/>
                      <a:tailEnd type="none" w="med" len="med"/>
                    </a:lnB>
                    <a:solidFill>
                      <a:srgbClr val="F3F8F8"/>
                    </a:solidFill>
                  </a:tcPr>
                </a:tc>
                <a:extLst>
                  <a:ext uri="{0D108BD9-81ED-4DB2-BD59-A6C34878D82A}">
                    <a16:rowId xmlns:a16="http://schemas.microsoft.com/office/drawing/2014/main" val="10004"/>
                  </a:ext>
                </a:extLst>
              </a:tr>
              <a:tr h="502920">
                <a:tc>
                  <a:txBody>
                    <a:bodyPr/>
                    <a:lstStyle/>
                    <a:p>
                      <a:pPr marL="0" indent="0" algn="l">
                        <a:buNone/>
                      </a:pPr>
                      <a:r>
                        <a:rPr lang="en-US" sz="1300" b="1" dirty="0">
                          <a:solidFill>
                            <a:srgbClr val="028090"/>
                          </a:solidFill>
                          <a:latin typeface="Consolas" pitchFamily="34" charset="0"/>
                          <a:ea typeface="Consolas" pitchFamily="34" charset="-122"/>
                          <a:cs typeface="Consolas" pitchFamily="34" charset="-120"/>
                        </a:rPr>
                        <a:t>/borrower/{row_number}</a:t>
                      </a:r>
                      <a:endParaRPr lang="en-US" sz="1300" dirty="0">
                        <a:latin typeface="Consolas" charset="0"/>
                        <a:ea typeface="Consolas" charset="0"/>
                        <a:cs typeface="Consolas" charset="0"/>
                      </a:endParaRPr>
                    </a:p>
                  </a:txBody>
                  <a:tcPr anchor="ctr">
                    <a:lnL w="9525" cap="flat" cmpd="sng" algn="ctr">
                      <a:solidFill>
                        <a:srgbClr val="DCEBEA"/>
                      </a:solidFill>
                      <a:prstDash val="solid"/>
                      <a:round/>
                      <a:headEnd type="none" w="med" len="med"/>
                      <a:tailEnd type="none" w="med" len="med"/>
                    </a:lnL>
                    <a:lnR w="9525" cap="flat" cmpd="sng" algn="ctr">
                      <a:solidFill>
                        <a:srgbClr val="DCEBEA"/>
                      </a:solidFill>
                      <a:prstDash val="solid"/>
                      <a:round/>
                      <a:headEnd type="none" w="med" len="med"/>
                      <a:tailEnd type="none" w="med" len="med"/>
                    </a:lnR>
                    <a:lnT w="9525" cap="flat" cmpd="sng" algn="ctr">
                      <a:solidFill>
                        <a:srgbClr val="DCEBEA"/>
                      </a:solidFill>
                      <a:prstDash val="solid"/>
                      <a:round/>
                      <a:headEnd type="none" w="med" len="med"/>
                      <a:tailEnd type="none" w="med" len="med"/>
                    </a:lnT>
                    <a:lnB w="9525" cap="flat" cmpd="sng" algn="ctr">
                      <a:solidFill>
                        <a:srgbClr val="DCEB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0B2B2E"/>
                          </a:solidFill>
                          <a:latin typeface="Calibri" pitchFamily="34" charset="0"/>
                          <a:ea typeface="Calibri" pitchFamily="34" charset="-122"/>
                          <a:cs typeface="Calibri" pitchFamily="34" charset="-120"/>
                        </a:rPr>
                        <a:t>Retrieve borrower</a:t>
                      </a:r>
                      <a:endParaRPr lang="en-US" sz="1300" dirty="0">
                        <a:latin typeface="Calibri" charset="0"/>
                        <a:ea typeface="Calibri" charset="0"/>
                        <a:cs typeface="Calibri" charset="0"/>
                      </a:endParaRPr>
                    </a:p>
                  </a:txBody>
                  <a:tcPr anchor="ctr">
                    <a:lnL w="9525" cap="flat" cmpd="sng" algn="ctr">
                      <a:solidFill>
                        <a:srgbClr val="DCEBEA"/>
                      </a:solidFill>
                      <a:prstDash val="solid"/>
                      <a:round/>
                      <a:headEnd type="none" w="med" len="med"/>
                      <a:tailEnd type="none" w="med" len="med"/>
                    </a:lnL>
                    <a:lnR w="9525" cap="flat" cmpd="sng" algn="ctr">
                      <a:solidFill>
                        <a:srgbClr val="DCEBEA"/>
                      </a:solidFill>
                      <a:prstDash val="solid"/>
                      <a:round/>
                      <a:headEnd type="none" w="med" len="med"/>
                      <a:tailEnd type="none" w="med" len="med"/>
                    </a:lnR>
                    <a:lnT w="9525" cap="flat" cmpd="sng" algn="ctr">
                      <a:solidFill>
                        <a:srgbClr val="DCEBEA"/>
                      </a:solidFill>
                      <a:prstDash val="solid"/>
                      <a:round/>
                      <a:headEnd type="none" w="med" len="med"/>
                      <a:tailEnd type="none" w="med" len="med"/>
                    </a:lnT>
                    <a:lnB w="9525" cap="flat" cmpd="sng" algn="ctr">
                      <a:solidFill>
                        <a:srgbClr val="DCEB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lgn="l">
                        <a:buNone/>
                      </a:pPr>
                      <a:r>
                        <a:rPr lang="en-US" sz="1300" b="1" dirty="0">
                          <a:solidFill>
                            <a:srgbClr val="028090"/>
                          </a:solidFill>
                          <a:latin typeface="Consolas" pitchFamily="34" charset="0"/>
                          <a:ea typeface="Consolas" pitchFamily="34" charset="-122"/>
                          <a:cs typeface="Consolas" pitchFamily="34" charset="-120"/>
                        </a:rPr>
                        <a:t>/predict-existing/{row_number}</a:t>
                      </a:r>
                      <a:endParaRPr lang="en-US" sz="1300" dirty="0">
                        <a:latin typeface="Consolas" charset="0"/>
                        <a:ea typeface="Consolas" charset="0"/>
                        <a:cs typeface="Consolas" charset="0"/>
                      </a:endParaRPr>
                    </a:p>
                  </a:txBody>
                  <a:tcPr anchor="ctr">
                    <a:lnL w="9525" cap="flat" cmpd="sng" algn="ctr">
                      <a:solidFill>
                        <a:srgbClr val="DCEBEA"/>
                      </a:solidFill>
                      <a:prstDash val="solid"/>
                      <a:round/>
                      <a:headEnd type="none" w="med" len="med"/>
                      <a:tailEnd type="none" w="med" len="med"/>
                    </a:lnL>
                    <a:lnR w="9525" cap="flat" cmpd="sng" algn="ctr">
                      <a:solidFill>
                        <a:srgbClr val="DCEBEA"/>
                      </a:solidFill>
                      <a:prstDash val="solid"/>
                      <a:round/>
                      <a:headEnd type="none" w="med" len="med"/>
                      <a:tailEnd type="none" w="med" len="med"/>
                    </a:lnR>
                    <a:lnT w="9525" cap="flat" cmpd="sng" algn="ctr">
                      <a:solidFill>
                        <a:srgbClr val="DCEBEA"/>
                      </a:solidFill>
                      <a:prstDash val="solid"/>
                      <a:round/>
                      <a:headEnd type="none" w="med" len="med"/>
                      <a:tailEnd type="none" w="med" len="med"/>
                    </a:lnT>
                    <a:lnB w="9525" cap="flat" cmpd="sng" algn="ctr">
                      <a:solidFill>
                        <a:srgbClr val="DCEBEA"/>
                      </a:solidFill>
                      <a:prstDash val="solid"/>
                      <a:round/>
                      <a:headEnd type="none" w="med" len="med"/>
                      <a:tailEnd type="none" w="med" len="med"/>
                    </a:lnB>
                    <a:solidFill>
                      <a:srgbClr val="F3F8F8"/>
                    </a:solidFill>
                  </a:tcPr>
                </a:tc>
                <a:tc>
                  <a:txBody>
                    <a:bodyPr/>
                    <a:lstStyle/>
                    <a:p>
                      <a:pPr marL="0" indent="0" algn="l">
                        <a:buNone/>
                      </a:pPr>
                      <a:r>
                        <a:rPr lang="en-US" sz="1300" dirty="0">
                          <a:solidFill>
                            <a:srgbClr val="0B2B2E"/>
                          </a:solidFill>
                          <a:latin typeface="Calibri" pitchFamily="34" charset="0"/>
                          <a:ea typeface="Calibri" pitchFamily="34" charset="-122"/>
                          <a:cs typeface="Calibri" pitchFamily="34" charset="-120"/>
                        </a:rPr>
                        <a:t>Assess database borrower</a:t>
                      </a:r>
                      <a:endParaRPr lang="en-US" sz="1300" dirty="0">
                        <a:latin typeface="Calibri" charset="0"/>
                        <a:ea typeface="Calibri" charset="0"/>
                        <a:cs typeface="Calibri" charset="0"/>
                      </a:endParaRPr>
                    </a:p>
                  </a:txBody>
                  <a:tcPr anchor="ctr">
                    <a:lnL w="9525" cap="flat" cmpd="sng" algn="ctr">
                      <a:solidFill>
                        <a:srgbClr val="DCEBEA"/>
                      </a:solidFill>
                      <a:prstDash val="solid"/>
                      <a:round/>
                      <a:headEnd type="none" w="med" len="med"/>
                      <a:tailEnd type="none" w="med" len="med"/>
                    </a:lnL>
                    <a:lnR w="9525" cap="flat" cmpd="sng" algn="ctr">
                      <a:solidFill>
                        <a:srgbClr val="DCEBEA"/>
                      </a:solidFill>
                      <a:prstDash val="solid"/>
                      <a:round/>
                      <a:headEnd type="none" w="med" len="med"/>
                      <a:tailEnd type="none" w="med" len="med"/>
                    </a:lnR>
                    <a:lnT w="9525" cap="flat" cmpd="sng" algn="ctr">
                      <a:solidFill>
                        <a:srgbClr val="DCEBEA"/>
                      </a:solidFill>
                      <a:prstDash val="solid"/>
                      <a:round/>
                      <a:headEnd type="none" w="med" len="med"/>
                      <a:tailEnd type="none" w="med" len="med"/>
                    </a:lnT>
                    <a:lnB w="9525" cap="flat" cmpd="sng" algn="ctr">
                      <a:solidFill>
                        <a:srgbClr val="DCEBEA"/>
                      </a:solidFill>
                      <a:prstDash val="solid"/>
                      <a:round/>
                      <a:headEnd type="none" w="med" len="med"/>
                      <a:tailEnd type="none" w="med" len="med"/>
                    </a:lnB>
                    <a:solidFill>
                      <a:srgbClr val="F3F8F8"/>
                    </a:solidFill>
                  </a:tcPr>
                </a:tc>
                <a:extLst>
                  <a:ext uri="{0D108BD9-81ED-4DB2-BD59-A6C34878D82A}">
                    <a16:rowId xmlns:a16="http://schemas.microsoft.com/office/drawing/2014/main" val="10006"/>
                  </a:ext>
                </a:extLst>
              </a:tr>
              <a:tr h="502920">
                <a:tc>
                  <a:txBody>
                    <a:bodyPr/>
                    <a:lstStyle/>
                    <a:p>
                      <a:pPr marL="0" indent="0" algn="l">
                        <a:buNone/>
                      </a:pPr>
                      <a:r>
                        <a:rPr lang="en-US" sz="1300" b="1" dirty="0">
                          <a:solidFill>
                            <a:srgbClr val="028090"/>
                          </a:solidFill>
                          <a:latin typeface="Consolas" pitchFamily="34" charset="0"/>
                          <a:ea typeface="Consolas" pitchFamily="34" charset="-122"/>
                          <a:cs typeface="Consolas" pitchFamily="34" charset="-120"/>
                        </a:rPr>
                        <a:t>/database-summary</a:t>
                      </a:r>
                      <a:endParaRPr lang="en-US" sz="1300" dirty="0">
                        <a:latin typeface="Consolas" charset="0"/>
                        <a:ea typeface="Consolas" charset="0"/>
                        <a:cs typeface="Consolas" charset="0"/>
                      </a:endParaRPr>
                    </a:p>
                  </a:txBody>
                  <a:tcPr anchor="ctr">
                    <a:lnL w="9525" cap="flat" cmpd="sng" algn="ctr">
                      <a:solidFill>
                        <a:srgbClr val="DCEBEA"/>
                      </a:solidFill>
                      <a:prstDash val="solid"/>
                      <a:round/>
                      <a:headEnd type="none" w="med" len="med"/>
                      <a:tailEnd type="none" w="med" len="med"/>
                    </a:lnL>
                    <a:lnR w="9525" cap="flat" cmpd="sng" algn="ctr">
                      <a:solidFill>
                        <a:srgbClr val="DCEBEA"/>
                      </a:solidFill>
                      <a:prstDash val="solid"/>
                      <a:round/>
                      <a:headEnd type="none" w="med" len="med"/>
                      <a:tailEnd type="none" w="med" len="med"/>
                    </a:lnR>
                    <a:lnT w="9525" cap="flat" cmpd="sng" algn="ctr">
                      <a:solidFill>
                        <a:srgbClr val="DCEBEA"/>
                      </a:solidFill>
                      <a:prstDash val="solid"/>
                      <a:round/>
                      <a:headEnd type="none" w="med" len="med"/>
                      <a:tailEnd type="none" w="med" len="med"/>
                    </a:lnT>
                    <a:lnB w="9525" cap="flat" cmpd="sng" algn="ctr">
                      <a:solidFill>
                        <a:srgbClr val="DCEB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0B2B2E"/>
                          </a:solidFill>
                          <a:latin typeface="Calibri" pitchFamily="34" charset="0"/>
                          <a:ea typeface="Calibri" pitchFamily="34" charset="-122"/>
                          <a:cs typeface="Calibri" pitchFamily="34" charset="-120"/>
                        </a:rPr>
                        <a:t>Database statistics</a:t>
                      </a:r>
                      <a:endParaRPr lang="en-US" sz="1300" dirty="0">
                        <a:latin typeface="Calibri" charset="0"/>
                        <a:ea typeface="Calibri" charset="0"/>
                        <a:cs typeface="Calibri" charset="0"/>
                      </a:endParaRPr>
                    </a:p>
                  </a:txBody>
                  <a:tcPr anchor="ctr">
                    <a:lnL w="9525" cap="flat" cmpd="sng" algn="ctr">
                      <a:solidFill>
                        <a:srgbClr val="DCEBEA"/>
                      </a:solidFill>
                      <a:prstDash val="solid"/>
                      <a:round/>
                      <a:headEnd type="none" w="med" len="med"/>
                      <a:tailEnd type="none" w="med" len="med"/>
                    </a:lnL>
                    <a:lnR w="9525" cap="flat" cmpd="sng" algn="ctr">
                      <a:solidFill>
                        <a:srgbClr val="DCEBEA"/>
                      </a:solidFill>
                      <a:prstDash val="solid"/>
                      <a:round/>
                      <a:headEnd type="none" w="med" len="med"/>
                      <a:tailEnd type="none" w="med" len="med"/>
                    </a:lnR>
                    <a:lnT w="9525" cap="flat" cmpd="sng" algn="ctr">
                      <a:solidFill>
                        <a:srgbClr val="DCEBEA"/>
                      </a:solidFill>
                      <a:prstDash val="solid"/>
                      <a:round/>
                      <a:headEnd type="none" w="med" len="med"/>
                      <a:tailEnd type="none" w="med" len="med"/>
                    </a:lnT>
                    <a:lnB w="9525" cap="flat" cmpd="sng" algn="ctr">
                      <a:solidFill>
                        <a:srgbClr val="DCEB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Shape 3"/>
          <p:cNvSpPr/>
          <p:nvPr/>
        </p:nvSpPr>
        <p:spPr>
          <a:xfrm>
            <a:off x="8183880" y="1874520"/>
            <a:ext cx="3474720" cy="4023360"/>
          </a:xfrm>
          <a:prstGeom prst="roundRect">
            <a:avLst>
              <a:gd name="adj" fmla="val 2368"/>
            </a:avLst>
          </a:prstGeom>
          <a:solidFill>
            <a:srgbClr val="012B2E"/>
          </a:solidFill>
          <a:ln/>
        </p:spPr>
        <p:txBody>
          <a:bodyPr/>
          <a:lstStyle/>
          <a:p>
            <a:endParaRPr lang="en-US"/>
          </a:p>
        </p:txBody>
      </p:sp>
      <p:sp>
        <p:nvSpPr>
          <p:cNvPr id="7" name="Text 4"/>
          <p:cNvSpPr/>
          <p:nvPr/>
        </p:nvSpPr>
        <p:spPr>
          <a:xfrm>
            <a:off x="8458200" y="2103120"/>
            <a:ext cx="2926080" cy="365760"/>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Why an API layer</a:t>
            </a:r>
            <a:endParaRPr lang="en-US" sz="1400" dirty="0"/>
          </a:p>
        </p:txBody>
      </p:sp>
      <p:sp>
        <p:nvSpPr>
          <p:cNvPr id="8" name="Text 5"/>
          <p:cNvSpPr/>
          <p:nvPr/>
        </p:nvSpPr>
        <p:spPr>
          <a:xfrm>
            <a:off x="8458200" y="2560320"/>
            <a:ext cx="2971800" cy="1645920"/>
          </a:xfrm>
          <a:prstGeom prst="rect">
            <a:avLst/>
          </a:prstGeom>
          <a:noFill/>
          <a:ln/>
        </p:spPr>
        <p:txBody>
          <a:bodyPr wrap="square" rtlCol="0" anchor="ctr"/>
          <a:lstStyle/>
          <a:p>
            <a:pPr marL="0" indent="0">
              <a:lnSpc>
                <a:spcPct val="135000"/>
              </a:lnSpc>
              <a:buNone/>
            </a:pPr>
            <a:r>
              <a:rPr lang="en-US" sz="1400" dirty="0">
                <a:solidFill>
                  <a:srgbClr val="D7EFED"/>
                </a:solidFill>
                <a:latin typeface="Calibri" pitchFamily="34" charset="0"/>
                <a:ea typeface="Calibri" pitchFamily="34" charset="-122"/>
                <a:cs typeface="Calibri" pitchFamily="34" charset="-120"/>
              </a:rPr>
              <a:t>FastAPI exposes the trained model and risk engine as REST endpoints — so the Streamlit dashboard, or any other client, can request a borrower assessment or database summary programmatically.</a:t>
            </a:r>
            <a:endParaRPr lang="en-US" sz="1400" dirty="0"/>
          </a:p>
        </p:txBody>
      </p:sp>
      <p:sp>
        <p:nvSpPr>
          <p:cNvPr id="9" name="Text 6"/>
          <p:cNvSpPr/>
          <p:nvPr/>
        </p:nvSpPr>
        <p:spPr>
          <a:xfrm>
            <a:off x="457200" y="6528816"/>
            <a:ext cx="7315200" cy="274320"/>
          </a:xfrm>
          <a:prstGeom prst="rect">
            <a:avLst/>
          </a:prstGeom>
          <a:noFill/>
          <a:ln/>
        </p:spPr>
        <p:txBody>
          <a:bodyPr wrap="square" rtlCol="0" anchor="ctr"/>
          <a:lstStyle/>
          <a:p>
            <a:pPr marL="0" indent="0">
              <a:buNone/>
            </a:pPr>
            <a:r>
              <a:rPr lang="en-US" sz="1400" kern="0" spc="100" dirty="0">
                <a:solidFill>
                  <a:srgbClr val="5C7A7D"/>
                </a:solidFill>
                <a:latin typeface="Calibri" pitchFamily="34" charset="0"/>
                <a:ea typeface="Calibri" pitchFamily="34" charset="-122"/>
                <a:cs typeface="Calibri" pitchFamily="34" charset="-120"/>
              </a:rPr>
              <a:t>MICRO-LENDING RISK INTELLIGENCE SYSTEM</a:t>
            </a:r>
            <a:endParaRPr lang="en-US" sz="1400" dirty="0"/>
          </a:p>
        </p:txBody>
      </p:sp>
      <p:sp>
        <p:nvSpPr>
          <p:cNvPr id="10" name="Text 7"/>
          <p:cNvSpPr/>
          <p:nvPr/>
        </p:nvSpPr>
        <p:spPr>
          <a:xfrm>
            <a:off x="11338560" y="6528816"/>
            <a:ext cx="457200" cy="274320"/>
          </a:xfrm>
          <a:prstGeom prst="rect">
            <a:avLst/>
          </a:prstGeom>
          <a:noFill/>
          <a:ln/>
        </p:spPr>
        <p:txBody>
          <a:bodyPr wrap="square" rtlCol="0" anchor="ctr"/>
          <a:lstStyle/>
          <a:p>
            <a:pPr marL="0" indent="0" algn="r">
              <a:buNone/>
            </a:pPr>
            <a:r>
              <a:rPr lang="en-US" sz="1400" dirty="0">
                <a:solidFill>
                  <a:srgbClr val="5C7A7D"/>
                </a:solidFill>
                <a:latin typeface="Calibri" pitchFamily="34" charset="0"/>
                <a:ea typeface="Calibri" pitchFamily="34" charset="-122"/>
                <a:cs typeface="Calibri" pitchFamily="34" charset="-120"/>
              </a:rPr>
              <a:t>15</a:t>
            </a:r>
            <a:endParaRPr lang="en-US" sz="1400" dirty="0"/>
          </a:p>
        </p:txBody>
      </p:sp>
    </p:spTree>
    <p:extLst>
      <p:ext uri="{BB962C8B-B14F-4D97-AF65-F5344CB8AC3E}">
        <p14:creationId xmlns:p14="http://schemas.microsoft.com/office/powerpoint/2010/main" val="32143577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274DC-AA62-3223-2B70-B6055B82B513}"/>
              </a:ext>
            </a:extLst>
          </p:cNvPr>
          <p:cNvSpPr>
            <a:spLocks noGrp="1"/>
          </p:cNvSpPr>
          <p:nvPr>
            <p:ph type="title"/>
          </p:nvPr>
        </p:nvSpPr>
        <p:spPr/>
        <p:txBody>
          <a:bodyPr/>
          <a:lstStyle/>
          <a:p>
            <a:r>
              <a:rPr lang="en-US" dirty="0" err="1"/>
              <a:t>Streamlit</a:t>
            </a:r>
            <a:r>
              <a:rPr lang="en-US" dirty="0"/>
              <a:t> Dashboard</a:t>
            </a:r>
          </a:p>
        </p:txBody>
      </p:sp>
      <p:pic>
        <p:nvPicPr>
          <p:cNvPr id="3" name="Picture 2">
            <a:extLst>
              <a:ext uri="{FF2B5EF4-FFF2-40B4-BE49-F238E27FC236}">
                <a16:creationId xmlns:a16="http://schemas.microsoft.com/office/drawing/2014/main" id="{3B3FA3BF-B1E8-6891-903A-869BAA26602E}"/>
              </a:ext>
            </a:extLst>
          </p:cNvPr>
          <p:cNvPicPr>
            <a:picLocks noChangeAspect="1"/>
          </p:cNvPicPr>
          <p:nvPr/>
        </p:nvPicPr>
        <p:blipFill>
          <a:blip r:embed="rId2"/>
          <a:stretch>
            <a:fillRect/>
          </a:stretch>
        </p:blipFill>
        <p:spPr>
          <a:xfrm>
            <a:off x="4646122" y="256597"/>
            <a:ext cx="5218314" cy="6752521"/>
          </a:xfrm>
          <a:prstGeom prst="rect">
            <a:avLst/>
          </a:prstGeom>
        </p:spPr>
      </p:pic>
      <p:sp>
        <p:nvSpPr>
          <p:cNvPr id="7" name="TextBox 6">
            <a:extLst>
              <a:ext uri="{FF2B5EF4-FFF2-40B4-BE49-F238E27FC236}">
                <a16:creationId xmlns:a16="http://schemas.microsoft.com/office/drawing/2014/main" id="{71CF800E-5CFE-F89C-2295-A57A8F2888E0}"/>
              </a:ext>
            </a:extLst>
          </p:cNvPr>
          <p:cNvSpPr txBox="1"/>
          <p:nvPr/>
        </p:nvSpPr>
        <p:spPr>
          <a:xfrm>
            <a:off x="323273" y="2653867"/>
            <a:ext cx="4257964" cy="2108269"/>
          </a:xfrm>
          <a:prstGeom prst="rect">
            <a:avLst/>
          </a:prstGeom>
          <a:noFill/>
        </p:spPr>
        <p:txBody>
          <a:bodyPr wrap="square">
            <a:spAutoFit/>
          </a:bodyPr>
          <a:lstStyle/>
          <a:p>
            <a:pPr marL="0" marR="0">
              <a:lnSpc>
                <a:spcPct val="100000"/>
              </a:lnSpc>
              <a:spcBef>
                <a:spcPts val="1200"/>
              </a:spcBef>
              <a:spcAft>
                <a:spcPts val="600"/>
              </a:spcAft>
              <a:buNone/>
            </a:pPr>
            <a:r>
              <a:rPr lang="en-US" sz="1800" b="1" dirty="0">
                <a:solidFill>
                  <a:schemeClr val="tx1"/>
                </a:solidFill>
                <a:effectLst/>
                <a:latin typeface="+mn-lt"/>
                <a:ea typeface="MS Gothic" panose="020B0609070205080204" pitchFamily="49" charset="-128"/>
                <a:cs typeface="Times New Roman" panose="02020603050405020304" pitchFamily="18" charset="0"/>
              </a:rPr>
              <a:t>Low-risk approval example</a:t>
            </a:r>
          </a:p>
          <a:p>
            <a:pPr marL="0" marR="0">
              <a:lnSpc>
                <a:spcPct val="100000"/>
              </a:lnSpc>
              <a:spcAft>
                <a:spcPts val="6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In this report, a loan amount of 10,000 and annual income of 50,000 produced a 22.51% default probability and a risk score of 77.49/100. The borrower was classified as Low Risk and the displayed decision was Loan Approved.</a:t>
            </a:r>
            <a:endParaRPr lang="en-US" sz="1100" dirty="0">
              <a:effectLst/>
              <a:latin typeface="Calibri" panose="020F050202020403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4426036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184EF-393D-CA39-7016-7D05D5B16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C1480E-A285-204F-57F4-E24FDAC405FD}"/>
              </a:ext>
            </a:extLst>
          </p:cNvPr>
          <p:cNvSpPr>
            <a:spLocks noGrp="1"/>
          </p:cNvSpPr>
          <p:nvPr>
            <p:ph type="title"/>
          </p:nvPr>
        </p:nvSpPr>
        <p:spPr/>
        <p:txBody>
          <a:bodyPr/>
          <a:lstStyle/>
          <a:p>
            <a:r>
              <a:rPr lang="en-US" dirty="0" err="1"/>
              <a:t>Streamlit</a:t>
            </a:r>
            <a:r>
              <a:rPr lang="en-US" dirty="0"/>
              <a:t> Dashboard</a:t>
            </a:r>
          </a:p>
        </p:txBody>
      </p:sp>
      <p:pic>
        <p:nvPicPr>
          <p:cNvPr id="4" name="Picture 3">
            <a:extLst>
              <a:ext uri="{FF2B5EF4-FFF2-40B4-BE49-F238E27FC236}">
                <a16:creationId xmlns:a16="http://schemas.microsoft.com/office/drawing/2014/main" id="{1904BE21-0B5D-E43F-B1CA-4BE7DE2F046E}"/>
              </a:ext>
            </a:extLst>
          </p:cNvPr>
          <p:cNvPicPr>
            <a:picLocks noChangeAspect="1"/>
          </p:cNvPicPr>
          <p:nvPr/>
        </p:nvPicPr>
        <p:blipFill>
          <a:blip r:embed="rId2"/>
          <a:stretch>
            <a:fillRect/>
          </a:stretch>
        </p:blipFill>
        <p:spPr>
          <a:xfrm>
            <a:off x="5137958" y="-1"/>
            <a:ext cx="5474624" cy="7084405"/>
          </a:xfrm>
          <a:prstGeom prst="rect">
            <a:avLst/>
          </a:prstGeom>
        </p:spPr>
      </p:pic>
      <p:sp>
        <p:nvSpPr>
          <p:cNvPr id="6" name="TextBox 5">
            <a:extLst>
              <a:ext uri="{FF2B5EF4-FFF2-40B4-BE49-F238E27FC236}">
                <a16:creationId xmlns:a16="http://schemas.microsoft.com/office/drawing/2014/main" id="{7A5407FC-CE25-F39A-F9D0-62E127AB6C4F}"/>
              </a:ext>
            </a:extLst>
          </p:cNvPr>
          <p:cNvSpPr txBox="1"/>
          <p:nvPr/>
        </p:nvSpPr>
        <p:spPr>
          <a:xfrm>
            <a:off x="0" y="2418113"/>
            <a:ext cx="4747491" cy="1831271"/>
          </a:xfrm>
          <a:prstGeom prst="rect">
            <a:avLst/>
          </a:prstGeom>
          <a:noFill/>
        </p:spPr>
        <p:txBody>
          <a:bodyPr wrap="square">
            <a:spAutoFit/>
          </a:bodyPr>
          <a:lstStyle/>
          <a:p>
            <a:pPr marL="0" marR="0">
              <a:lnSpc>
                <a:spcPct val="100000"/>
              </a:lnSpc>
              <a:spcBef>
                <a:spcPts val="1200"/>
              </a:spcBef>
              <a:spcAft>
                <a:spcPts val="600"/>
              </a:spcAft>
              <a:buNone/>
            </a:pPr>
            <a:r>
              <a:rPr lang="en-US" sz="1800" b="1" dirty="0">
                <a:solidFill>
                  <a:schemeClr val="tx1"/>
                </a:solidFill>
                <a:effectLst/>
                <a:latin typeface="+mn-lt"/>
                <a:ea typeface="MS Gothic" panose="020B0609070205080204" pitchFamily="49" charset="-128"/>
                <a:cs typeface="Times New Roman" panose="02020603050405020304" pitchFamily="18" charset="0"/>
              </a:rPr>
              <a:t>Medium-risk manual-review example</a:t>
            </a:r>
          </a:p>
          <a:p>
            <a:pPr marL="0" marR="0">
              <a:lnSpc>
                <a:spcPct val="100000"/>
              </a:lnSpc>
              <a:spcAft>
                <a:spcPts val="6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In this report, the loan amount was 60,500 while annual income was 5,000. The system produced a 31.83% default probability, a score of 68.17/100 and a Medium Risk category, so it forwarded the case to a manager for manual decision.</a:t>
            </a:r>
            <a:endParaRPr lang="en-US" sz="1100" dirty="0">
              <a:effectLst/>
              <a:latin typeface="Calibri" panose="020F050202020403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8530247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2ACD4-5E8E-99A3-94CF-29B2C6343BA2}"/>
              </a:ext>
            </a:extLst>
          </p:cNvPr>
          <p:cNvSpPr>
            <a:spLocks noGrp="1"/>
          </p:cNvSpPr>
          <p:nvPr>
            <p:ph type="title"/>
          </p:nvPr>
        </p:nvSpPr>
        <p:spPr/>
        <p:txBody>
          <a:bodyPr/>
          <a:lstStyle/>
          <a:p>
            <a:r>
              <a:rPr lang="en-US" dirty="0"/>
              <a:t>DASHBOARD RESULTS</a:t>
            </a:r>
            <a:br>
              <a:rPr lang="en-US" dirty="0"/>
            </a:br>
            <a:r>
              <a:rPr lang="en-US" sz="1600" dirty="0"/>
              <a:t> Model Comparison and Confusion Matrix</a:t>
            </a:r>
          </a:p>
        </p:txBody>
      </p:sp>
      <p:sp>
        <p:nvSpPr>
          <p:cNvPr id="6" name="TextBox 5">
            <a:extLst>
              <a:ext uri="{FF2B5EF4-FFF2-40B4-BE49-F238E27FC236}">
                <a16:creationId xmlns:a16="http://schemas.microsoft.com/office/drawing/2014/main" id="{73582D99-4FEE-BA18-2516-0355CC288E4E}"/>
              </a:ext>
            </a:extLst>
          </p:cNvPr>
          <p:cNvSpPr txBox="1"/>
          <p:nvPr/>
        </p:nvSpPr>
        <p:spPr>
          <a:xfrm>
            <a:off x="0" y="2514875"/>
            <a:ext cx="6096000" cy="1463414"/>
          </a:xfrm>
          <a:prstGeom prst="rect">
            <a:avLst/>
          </a:prstGeom>
          <a:noFill/>
        </p:spPr>
        <p:txBody>
          <a:bodyPr wrap="square">
            <a:spAutoFit/>
          </a:bodyPr>
          <a:lstStyle/>
          <a:p>
            <a:pPr marL="0" marR="0">
              <a:lnSpc>
                <a:spcPct val="100000"/>
              </a:lnSpc>
              <a:spcAft>
                <a:spcPts val="6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 comparison table shows that Logistic Regression achieved the best overall result among the displayed models. Its recall of about 68.92% means it detected a useful share of actual bad loans, while its ROC-AUC of about 72.06% shows moderate separation between good and bad borrowers.</a:t>
            </a:r>
            <a:endParaRPr lang="en-US" sz="1800" dirty="0">
              <a:effectLst/>
              <a:latin typeface="+mn-lt"/>
              <a:ea typeface="MS Mincho" panose="02020609040205080304" pitchFamily="49" charset="-128"/>
              <a:cs typeface="Times New Roman" panose="02020603050405020304" pitchFamily="18" charset="0"/>
            </a:endParaRPr>
          </a:p>
          <a:p>
            <a:pPr marL="0" marR="0">
              <a:lnSpc>
                <a:spcPct val="100000"/>
              </a:lnSpc>
              <a:spcAft>
                <a:spcPts val="6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 Logistic Regression confusion matrix in the attached UI shows 7,024 correctly predicted good loans, 4,081 good loans predicted as bad, 1,731 bad loans predicted as good, and 3,839 correctly predicted bad loans. The 1,731 missed bad loans are important because they represent risky borrowers that may be approved incorrectly.</a:t>
            </a:r>
            <a:endParaRPr lang="en-US" sz="1100" dirty="0">
              <a:effectLst/>
              <a:latin typeface="Calibri" panose="020F0502020204030204" pitchFamily="34" charset="0"/>
              <a:ea typeface="MS Mincho" panose="02020609040205080304" pitchFamily="49" charset="-128"/>
              <a:cs typeface="Times New Roman" panose="02020603050405020304" pitchFamily="18" charset="0"/>
            </a:endParaRPr>
          </a:p>
        </p:txBody>
      </p:sp>
      <p:pic>
        <p:nvPicPr>
          <p:cNvPr id="9" name="Picture 8">
            <a:extLst>
              <a:ext uri="{FF2B5EF4-FFF2-40B4-BE49-F238E27FC236}">
                <a16:creationId xmlns:a16="http://schemas.microsoft.com/office/drawing/2014/main" id="{0FE61134-5AE0-6398-382B-17CE5A2F3D20}"/>
              </a:ext>
            </a:extLst>
          </p:cNvPr>
          <p:cNvPicPr>
            <a:picLocks noChangeAspect="1"/>
          </p:cNvPicPr>
          <p:nvPr/>
        </p:nvPicPr>
        <p:blipFill>
          <a:blip r:embed="rId2"/>
          <a:stretch>
            <a:fillRect/>
          </a:stretch>
        </p:blipFill>
        <p:spPr>
          <a:xfrm>
            <a:off x="6484721" y="72802"/>
            <a:ext cx="4589679" cy="6785198"/>
          </a:xfrm>
          <a:prstGeom prst="rect">
            <a:avLst/>
          </a:prstGeom>
        </p:spPr>
      </p:pic>
    </p:spTree>
    <p:extLst>
      <p:ext uri="{BB962C8B-B14F-4D97-AF65-F5344CB8AC3E}">
        <p14:creationId xmlns:p14="http://schemas.microsoft.com/office/powerpoint/2010/main" val="9139018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F1A75-3020-8CEA-7664-2D4511C1D5E7}"/>
              </a:ext>
            </a:extLst>
          </p:cNvPr>
          <p:cNvSpPr>
            <a:spLocks noGrp="1"/>
          </p:cNvSpPr>
          <p:nvPr>
            <p:ph type="title"/>
          </p:nvPr>
        </p:nvSpPr>
        <p:spPr/>
        <p:txBody>
          <a:bodyPr vert="horz" lIns="91440" tIns="45720" rIns="91440" bIns="45720" rtlCol="0" anchor="b">
            <a:normAutofit/>
          </a:bodyPr>
          <a:lstStyle/>
          <a:p>
            <a:pPr algn="ctr"/>
            <a:r>
              <a:rPr lang="en-US" dirty="0"/>
              <a:t>Target and selected model</a:t>
            </a:r>
            <a:br>
              <a:rPr lang="en-US" dirty="0"/>
            </a:br>
            <a:endParaRPr lang="en-US" dirty="0"/>
          </a:p>
        </p:txBody>
      </p:sp>
      <p:graphicFrame>
        <p:nvGraphicFramePr>
          <p:cNvPr id="4" name="Content Placeholder 3">
            <a:extLst>
              <a:ext uri="{FF2B5EF4-FFF2-40B4-BE49-F238E27FC236}">
                <a16:creationId xmlns:a16="http://schemas.microsoft.com/office/drawing/2014/main" id="{D4FA690A-21F3-3F11-65F4-E1F396017E92}"/>
              </a:ext>
            </a:extLst>
          </p:cNvPr>
          <p:cNvGraphicFramePr>
            <a:graphicFrameLocks noGrp="1"/>
          </p:cNvGraphicFramePr>
          <p:nvPr>
            <p:ph idx="1"/>
            <p:extLst>
              <p:ext uri="{D42A27DB-BD31-4B8C-83A1-F6EECF244321}">
                <p14:modId xmlns:p14="http://schemas.microsoft.com/office/powerpoint/2010/main" val="3117861195"/>
              </p:ext>
            </p:extLst>
          </p:nvPr>
        </p:nvGraphicFramePr>
        <p:xfrm>
          <a:off x="1644072" y="3251135"/>
          <a:ext cx="7938654" cy="2161372"/>
        </p:xfrm>
        <a:graphic>
          <a:graphicData uri="http://schemas.openxmlformats.org/drawingml/2006/table">
            <a:tbl>
              <a:tblPr firstRow="1" firstCol="1" bandRow="1">
                <a:tableStyleId>{5C22544A-7EE6-4342-B048-85BDC9FD1C3A}</a:tableStyleId>
              </a:tblPr>
              <a:tblGrid>
                <a:gridCol w="2289997">
                  <a:extLst>
                    <a:ext uri="{9D8B030D-6E8A-4147-A177-3AD203B41FA5}">
                      <a16:colId xmlns:a16="http://schemas.microsoft.com/office/drawing/2014/main" val="1070821000"/>
                    </a:ext>
                  </a:extLst>
                </a:gridCol>
                <a:gridCol w="1272220">
                  <a:extLst>
                    <a:ext uri="{9D8B030D-6E8A-4147-A177-3AD203B41FA5}">
                      <a16:colId xmlns:a16="http://schemas.microsoft.com/office/drawing/2014/main" val="4098076730"/>
                    </a:ext>
                  </a:extLst>
                </a:gridCol>
                <a:gridCol w="1272220">
                  <a:extLst>
                    <a:ext uri="{9D8B030D-6E8A-4147-A177-3AD203B41FA5}">
                      <a16:colId xmlns:a16="http://schemas.microsoft.com/office/drawing/2014/main" val="3078177519"/>
                    </a:ext>
                  </a:extLst>
                </a:gridCol>
                <a:gridCol w="1272220">
                  <a:extLst>
                    <a:ext uri="{9D8B030D-6E8A-4147-A177-3AD203B41FA5}">
                      <a16:colId xmlns:a16="http://schemas.microsoft.com/office/drawing/2014/main" val="3339522615"/>
                    </a:ext>
                  </a:extLst>
                </a:gridCol>
                <a:gridCol w="1831997">
                  <a:extLst>
                    <a:ext uri="{9D8B030D-6E8A-4147-A177-3AD203B41FA5}">
                      <a16:colId xmlns:a16="http://schemas.microsoft.com/office/drawing/2014/main" val="1277484933"/>
                    </a:ext>
                  </a:extLst>
                </a:gridCol>
              </a:tblGrid>
              <a:tr h="615201">
                <a:tc>
                  <a:txBody>
                    <a:bodyPr/>
                    <a:lstStyle/>
                    <a:p>
                      <a:pPr marL="0" marR="0">
                        <a:lnSpc>
                          <a:spcPct val="110000"/>
                        </a:lnSpc>
                        <a:spcAft>
                          <a:spcPts val="600"/>
                        </a:spcAft>
                        <a:buNone/>
                      </a:pPr>
                      <a:r>
                        <a:rPr lang="en-US" sz="1000">
                          <a:effectLst/>
                        </a:rPr>
                        <a:t>Model</a:t>
                      </a:r>
                      <a:endParaRPr lang="en-US" sz="11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nchor="ctr"/>
                </a:tc>
                <a:tc>
                  <a:txBody>
                    <a:bodyPr/>
                    <a:lstStyle/>
                    <a:p>
                      <a:pPr marL="0" marR="0">
                        <a:lnSpc>
                          <a:spcPct val="110000"/>
                        </a:lnSpc>
                        <a:spcAft>
                          <a:spcPts val="600"/>
                        </a:spcAft>
                        <a:buNone/>
                      </a:pPr>
                      <a:r>
                        <a:rPr lang="en-US" sz="1000" dirty="0">
                          <a:effectLst/>
                        </a:rPr>
                        <a:t>Accuracy</a:t>
                      </a:r>
                      <a:endParaRPr lang="en-US" sz="11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nchor="ctr"/>
                </a:tc>
                <a:tc>
                  <a:txBody>
                    <a:bodyPr/>
                    <a:lstStyle/>
                    <a:p>
                      <a:pPr marL="0" marR="0">
                        <a:lnSpc>
                          <a:spcPct val="110000"/>
                        </a:lnSpc>
                        <a:spcAft>
                          <a:spcPts val="600"/>
                        </a:spcAft>
                        <a:buNone/>
                      </a:pPr>
                      <a:r>
                        <a:rPr lang="en-US" sz="1000">
                          <a:effectLst/>
                        </a:rPr>
                        <a:t>Precision</a:t>
                      </a:r>
                      <a:endParaRPr lang="en-US" sz="11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nchor="ctr"/>
                </a:tc>
                <a:tc>
                  <a:txBody>
                    <a:bodyPr/>
                    <a:lstStyle/>
                    <a:p>
                      <a:pPr marL="0" marR="0">
                        <a:lnSpc>
                          <a:spcPct val="110000"/>
                        </a:lnSpc>
                        <a:spcAft>
                          <a:spcPts val="600"/>
                        </a:spcAft>
                        <a:buNone/>
                      </a:pPr>
                      <a:r>
                        <a:rPr lang="en-US" sz="1000">
                          <a:effectLst/>
                        </a:rPr>
                        <a:t>Recall</a:t>
                      </a:r>
                      <a:endParaRPr lang="en-US" sz="11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nchor="ctr"/>
                </a:tc>
                <a:tc>
                  <a:txBody>
                    <a:bodyPr/>
                    <a:lstStyle/>
                    <a:p>
                      <a:pPr marL="0" marR="0">
                        <a:lnSpc>
                          <a:spcPct val="110000"/>
                        </a:lnSpc>
                        <a:spcAft>
                          <a:spcPts val="600"/>
                        </a:spcAft>
                        <a:buNone/>
                      </a:pPr>
                      <a:r>
                        <a:rPr lang="en-US" sz="1000">
                          <a:effectLst/>
                        </a:rPr>
                        <a:t>ROC-AUC</a:t>
                      </a:r>
                      <a:endParaRPr lang="en-US" sz="11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nchor="ctr"/>
                </a:tc>
                <a:extLst>
                  <a:ext uri="{0D108BD9-81ED-4DB2-BD59-A6C34878D82A}">
                    <a16:rowId xmlns:a16="http://schemas.microsoft.com/office/drawing/2014/main" val="1856420065"/>
                  </a:ext>
                </a:extLst>
              </a:tr>
              <a:tr h="591731">
                <a:tc>
                  <a:txBody>
                    <a:bodyPr/>
                    <a:lstStyle/>
                    <a:p>
                      <a:pPr marL="0" marR="0">
                        <a:lnSpc>
                          <a:spcPct val="110000"/>
                        </a:lnSpc>
                        <a:spcAft>
                          <a:spcPts val="600"/>
                        </a:spcAft>
                        <a:buNone/>
                      </a:pPr>
                      <a:r>
                        <a:rPr lang="en-US" sz="950">
                          <a:effectLst/>
                        </a:rPr>
                        <a:t>Logistic Regression</a:t>
                      </a:r>
                      <a:endParaRPr lang="en-US" sz="11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950">
                          <a:effectLst/>
                        </a:rPr>
                        <a:t>65.15%</a:t>
                      </a:r>
                      <a:endParaRPr lang="en-US" sz="11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950">
                          <a:effectLst/>
                        </a:rPr>
                        <a:t>48.47%</a:t>
                      </a:r>
                      <a:endParaRPr lang="en-US" sz="11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950">
                          <a:effectLst/>
                        </a:rPr>
                        <a:t>68.92%</a:t>
                      </a:r>
                      <a:endParaRPr lang="en-US" sz="11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950">
                          <a:effectLst/>
                        </a:rPr>
                        <a:t>72.06%</a:t>
                      </a:r>
                      <a:endParaRPr lang="en-US" sz="11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3315508373"/>
                  </a:ext>
                </a:extLst>
              </a:tr>
              <a:tr h="362709">
                <a:tc>
                  <a:txBody>
                    <a:bodyPr/>
                    <a:lstStyle/>
                    <a:p>
                      <a:pPr marL="0" marR="0">
                        <a:lnSpc>
                          <a:spcPct val="110000"/>
                        </a:lnSpc>
                        <a:spcAft>
                          <a:spcPts val="600"/>
                        </a:spcAft>
                        <a:buNone/>
                      </a:pPr>
                      <a:r>
                        <a:rPr lang="en-US" sz="950">
                          <a:effectLst/>
                        </a:rPr>
                        <a:t>Random Forest</a:t>
                      </a:r>
                      <a:endParaRPr lang="en-US" sz="11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950">
                          <a:effectLst/>
                        </a:rPr>
                        <a:t>64.97%</a:t>
                      </a:r>
                      <a:endParaRPr lang="en-US" sz="11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950">
                          <a:effectLst/>
                        </a:rPr>
                        <a:t>48.28%</a:t>
                      </a:r>
                      <a:endParaRPr lang="en-US" sz="11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950">
                          <a:effectLst/>
                        </a:rPr>
                        <a:t>68.40%</a:t>
                      </a:r>
                      <a:endParaRPr lang="en-US" sz="11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950">
                          <a:effectLst/>
                        </a:rPr>
                        <a:t>71.82%</a:t>
                      </a:r>
                      <a:endParaRPr lang="en-US" sz="11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601737593"/>
                  </a:ext>
                </a:extLst>
              </a:tr>
              <a:tr h="591731">
                <a:tc>
                  <a:txBody>
                    <a:bodyPr/>
                    <a:lstStyle/>
                    <a:p>
                      <a:pPr marL="0" marR="0">
                        <a:lnSpc>
                          <a:spcPct val="110000"/>
                        </a:lnSpc>
                        <a:spcAft>
                          <a:spcPts val="600"/>
                        </a:spcAft>
                        <a:buNone/>
                      </a:pPr>
                      <a:r>
                        <a:rPr lang="en-US" sz="950">
                          <a:effectLst/>
                        </a:rPr>
                        <a:t>Decision Tree*</a:t>
                      </a:r>
                      <a:endParaRPr lang="en-US" sz="11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950">
                          <a:effectLst/>
                        </a:rPr>
                        <a:t>59.70%</a:t>
                      </a:r>
                      <a:endParaRPr lang="en-US" sz="11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950">
                          <a:effectLst/>
                        </a:rPr>
                        <a:t>43.56%</a:t>
                      </a:r>
                      <a:endParaRPr lang="en-US" sz="11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950">
                          <a:effectLst/>
                        </a:rPr>
                        <a:t>69.80%</a:t>
                      </a:r>
                      <a:endParaRPr lang="en-US" sz="11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950" dirty="0">
                          <a:effectLst/>
                        </a:rPr>
                        <a:t>Shown in UI comparison</a:t>
                      </a:r>
                      <a:endParaRPr lang="en-US" sz="11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533050027"/>
                  </a:ext>
                </a:extLst>
              </a:tr>
            </a:tbl>
          </a:graphicData>
        </a:graphic>
      </p:graphicFrame>
      <p:sp>
        <p:nvSpPr>
          <p:cNvPr id="6" name="TextBox 5">
            <a:extLst>
              <a:ext uri="{FF2B5EF4-FFF2-40B4-BE49-F238E27FC236}">
                <a16:creationId xmlns:a16="http://schemas.microsoft.com/office/drawing/2014/main" id="{A1F209FF-5928-3293-ACA0-8706A68CD543}"/>
              </a:ext>
            </a:extLst>
          </p:cNvPr>
          <p:cNvSpPr txBox="1"/>
          <p:nvPr/>
        </p:nvSpPr>
        <p:spPr>
          <a:xfrm>
            <a:off x="1644072" y="2151727"/>
            <a:ext cx="7938654" cy="923330"/>
          </a:xfrm>
          <a:prstGeom prst="rect">
            <a:avLst/>
          </a:prstGeom>
          <a:noFill/>
        </p:spPr>
        <p:txBody>
          <a:bodyPr wrap="square">
            <a:spAutoFit/>
          </a:bodyPr>
          <a:lstStyle/>
          <a:p>
            <a:pPr marL="0" marR="0">
              <a:lnSpc>
                <a:spcPct val="100000"/>
              </a:lnSpc>
              <a:spcAft>
                <a:spcPts val="6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 target column is </a:t>
            </a:r>
            <a:r>
              <a:rPr lang="en-US" sz="1800" dirty="0" err="1">
                <a:solidFill>
                  <a:schemeClr val="tx1"/>
                </a:solidFill>
                <a:effectLst/>
                <a:latin typeface="+mn-lt"/>
                <a:ea typeface="MS Mincho" panose="02020609040205080304" pitchFamily="49" charset="-128"/>
                <a:cs typeface="Times New Roman" panose="02020603050405020304" pitchFamily="18" charset="0"/>
              </a:rPr>
              <a:t>loan_condition</a:t>
            </a:r>
            <a:r>
              <a:rPr lang="en-US" sz="1800" dirty="0">
                <a:solidFill>
                  <a:schemeClr val="tx1"/>
                </a:solidFill>
                <a:effectLst/>
                <a:latin typeface="+mn-lt"/>
                <a:ea typeface="MS Mincho" panose="02020609040205080304" pitchFamily="49" charset="-128"/>
                <a:cs typeface="Times New Roman" panose="02020603050405020304" pitchFamily="18" charset="0"/>
              </a:rPr>
              <a:t>: Good Loan is mapped to 0 and Bad Loan is mapped to 1. Logistic Regression was selected because it gave a useful balance of predictive performance and explainability.</a:t>
            </a:r>
            <a:endParaRPr lang="en-US" sz="1800" dirty="0">
              <a:effectLst/>
              <a:latin typeface="Calibri" panose="020F0502020204030204" pitchFamily="34" charset="0"/>
              <a:ea typeface="MS Mincho" panose="02020609040205080304" pitchFamily="49" charset="-128"/>
              <a:cs typeface="Times New Roman" panose="02020603050405020304" pitchFamily="18" charset="0"/>
            </a:endParaRPr>
          </a:p>
        </p:txBody>
      </p:sp>
      <p:graphicFrame>
        <p:nvGraphicFramePr>
          <p:cNvPr id="7" name="Table 6">
            <a:extLst>
              <a:ext uri="{FF2B5EF4-FFF2-40B4-BE49-F238E27FC236}">
                <a16:creationId xmlns:a16="http://schemas.microsoft.com/office/drawing/2014/main" id="{68FAF7F5-DFDA-71D6-4664-885EAFEC0125}"/>
              </a:ext>
            </a:extLst>
          </p:cNvPr>
          <p:cNvGraphicFramePr>
            <a:graphicFrameLocks noGrp="1"/>
          </p:cNvGraphicFramePr>
          <p:nvPr>
            <p:extLst>
              <p:ext uri="{D42A27DB-BD31-4B8C-83A1-F6EECF244321}">
                <p14:modId xmlns:p14="http://schemas.microsoft.com/office/powerpoint/2010/main" val="1879927034"/>
              </p:ext>
            </p:extLst>
          </p:nvPr>
        </p:nvGraphicFramePr>
        <p:xfrm>
          <a:off x="2378365" y="5657273"/>
          <a:ext cx="6285344" cy="835891"/>
        </p:xfrm>
        <a:graphic>
          <a:graphicData uri="http://schemas.openxmlformats.org/drawingml/2006/table">
            <a:tbl>
              <a:tblPr firstRow="1" firstCol="1" bandRow="1">
                <a:tableStyleId>{5C22544A-7EE6-4342-B048-85BDC9FD1C3A}</a:tableStyleId>
              </a:tblPr>
              <a:tblGrid>
                <a:gridCol w="6285344">
                  <a:extLst>
                    <a:ext uri="{9D8B030D-6E8A-4147-A177-3AD203B41FA5}">
                      <a16:colId xmlns:a16="http://schemas.microsoft.com/office/drawing/2014/main" val="532441737"/>
                    </a:ext>
                  </a:extLst>
                </a:gridCol>
              </a:tblGrid>
              <a:tr h="835891">
                <a:tc>
                  <a:txBody>
                    <a:bodyPr/>
                    <a:lstStyle/>
                    <a:p>
                      <a:pPr marL="0" marR="0">
                        <a:lnSpc>
                          <a:spcPct val="110000"/>
                        </a:lnSpc>
                        <a:spcAft>
                          <a:spcPts val="600"/>
                        </a:spcAft>
                        <a:buNone/>
                      </a:pPr>
                      <a:r>
                        <a:rPr lang="en-US" sz="1400" dirty="0">
                          <a:effectLst/>
                        </a:rPr>
                        <a:t>Simple interpretation: Recall is especially important in credit risk because it shows how many actual bad loans were detected. ROC-AUC shows the model’s overall ability to separate good and bad borrowers.</a:t>
                      </a:r>
                      <a:endParaRPr lang="en-US" sz="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3277576162"/>
                  </a:ext>
                </a:extLst>
              </a:tr>
            </a:tbl>
          </a:graphicData>
        </a:graphic>
      </p:graphicFrame>
    </p:spTree>
    <p:extLst>
      <p:ext uri="{BB962C8B-B14F-4D97-AF65-F5344CB8AC3E}">
        <p14:creationId xmlns:p14="http://schemas.microsoft.com/office/powerpoint/2010/main" val="6849286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463040" y="4297680"/>
            <a:ext cx="4572000" cy="4572000"/>
          </a:xfrm>
          <a:prstGeom prst="ellipse">
            <a:avLst/>
          </a:prstGeom>
          <a:solidFill>
            <a:srgbClr val="0C3A3D"/>
          </a:solidFill>
          <a:ln/>
        </p:spPr>
        <p:txBody>
          <a:bodyPr/>
          <a:lstStyle/>
          <a:p>
            <a:endParaRPr lang="en-US"/>
          </a:p>
        </p:txBody>
      </p:sp>
      <p:sp>
        <p:nvSpPr>
          <p:cNvPr id="3" name="Text 1"/>
          <p:cNvSpPr/>
          <p:nvPr/>
        </p:nvSpPr>
        <p:spPr>
          <a:xfrm>
            <a:off x="621792" y="705473"/>
            <a:ext cx="7315200" cy="320040"/>
          </a:xfrm>
          <a:prstGeom prst="rect">
            <a:avLst/>
          </a:prstGeom>
          <a:noFill/>
          <a:ln/>
        </p:spPr>
        <p:txBody>
          <a:bodyPr wrap="square" rtlCol="0" anchor="ctr"/>
          <a:lstStyle/>
          <a:p>
            <a:pPr marL="0" indent="0">
              <a:buNone/>
            </a:pPr>
            <a:r>
              <a:rPr lang="en-US" sz="1600" b="1" kern="0" spc="250" dirty="0">
                <a:solidFill>
                  <a:srgbClr val="02C39A"/>
                </a:solidFill>
                <a:latin typeface="Calibri" pitchFamily="34" charset="0"/>
                <a:ea typeface="Calibri" pitchFamily="34" charset="-122"/>
                <a:cs typeface="Calibri" pitchFamily="34" charset="-120"/>
              </a:rPr>
              <a:t>CONCLUSION</a:t>
            </a:r>
            <a:endParaRPr lang="en-US" sz="1600" dirty="0"/>
          </a:p>
        </p:txBody>
      </p:sp>
      <p:sp>
        <p:nvSpPr>
          <p:cNvPr id="4" name="Text 2"/>
          <p:cNvSpPr/>
          <p:nvPr/>
        </p:nvSpPr>
        <p:spPr>
          <a:xfrm>
            <a:off x="594360" y="749808"/>
            <a:ext cx="10058400" cy="64008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Results, Conclusion &amp; Future Scope</a:t>
            </a:r>
            <a:endParaRPr lang="en-US" sz="1600" dirty="0"/>
          </a:p>
        </p:txBody>
      </p:sp>
      <p:sp>
        <p:nvSpPr>
          <p:cNvPr id="5" name="Text 3"/>
          <p:cNvSpPr/>
          <p:nvPr/>
        </p:nvSpPr>
        <p:spPr>
          <a:xfrm>
            <a:off x="640080" y="1508760"/>
            <a:ext cx="5486400" cy="292608"/>
          </a:xfrm>
          <a:prstGeom prst="rect">
            <a:avLst/>
          </a:prstGeom>
          <a:noFill/>
          <a:ln/>
        </p:spPr>
        <p:txBody>
          <a:bodyPr wrap="square" rtlCol="0" anchor="ctr"/>
          <a:lstStyle/>
          <a:p>
            <a:pPr marL="0" indent="0">
              <a:buNone/>
            </a:pPr>
            <a:r>
              <a:rPr lang="en-US" sz="1600" b="1" kern="0" spc="150" dirty="0">
                <a:solidFill>
                  <a:srgbClr val="FF0000"/>
                </a:solidFill>
                <a:latin typeface="Calibri" pitchFamily="34" charset="0"/>
                <a:ea typeface="Calibri" pitchFamily="34" charset="-122"/>
                <a:cs typeface="Calibri" pitchFamily="34" charset="-120"/>
              </a:rPr>
              <a:t>RESULTS</a:t>
            </a:r>
            <a:endParaRPr lang="en-US" sz="1600" dirty="0">
              <a:solidFill>
                <a:srgbClr val="FF0000"/>
              </a:solidFill>
            </a:endParaRPr>
          </a:p>
        </p:txBody>
      </p:sp>
      <p:sp>
        <p:nvSpPr>
          <p:cNvPr id="6" name="Text 4"/>
          <p:cNvSpPr/>
          <p:nvPr/>
        </p:nvSpPr>
        <p:spPr>
          <a:xfrm>
            <a:off x="640080" y="1810512"/>
            <a:ext cx="10881360" cy="548640"/>
          </a:xfrm>
          <a:prstGeom prst="rect">
            <a:avLst/>
          </a:prstGeom>
          <a:noFill/>
          <a:ln/>
        </p:spPr>
        <p:txBody>
          <a:bodyPr wrap="square" rtlCol="0" anchor="ctr"/>
          <a:lstStyle/>
          <a:p>
            <a:pPr marL="0" indent="0">
              <a:lnSpc>
                <a:spcPct val="130000"/>
              </a:lnSpc>
              <a:buNone/>
            </a:pPr>
            <a:r>
              <a:rPr lang="en-US" sz="1600" b="1" dirty="0">
                <a:solidFill>
                  <a:srgbClr val="00B050"/>
                </a:solidFill>
                <a:latin typeface="Calibri" pitchFamily="34" charset="0"/>
                <a:ea typeface="Calibri" pitchFamily="34" charset="-122"/>
                <a:cs typeface="Calibri" pitchFamily="34" charset="-120"/>
              </a:rPr>
              <a:t>The project successfully integrates MySQL + ML + Risk Engine + FastAPI + Streamlit into a single loan-risk intelligence platform.</a:t>
            </a:r>
            <a:endParaRPr lang="en-US" sz="1600" b="1" dirty="0">
              <a:solidFill>
                <a:srgbClr val="00B050"/>
              </a:solidFill>
            </a:endParaRPr>
          </a:p>
        </p:txBody>
      </p:sp>
      <p:sp>
        <p:nvSpPr>
          <p:cNvPr id="7" name="Text 5"/>
          <p:cNvSpPr/>
          <p:nvPr/>
        </p:nvSpPr>
        <p:spPr>
          <a:xfrm>
            <a:off x="640080" y="2523744"/>
            <a:ext cx="5486400" cy="292608"/>
          </a:xfrm>
          <a:prstGeom prst="rect">
            <a:avLst/>
          </a:prstGeom>
          <a:noFill/>
          <a:ln/>
        </p:spPr>
        <p:txBody>
          <a:bodyPr wrap="square" rtlCol="0" anchor="ctr"/>
          <a:lstStyle/>
          <a:p>
            <a:pPr marL="0" indent="0">
              <a:buNone/>
            </a:pPr>
            <a:r>
              <a:rPr lang="en-US" sz="1600" b="1" kern="0" spc="150" dirty="0">
                <a:solidFill>
                  <a:srgbClr val="FF0000"/>
                </a:solidFill>
                <a:latin typeface="Calibri" pitchFamily="34" charset="0"/>
                <a:ea typeface="Calibri" pitchFamily="34" charset="-122"/>
                <a:cs typeface="Calibri" pitchFamily="34" charset="-120"/>
              </a:rPr>
              <a:t>KEY OUTCOMES</a:t>
            </a:r>
            <a:endParaRPr lang="en-US" sz="1600" dirty="0">
              <a:solidFill>
                <a:srgbClr val="FF0000"/>
              </a:solidFill>
            </a:endParaRPr>
          </a:p>
        </p:txBody>
      </p:sp>
      <p:sp>
        <p:nvSpPr>
          <p:cNvPr id="8" name="Shape 6"/>
          <p:cNvSpPr/>
          <p:nvPr/>
        </p:nvSpPr>
        <p:spPr>
          <a:xfrm>
            <a:off x="640080" y="2816352"/>
            <a:ext cx="2697480" cy="1051560"/>
          </a:xfrm>
          <a:prstGeom prst="roundRect">
            <a:avLst>
              <a:gd name="adj" fmla="val 6957"/>
            </a:avLst>
          </a:prstGeom>
          <a:solidFill>
            <a:srgbClr val="0C3A3D"/>
          </a:solidFill>
          <a:ln w="9525">
            <a:solidFill>
              <a:srgbClr val="1E5C5F"/>
            </a:solidFill>
            <a:prstDash val="solid"/>
          </a:ln>
        </p:spPr>
        <p:txBody>
          <a:bodyPr/>
          <a:lstStyle/>
          <a:p>
            <a:endParaRPr lang="en-US"/>
          </a:p>
        </p:txBody>
      </p:sp>
      <p:sp>
        <p:nvSpPr>
          <p:cNvPr id="9" name="Text 7"/>
          <p:cNvSpPr/>
          <p:nvPr/>
        </p:nvSpPr>
        <p:spPr>
          <a:xfrm>
            <a:off x="822960" y="2953512"/>
            <a:ext cx="2331720" cy="365760"/>
          </a:xfrm>
          <a:prstGeom prst="rect">
            <a:avLst/>
          </a:prstGeom>
          <a:noFill/>
          <a:ln/>
        </p:spPr>
        <p:txBody>
          <a:bodyPr wrap="square" rtlCol="0" anchor="ctr"/>
          <a:lstStyle/>
          <a:p>
            <a:pPr marL="0" indent="0">
              <a:buNone/>
            </a:pPr>
            <a:r>
              <a:rPr lang="en-US" sz="1600" b="1" dirty="0">
                <a:solidFill>
                  <a:srgbClr val="02C39A"/>
                </a:solidFill>
                <a:latin typeface="Cambria" pitchFamily="34" charset="0"/>
                <a:ea typeface="Cambria" pitchFamily="34" charset="-122"/>
                <a:cs typeface="Cambria" pitchFamily="34" charset="-120"/>
              </a:rPr>
              <a:t>Risk Assessment</a:t>
            </a:r>
            <a:endParaRPr lang="en-US" sz="1600" dirty="0"/>
          </a:p>
        </p:txBody>
      </p:sp>
      <p:sp>
        <p:nvSpPr>
          <p:cNvPr id="10" name="Text 8"/>
          <p:cNvSpPr/>
          <p:nvPr/>
        </p:nvSpPr>
        <p:spPr>
          <a:xfrm>
            <a:off x="822960" y="3319272"/>
            <a:ext cx="2331720" cy="502920"/>
          </a:xfrm>
          <a:prstGeom prst="rect">
            <a:avLst/>
          </a:prstGeom>
          <a:noFill/>
          <a:ln/>
        </p:spPr>
        <p:txBody>
          <a:bodyPr wrap="square" rtlCol="0" anchor="ctr"/>
          <a:lstStyle/>
          <a:p>
            <a:pPr marL="0" indent="0">
              <a:lnSpc>
                <a:spcPct val="120000"/>
              </a:lnSpc>
              <a:buNone/>
            </a:pPr>
            <a:r>
              <a:rPr lang="en-US" sz="1600" dirty="0">
                <a:solidFill>
                  <a:srgbClr val="D7EFED"/>
                </a:solidFill>
                <a:latin typeface="Calibri" pitchFamily="34" charset="0"/>
                <a:ea typeface="Calibri" pitchFamily="34" charset="-122"/>
                <a:cs typeface="Calibri" pitchFamily="34" charset="-120"/>
              </a:rPr>
              <a:t>Automatically checks the borrower's risk.</a:t>
            </a:r>
            <a:endParaRPr lang="en-US" sz="1600" dirty="0"/>
          </a:p>
        </p:txBody>
      </p:sp>
      <p:sp>
        <p:nvSpPr>
          <p:cNvPr id="11" name="Shape 9"/>
          <p:cNvSpPr/>
          <p:nvPr/>
        </p:nvSpPr>
        <p:spPr>
          <a:xfrm>
            <a:off x="3474720" y="2816352"/>
            <a:ext cx="2697480" cy="1051560"/>
          </a:xfrm>
          <a:prstGeom prst="roundRect">
            <a:avLst>
              <a:gd name="adj" fmla="val 6957"/>
            </a:avLst>
          </a:prstGeom>
          <a:solidFill>
            <a:srgbClr val="0C3A3D"/>
          </a:solidFill>
          <a:ln w="9525">
            <a:solidFill>
              <a:srgbClr val="1E5C5F"/>
            </a:solidFill>
            <a:prstDash val="solid"/>
          </a:ln>
        </p:spPr>
        <p:txBody>
          <a:bodyPr/>
          <a:lstStyle/>
          <a:p>
            <a:endParaRPr lang="en-US"/>
          </a:p>
        </p:txBody>
      </p:sp>
      <p:sp>
        <p:nvSpPr>
          <p:cNvPr id="12" name="Text 10"/>
          <p:cNvSpPr/>
          <p:nvPr/>
        </p:nvSpPr>
        <p:spPr>
          <a:xfrm>
            <a:off x="3657600" y="2953512"/>
            <a:ext cx="2331720" cy="365760"/>
          </a:xfrm>
          <a:prstGeom prst="rect">
            <a:avLst/>
          </a:prstGeom>
          <a:noFill/>
          <a:ln/>
        </p:spPr>
        <p:txBody>
          <a:bodyPr wrap="square" rtlCol="0" anchor="ctr"/>
          <a:lstStyle/>
          <a:p>
            <a:pPr marL="0" indent="0">
              <a:buNone/>
            </a:pPr>
            <a:r>
              <a:rPr lang="en-US" sz="1600" b="1" dirty="0">
                <a:solidFill>
                  <a:srgbClr val="02C39A"/>
                </a:solidFill>
                <a:latin typeface="Cambria" pitchFamily="34" charset="0"/>
                <a:ea typeface="Cambria" pitchFamily="34" charset="-122"/>
                <a:cs typeface="Cambria" pitchFamily="34" charset="-120"/>
              </a:rPr>
              <a:t>Default Prediction</a:t>
            </a:r>
            <a:endParaRPr lang="en-US" sz="1600" dirty="0"/>
          </a:p>
        </p:txBody>
      </p:sp>
      <p:sp>
        <p:nvSpPr>
          <p:cNvPr id="13" name="Text 11"/>
          <p:cNvSpPr/>
          <p:nvPr/>
        </p:nvSpPr>
        <p:spPr>
          <a:xfrm>
            <a:off x="3657600" y="3319272"/>
            <a:ext cx="2331720" cy="502920"/>
          </a:xfrm>
          <a:prstGeom prst="rect">
            <a:avLst/>
          </a:prstGeom>
          <a:noFill/>
          <a:ln/>
        </p:spPr>
        <p:txBody>
          <a:bodyPr wrap="square" rtlCol="0" anchor="ctr"/>
          <a:lstStyle/>
          <a:p>
            <a:pPr marL="0" indent="0">
              <a:lnSpc>
                <a:spcPct val="120000"/>
              </a:lnSpc>
              <a:buNone/>
            </a:pPr>
            <a:r>
              <a:rPr lang="en-US" sz="1600" dirty="0">
                <a:solidFill>
                  <a:srgbClr val="D7EFED"/>
                </a:solidFill>
                <a:latin typeface="Calibri" pitchFamily="34" charset="0"/>
                <a:ea typeface="Calibri" pitchFamily="34" charset="-122"/>
                <a:cs typeface="Calibri" pitchFamily="34" charset="-120"/>
              </a:rPr>
              <a:t>Predicts the chance of loan default.</a:t>
            </a:r>
            <a:endParaRPr lang="en-US" sz="1600" dirty="0"/>
          </a:p>
        </p:txBody>
      </p:sp>
      <p:sp>
        <p:nvSpPr>
          <p:cNvPr id="14" name="Shape 12"/>
          <p:cNvSpPr/>
          <p:nvPr/>
        </p:nvSpPr>
        <p:spPr>
          <a:xfrm>
            <a:off x="6309360" y="2816352"/>
            <a:ext cx="2697480" cy="1051560"/>
          </a:xfrm>
          <a:prstGeom prst="roundRect">
            <a:avLst>
              <a:gd name="adj" fmla="val 6957"/>
            </a:avLst>
          </a:prstGeom>
          <a:solidFill>
            <a:srgbClr val="0C3A3D"/>
          </a:solidFill>
          <a:ln w="9525">
            <a:solidFill>
              <a:srgbClr val="1E5C5F"/>
            </a:solidFill>
            <a:prstDash val="solid"/>
          </a:ln>
        </p:spPr>
        <p:txBody>
          <a:bodyPr/>
          <a:lstStyle/>
          <a:p>
            <a:endParaRPr lang="en-US"/>
          </a:p>
        </p:txBody>
      </p:sp>
      <p:sp>
        <p:nvSpPr>
          <p:cNvPr id="15" name="Text 13"/>
          <p:cNvSpPr/>
          <p:nvPr/>
        </p:nvSpPr>
        <p:spPr>
          <a:xfrm>
            <a:off x="6492240" y="2953512"/>
            <a:ext cx="2331720" cy="365760"/>
          </a:xfrm>
          <a:prstGeom prst="rect">
            <a:avLst/>
          </a:prstGeom>
          <a:noFill/>
          <a:ln/>
        </p:spPr>
        <p:txBody>
          <a:bodyPr wrap="square" rtlCol="0" anchor="ctr"/>
          <a:lstStyle/>
          <a:p>
            <a:pPr marL="0" indent="0">
              <a:buNone/>
            </a:pPr>
            <a:r>
              <a:rPr lang="en-US" sz="1600" b="1" dirty="0">
                <a:solidFill>
                  <a:srgbClr val="02C39A"/>
                </a:solidFill>
                <a:latin typeface="Cambria" pitchFamily="34" charset="0"/>
                <a:ea typeface="Cambria" pitchFamily="34" charset="-122"/>
                <a:cs typeface="Cambria" pitchFamily="34" charset="-120"/>
              </a:rPr>
              <a:t>Loan Recommendation</a:t>
            </a:r>
            <a:endParaRPr lang="en-US" sz="1600" dirty="0"/>
          </a:p>
        </p:txBody>
      </p:sp>
      <p:sp>
        <p:nvSpPr>
          <p:cNvPr id="16" name="Text 14"/>
          <p:cNvSpPr/>
          <p:nvPr/>
        </p:nvSpPr>
        <p:spPr>
          <a:xfrm>
            <a:off x="6492240" y="3319272"/>
            <a:ext cx="2331720" cy="502920"/>
          </a:xfrm>
          <a:prstGeom prst="rect">
            <a:avLst/>
          </a:prstGeom>
          <a:noFill/>
          <a:ln/>
        </p:spPr>
        <p:txBody>
          <a:bodyPr wrap="square" rtlCol="0" anchor="ctr"/>
          <a:lstStyle/>
          <a:p>
            <a:pPr marL="0" indent="0">
              <a:lnSpc>
                <a:spcPct val="120000"/>
              </a:lnSpc>
              <a:buNone/>
            </a:pPr>
            <a:r>
              <a:rPr lang="en-US" sz="1600" dirty="0">
                <a:solidFill>
                  <a:srgbClr val="D7EFED"/>
                </a:solidFill>
                <a:latin typeface="Calibri" pitchFamily="34" charset="0"/>
                <a:ea typeface="Calibri" pitchFamily="34" charset="-122"/>
                <a:cs typeface="Calibri" pitchFamily="34" charset="-120"/>
              </a:rPr>
              <a:t>Suggests suitable lending decisions.</a:t>
            </a:r>
            <a:endParaRPr lang="en-US" sz="1600" dirty="0"/>
          </a:p>
        </p:txBody>
      </p:sp>
      <p:sp>
        <p:nvSpPr>
          <p:cNvPr id="17" name="Shape 15"/>
          <p:cNvSpPr/>
          <p:nvPr/>
        </p:nvSpPr>
        <p:spPr>
          <a:xfrm>
            <a:off x="9144000" y="2816352"/>
            <a:ext cx="2697480" cy="1051560"/>
          </a:xfrm>
          <a:prstGeom prst="roundRect">
            <a:avLst>
              <a:gd name="adj" fmla="val 6957"/>
            </a:avLst>
          </a:prstGeom>
          <a:solidFill>
            <a:srgbClr val="0C3A3D"/>
          </a:solidFill>
          <a:ln w="9525">
            <a:solidFill>
              <a:srgbClr val="1E5C5F"/>
            </a:solidFill>
            <a:prstDash val="solid"/>
          </a:ln>
        </p:spPr>
        <p:txBody>
          <a:bodyPr/>
          <a:lstStyle/>
          <a:p>
            <a:endParaRPr lang="en-US"/>
          </a:p>
        </p:txBody>
      </p:sp>
      <p:sp>
        <p:nvSpPr>
          <p:cNvPr id="18" name="Text 16"/>
          <p:cNvSpPr/>
          <p:nvPr/>
        </p:nvSpPr>
        <p:spPr>
          <a:xfrm>
            <a:off x="9326880" y="2953512"/>
            <a:ext cx="2331720" cy="365760"/>
          </a:xfrm>
          <a:prstGeom prst="rect">
            <a:avLst/>
          </a:prstGeom>
          <a:noFill/>
          <a:ln/>
        </p:spPr>
        <p:txBody>
          <a:bodyPr wrap="square" rtlCol="0" anchor="ctr"/>
          <a:lstStyle/>
          <a:p>
            <a:pPr marL="0" indent="0">
              <a:buNone/>
            </a:pPr>
            <a:r>
              <a:rPr lang="en-US" sz="1600" b="1" dirty="0">
                <a:solidFill>
                  <a:srgbClr val="02C39A"/>
                </a:solidFill>
                <a:latin typeface="Cambria" pitchFamily="34" charset="0"/>
                <a:ea typeface="Cambria" pitchFamily="34" charset="-122"/>
                <a:cs typeface="Cambria" pitchFamily="34" charset="-120"/>
              </a:rPr>
              <a:t>Dashboard &amp; API</a:t>
            </a:r>
            <a:endParaRPr lang="en-US" sz="1600" dirty="0"/>
          </a:p>
        </p:txBody>
      </p:sp>
      <p:sp>
        <p:nvSpPr>
          <p:cNvPr id="19" name="Text 17"/>
          <p:cNvSpPr/>
          <p:nvPr/>
        </p:nvSpPr>
        <p:spPr>
          <a:xfrm>
            <a:off x="9326880" y="3319272"/>
            <a:ext cx="2514600" cy="502920"/>
          </a:xfrm>
          <a:prstGeom prst="rect">
            <a:avLst/>
          </a:prstGeom>
          <a:noFill/>
          <a:ln/>
        </p:spPr>
        <p:txBody>
          <a:bodyPr wrap="square" rtlCol="0" anchor="ctr"/>
          <a:lstStyle/>
          <a:p>
            <a:pPr marL="0" indent="0">
              <a:lnSpc>
                <a:spcPct val="120000"/>
              </a:lnSpc>
              <a:buNone/>
            </a:pPr>
            <a:r>
              <a:rPr lang="en-US" sz="1600" dirty="0">
                <a:solidFill>
                  <a:srgbClr val="D7EFED"/>
                </a:solidFill>
                <a:latin typeface="Calibri" pitchFamily="34" charset="0"/>
                <a:ea typeface="Calibri" pitchFamily="34" charset="-122"/>
                <a:cs typeface="Calibri" pitchFamily="34" charset="-120"/>
              </a:rPr>
              <a:t>Provides an easy dashboard and API for use.</a:t>
            </a:r>
            <a:endParaRPr lang="en-US" sz="1600" dirty="0"/>
          </a:p>
        </p:txBody>
      </p:sp>
      <p:sp>
        <p:nvSpPr>
          <p:cNvPr id="20" name="Text 18"/>
          <p:cNvSpPr/>
          <p:nvPr/>
        </p:nvSpPr>
        <p:spPr>
          <a:xfrm>
            <a:off x="640080" y="3995928"/>
            <a:ext cx="5486400" cy="292608"/>
          </a:xfrm>
          <a:prstGeom prst="rect">
            <a:avLst/>
          </a:prstGeom>
          <a:noFill/>
          <a:ln/>
        </p:spPr>
        <p:txBody>
          <a:bodyPr wrap="square" rtlCol="0" anchor="ctr"/>
          <a:lstStyle/>
          <a:p>
            <a:pPr marL="0" indent="0">
              <a:buNone/>
            </a:pPr>
            <a:r>
              <a:rPr lang="en-US" sz="1600" b="1" kern="0" spc="150" dirty="0">
                <a:solidFill>
                  <a:srgbClr val="FF0000"/>
                </a:solidFill>
                <a:latin typeface="Calibri" pitchFamily="34" charset="0"/>
                <a:ea typeface="Calibri" pitchFamily="34" charset="-122"/>
                <a:cs typeface="Calibri" pitchFamily="34" charset="-120"/>
              </a:rPr>
              <a:t>FUTURE SCOPE</a:t>
            </a:r>
            <a:endParaRPr lang="en-US" sz="1600" dirty="0">
              <a:solidFill>
                <a:srgbClr val="FF0000"/>
              </a:solidFill>
            </a:endParaRPr>
          </a:p>
        </p:txBody>
      </p:sp>
      <p:sp>
        <p:nvSpPr>
          <p:cNvPr id="21" name="Shape 19"/>
          <p:cNvSpPr/>
          <p:nvPr/>
        </p:nvSpPr>
        <p:spPr>
          <a:xfrm>
            <a:off x="640080" y="4480560"/>
            <a:ext cx="3520440" cy="1417320"/>
          </a:xfrm>
          <a:prstGeom prst="roundRect">
            <a:avLst>
              <a:gd name="adj" fmla="val 5161"/>
            </a:avLst>
          </a:prstGeom>
          <a:solidFill>
            <a:srgbClr val="028090"/>
          </a:solidFill>
          <a:ln/>
        </p:spPr>
        <p:txBody>
          <a:bodyPr/>
          <a:lstStyle/>
          <a:p>
            <a:endParaRPr lang="en-US"/>
          </a:p>
        </p:txBody>
      </p:sp>
      <p:sp>
        <p:nvSpPr>
          <p:cNvPr id="22" name="Text 20"/>
          <p:cNvSpPr/>
          <p:nvPr/>
        </p:nvSpPr>
        <p:spPr>
          <a:xfrm>
            <a:off x="868680" y="4663440"/>
            <a:ext cx="3063240" cy="45720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Explainable AI</a:t>
            </a:r>
            <a:endParaRPr lang="en-US" sz="1600" dirty="0"/>
          </a:p>
        </p:txBody>
      </p:sp>
      <p:sp>
        <p:nvSpPr>
          <p:cNvPr id="23" name="Text 21"/>
          <p:cNvSpPr/>
          <p:nvPr/>
        </p:nvSpPr>
        <p:spPr>
          <a:xfrm>
            <a:off x="868680" y="5166360"/>
            <a:ext cx="3063240" cy="640080"/>
          </a:xfrm>
          <a:prstGeom prst="rect">
            <a:avLst/>
          </a:prstGeom>
          <a:noFill/>
          <a:ln/>
        </p:spPr>
        <p:txBody>
          <a:bodyPr wrap="square" rtlCol="0" anchor="ctr"/>
          <a:lstStyle/>
          <a:p>
            <a:pPr marL="0" indent="0">
              <a:lnSpc>
                <a:spcPct val="125000"/>
              </a:lnSpc>
              <a:buNone/>
            </a:pPr>
            <a:r>
              <a:rPr lang="en-US" sz="1600" dirty="0">
                <a:solidFill>
                  <a:srgbClr val="E3F6F3"/>
                </a:solidFill>
                <a:latin typeface="Calibri" pitchFamily="34" charset="0"/>
                <a:ea typeface="Calibri" pitchFamily="34" charset="-122"/>
                <a:cs typeface="Calibri" pitchFamily="34" charset="-120"/>
              </a:rPr>
              <a:t>Show why the loan was approved or rejected.</a:t>
            </a:r>
            <a:endParaRPr lang="en-US" sz="1600" dirty="0"/>
          </a:p>
        </p:txBody>
      </p:sp>
      <p:sp>
        <p:nvSpPr>
          <p:cNvPr id="24" name="Shape 22"/>
          <p:cNvSpPr/>
          <p:nvPr/>
        </p:nvSpPr>
        <p:spPr>
          <a:xfrm>
            <a:off x="4416552" y="4480560"/>
            <a:ext cx="3520440" cy="1417320"/>
          </a:xfrm>
          <a:prstGeom prst="roundRect">
            <a:avLst>
              <a:gd name="adj" fmla="val 5161"/>
            </a:avLst>
          </a:prstGeom>
          <a:solidFill>
            <a:srgbClr val="028090"/>
          </a:solidFill>
          <a:ln/>
        </p:spPr>
        <p:txBody>
          <a:bodyPr/>
          <a:lstStyle/>
          <a:p>
            <a:endParaRPr lang="en-US"/>
          </a:p>
        </p:txBody>
      </p:sp>
      <p:sp>
        <p:nvSpPr>
          <p:cNvPr id="25" name="Text 23"/>
          <p:cNvSpPr/>
          <p:nvPr/>
        </p:nvSpPr>
        <p:spPr>
          <a:xfrm>
            <a:off x="4645152" y="4663440"/>
            <a:ext cx="3063240" cy="45720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Fraud &amp; Fairness</a:t>
            </a:r>
            <a:endParaRPr lang="en-US" sz="1600" dirty="0"/>
          </a:p>
        </p:txBody>
      </p:sp>
      <p:sp>
        <p:nvSpPr>
          <p:cNvPr id="26" name="Text 24"/>
          <p:cNvSpPr/>
          <p:nvPr/>
        </p:nvSpPr>
        <p:spPr>
          <a:xfrm>
            <a:off x="4645152" y="5166360"/>
            <a:ext cx="3063240" cy="640080"/>
          </a:xfrm>
          <a:prstGeom prst="rect">
            <a:avLst/>
          </a:prstGeom>
          <a:noFill/>
          <a:ln/>
        </p:spPr>
        <p:txBody>
          <a:bodyPr wrap="square" rtlCol="0" anchor="ctr"/>
          <a:lstStyle/>
          <a:p>
            <a:pPr marL="0" indent="0">
              <a:lnSpc>
                <a:spcPct val="125000"/>
              </a:lnSpc>
              <a:buNone/>
            </a:pPr>
            <a:r>
              <a:rPr lang="en-US" sz="1600" dirty="0">
                <a:solidFill>
                  <a:srgbClr val="E3F6F3"/>
                </a:solidFill>
                <a:latin typeface="Calibri" pitchFamily="34" charset="0"/>
                <a:ea typeface="Calibri" pitchFamily="34" charset="-122"/>
                <a:cs typeface="Calibri" pitchFamily="34" charset="-120"/>
              </a:rPr>
              <a:t>Detect fraud and reduce unfair decisions.</a:t>
            </a:r>
            <a:endParaRPr lang="en-US" sz="1600" dirty="0"/>
          </a:p>
        </p:txBody>
      </p:sp>
      <p:sp>
        <p:nvSpPr>
          <p:cNvPr id="27" name="Shape 25"/>
          <p:cNvSpPr/>
          <p:nvPr/>
        </p:nvSpPr>
        <p:spPr>
          <a:xfrm>
            <a:off x="8193024" y="4480560"/>
            <a:ext cx="3520440" cy="1417320"/>
          </a:xfrm>
          <a:prstGeom prst="roundRect">
            <a:avLst>
              <a:gd name="adj" fmla="val 5161"/>
            </a:avLst>
          </a:prstGeom>
          <a:solidFill>
            <a:srgbClr val="028090"/>
          </a:solidFill>
          <a:ln/>
        </p:spPr>
        <p:txBody>
          <a:bodyPr/>
          <a:lstStyle/>
          <a:p>
            <a:endParaRPr lang="en-US"/>
          </a:p>
        </p:txBody>
      </p:sp>
      <p:sp>
        <p:nvSpPr>
          <p:cNvPr id="28" name="Text 26"/>
          <p:cNvSpPr/>
          <p:nvPr/>
        </p:nvSpPr>
        <p:spPr>
          <a:xfrm>
            <a:off x="8421624" y="4663440"/>
            <a:ext cx="3063240" cy="45720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Cloud &amp; Recommendations</a:t>
            </a:r>
            <a:endParaRPr lang="en-US" sz="1600" dirty="0"/>
          </a:p>
        </p:txBody>
      </p:sp>
      <p:sp>
        <p:nvSpPr>
          <p:cNvPr id="29" name="Text 27"/>
          <p:cNvSpPr/>
          <p:nvPr/>
        </p:nvSpPr>
        <p:spPr>
          <a:xfrm>
            <a:off x="8421624" y="5166360"/>
            <a:ext cx="3063240" cy="640080"/>
          </a:xfrm>
          <a:prstGeom prst="rect">
            <a:avLst/>
          </a:prstGeom>
          <a:noFill/>
          <a:ln/>
        </p:spPr>
        <p:txBody>
          <a:bodyPr wrap="square" rtlCol="0" anchor="ctr"/>
          <a:lstStyle/>
          <a:p>
            <a:pPr marL="0" indent="0">
              <a:lnSpc>
                <a:spcPct val="125000"/>
              </a:lnSpc>
              <a:buNone/>
            </a:pPr>
            <a:r>
              <a:rPr lang="en-US" sz="1600" dirty="0">
                <a:solidFill>
                  <a:srgbClr val="E3F6F3"/>
                </a:solidFill>
                <a:latin typeface="Calibri" pitchFamily="34" charset="0"/>
                <a:ea typeface="Calibri" pitchFamily="34" charset="-122"/>
                <a:cs typeface="Calibri" pitchFamily="34" charset="-120"/>
              </a:rPr>
              <a:t>Run the system online and suggest a suitable loan amount.</a:t>
            </a:r>
            <a:endParaRPr lang="en-US" sz="1600" dirty="0"/>
          </a:p>
        </p:txBody>
      </p:sp>
      <p:sp>
        <p:nvSpPr>
          <p:cNvPr id="30" name="Text 28"/>
          <p:cNvSpPr/>
          <p:nvPr/>
        </p:nvSpPr>
        <p:spPr>
          <a:xfrm>
            <a:off x="640080" y="6172200"/>
            <a:ext cx="5486400" cy="36576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Thank you.</a:t>
            </a:r>
            <a:endParaRPr lang="en-US" sz="1600" dirty="0"/>
          </a:p>
        </p:txBody>
      </p:sp>
      <p:sp>
        <p:nvSpPr>
          <p:cNvPr id="34" name="Text 27">
            <a:extLst>
              <a:ext uri="{FF2B5EF4-FFF2-40B4-BE49-F238E27FC236}">
                <a16:creationId xmlns:a16="http://schemas.microsoft.com/office/drawing/2014/main" id="{DBB4CD1D-03BC-B086-7774-C11E0591AB7B}"/>
              </a:ext>
            </a:extLst>
          </p:cNvPr>
          <p:cNvSpPr/>
          <p:nvPr/>
        </p:nvSpPr>
        <p:spPr>
          <a:xfrm>
            <a:off x="4513026" y="6172200"/>
            <a:ext cx="5440218" cy="387753"/>
          </a:xfrm>
          <a:prstGeom prst="rect">
            <a:avLst/>
          </a:prstGeom>
          <a:solidFill>
            <a:srgbClr val="00B050"/>
          </a:solidFill>
          <a:ln/>
        </p:spPr>
        <p:txBody>
          <a:bodyPr wrap="square" rtlCol="0" anchor="ctr"/>
          <a:lstStyle/>
          <a:p>
            <a:r>
              <a:rPr lang="en-US" sz="1000" b="1" dirty="0">
                <a:solidFill>
                  <a:srgbClr val="FFFFFF"/>
                </a:solidFill>
                <a:latin typeface="Calibri" pitchFamily="34" charset="0"/>
                <a:ea typeface="Calibri" pitchFamily="34" charset="-122"/>
                <a:cs typeface="Calibri" pitchFamily="34" charset="-120"/>
              </a:rPr>
              <a:t>MICRO-LENDING RISK INTELLIGENCE SYSTEM - Presented by: Deesha (2310990067) Group 10 , Semester VII BE-CSE 2023 BATCH</a:t>
            </a:r>
          </a:p>
        </p:txBody>
      </p:sp>
    </p:spTree>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TM03457464[[fn=Dividend]]</Template>
  <TotalTime>512</TotalTime>
  <Words>2299</Words>
  <Application>Microsoft Office PowerPoint</Application>
  <PresentationFormat>Widescreen</PresentationFormat>
  <Paragraphs>330</Paragraphs>
  <Slides>37</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Arial</vt:lpstr>
      <vt:lpstr>Calibri</vt:lpstr>
      <vt:lpstr>Cambria</vt:lpstr>
      <vt:lpstr>Consolas</vt:lpstr>
      <vt:lpstr>Courier New</vt:lpstr>
      <vt:lpstr>Gill Sans MT</vt:lpstr>
      <vt:lpstr>Wingdings 2</vt:lpstr>
      <vt:lpstr>Dividend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SYSTEM ARCHITECTURE</vt:lpstr>
      <vt:lpstr>CODE PIPELINE - Generated commands used</vt:lpstr>
      <vt:lpstr>PowerPoint Presentation</vt:lpstr>
      <vt:lpstr>SYSTEM ARCHITECTURE</vt:lpstr>
      <vt:lpstr>DATA PREPROCESSING PIPELINE</vt:lpstr>
      <vt:lpstr>SQL Business Insights Screenshot Output</vt:lpstr>
      <vt:lpstr>SQL Business Insights Screenshot Output</vt:lpstr>
      <vt:lpstr>SQL Business Insights Screenshot Output</vt:lpstr>
      <vt:lpstr>SQL Business Insights Screenshot Output</vt:lpstr>
      <vt:lpstr>SQL Business Insights Screenshot Output</vt:lpstr>
      <vt:lpstr>SQL Business Insights Screenshot Output</vt:lpstr>
      <vt:lpstr>EDA OUTPUTS</vt:lpstr>
      <vt:lpstr>EDA OUTPUTS</vt:lpstr>
      <vt:lpstr>EDA OUTPUTS</vt:lpstr>
      <vt:lpstr>EDA OUTPUTS</vt:lpstr>
      <vt:lpstr>EDA OUTPUTS</vt:lpstr>
      <vt:lpstr>EDA OUTPUTS</vt:lpstr>
      <vt:lpstr>EDA OUTPUTS</vt:lpstr>
      <vt:lpstr>EDA OUTPUTS</vt:lpstr>
      <vt:lpstr>EDA OUTPUTS</vt:lpstr>
      <vt:lpstr>PowerPoint Presentation</vt:lpstr>
      <vt:lpstr>Machine Learning PipelinE Model Development</vt:lpstr>
      <vt:lpstr>PowerPoint Presentation</vt:lpstr>
      <vt:lpstr>PowerPoint Presentation</vt:lpstr>
      <vt:lpstr>PowerPoint Presentation</vt:lpstr>
      <vt:lpstr>Streamlit Dashboard</vt:lpstr>
      <vt:lpstr>Streamlit Dashboard</vt:lpstr>
      <vt:lpstr>DASHBOARD RESULTS  Model Comparison and Confusion Matrix</vt:lpstr>
      <vt:lpstr>Target and selected model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Nischay Bahl</dc:creator>
  <cp:lastModifiedBy>Nischay Bahl</cp:lastModifiedBy>
  <cp:revision>11</cp:revision>
  <cp:lastPrinted>2026-08-24T18:14:52Z</cp:lastPrinted>
  <dcterms:created xsi:type="dcterms:W3CDTF">2026-08-20T09:01:17Z</dcterms:created>
  <dcterms:modified xsi:type="dcterms:W3CDTF">2026-08-24T18:15:15Z</dcterms:modified>
</cp:coreProperties>
</file>